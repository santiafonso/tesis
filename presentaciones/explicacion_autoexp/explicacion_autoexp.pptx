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PSNR medio [dB], mapas nunca usados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grilla + TPS</c:v>
                </c:pt>
              </c:strCache>
            </c:strRef>
          </c:tx>
          <c:spPr>
            <a:solidFill>
              <a:srgbClr val="5B6270"/>
            </a:solidFill>
          </c:spPr>
          <c:cat>
            <c:strRef>
              <c:f>Sheet1!$A$2:$A$3</c:f>
              <c:strCache>
                <c:ptCount val="2"/>
                <c:pt idx="0">
                  <c:v>Fuera de muestra
(g=+2, +4, Gauss,
Rosenbrock, Himmelblau)</c:v>
                </c:pt>
                <c:pt idx="1">
                  <c:v>Diagramas
deformados (15)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33.8</c:v>
                </c:pt>
                <c:pt idx="1">
                  <c:v>24.5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receta que se chequea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Sheet1!$A$2:$A$3</c:f>
              <c:strCache>
                <c:ptCount val="2"/>
                <c:pt idx="0">
                  <c:v>Fuera de muestra
(g=+2, +4, Gauss,
Rosenbrock, Himmelblau)</c:v>
                </c:pt>
                <c:pt idx="1">
                  <c:v>Diagramas
deformados (15)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36.0</c:v>
                </c:pt>
                <c:pt idx="1">
                  <c:v>33.4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>
                <a:solidFill>
                  <a:srgbClr val="1F232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B6270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1F232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PSNR medio (3 g)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Grilla 8×8 + TPS (scipy)</c:v>
                </c:pt>
                <c:pt idx="1">
                  <c:v>Muestreo adaptativo</c:v>
                </c:pt>
                <c:pt idx="2">
                  <c:v>Bisección del frente</c:v>
                </c:pt>
                <c:pt idx="3">
                  <c:v>Acantilado a cero</c:v>
                </c:pt>
                <c:pt idx="4">
                  <c:v>Rampa alineada al borde</c:v>
                </c:pt>
                <c:pt idx="5">
                  <c:v>Relleno por gradiente</c:v>
                </c:pt>
                <c:pt idx="6">
                  <c:v>TPS con y comprimida</c:v>
                </c:pt>
                <c:pt idx="7">
                  <c:v>Relleno por validación cruzada</c:v>
                </c:pt>
                <c:pt idx="8">
                  <c:v>Monotonía</c:v>
                </c:pt>
                <c:pt idx="9">
                  <c:v>Franja adaptativa + cotas</c:v>
                </c:pt>
                <c:pt idx="10">
                  <c:v>Recta del borde por RANSAC</c:v>
                </c:pt>
                <c:pt idx="11">
                  <c:v>Fusión TPS + DIP (con guarda)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24.4</c:v>
                </c:pt>
                <c:pt idx="1">
                  <c:v>27.8</c:v>
                </c:pt>
                <c:pt idx="2">
                  <c:v>30.3</c:v>
                </c:pt>
                <c:pt idx="3">
                  <c:v>33.6</c:v>
                </c:pt>
                <c:pt idx="4">
                  <c:v>34.5</c:v>
                </c:pt>
                <c:pt idx="5">
                  <c:v>35.5</c:v>
                </c:pt>
                <c:pt idx="6">
                  <c:v>36.6</c:v>
                </c:pt>
                <c:pt idx="7">
                  <c:v>39.6</c:v>
                </c:pt>
                <c:pt idx="8">
                  <c:v>40.4</c:v>
                </c:pt>
                <c:pt idx="9">
                  <c:v>41.0</c:v>
                </c:pt>
                <c:pt idx="10">
                  <c:v>41.6</c:v>
                </c:pt>
                <c:pt idx="11">
                  <c:v>41.8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peor g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Sheet1!$A$2:$A$13</c:f>
              <c:strCache>
                <c:ptCount val="12"/>
                <c:pt idx="0">
                  <c:v>Grilla 8×8 + TPS (scipy)</c:v>
                </c:pt>
                <c:pt idx="1">
                  <c:v>Muestreo adaptativo</c:v>
                </c:pt>
                <c:pt idx="2">
                  <c:v>Bisección del frente</c:v>
                </c:pt>
                <c:pt idx="3">
                  <c:v>Acantilado a cero</c:v>
                </c:pt>
                <c:pt idx="4">
                  <c:v>Rampa alineada al borde</c:v>
                </c:pt>
                <c:pt idx="5">
                  <c:v>Relleno por gradiente</c:v>
                </c:pt>
                <c:pt idx="6">
                  <c:v>TPS con y comprimida</c:v>
                </c:pt>
                <c:pt idx="7">
                  <c:v>Relleno por validación cruzada</c:v>
                </c:pt>
                <c:pt idx="8">
                  <c:v>Monotonía</c:v>
                </c:pt>
                <c:pt idx="9">
                  <c:v>Franja adaptativa + cotas</c:v>
                </c:pt>
                <c:pt idx="10">
                  <c:v>Recta del borde por RANSAC</c:v>
                </c:pt>
                <c:pt idx="11">
                  <c:v>Fusión TPS + DIP (con guarda)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21.2</c:v>
                </c:pt>
                <c:pt idx="1">
                  <c:v>23.3</c:v>
                </c:pt>
                <c:pt idx="2">
                  <c:v>26.8</c:v>
                </c:pt>
                <c:pt idx="3">
                  <c:v>32.7</c:v>
                </c:pt>
                <c:pt idx="4">
                  <c:v>33.4</c:v>
                </c:pt>
                <c:pt idx="5">
                  <c:v>33.4</c:v>
                </c:pt>
                <c:pt idx="6">
                  <c:v>33.9</c:v>
                </c:pt>
                <c:pt idx="7">
                  <c:v>36.1</c:v>
                </c:pt>
                <c:pt idx="8">
                  <c:v>36.8</c:v>
                </c:pt>
                <c:pt idx="9">
                  <c:v>36.5</c:v>
                </c:pt>
                <c:pt idx="10">
                  <c:v>38.3</c:v>
                </c:pt>
                <c:pt idx="11">
                  <c:v>39.5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>
                <a:solidFill>
                  <a:srgbClr val="1F232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6.0"/>
          <c:min val="15.0"/>
        </c:scaling>
        <c:delete val="0"/>
        <c:axPos val="b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B6270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1F232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Con ruido tipo KMC (4 g) [dB]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TPS sola</c:v>
                </c:pt>
              </c:strCache>
            </c:strRef>
          </c:tx>
          <c:spPr>
            <a:solidFill>
              <a:srgbClr val="5B6270"/>
            </a:solidFill>
          </c:spPr>
          <c:cat>
            <c:strRef>
              <c:f>Sheet1!$A$2:$A$4</c:f>
              <c:strCache>
                <c:ptCount val="3"/>
                <c:pt idx="0">
                  <c:v>σ = 0.01</c:v>
                </c:pt>
                <c:pt idx="1">
                  <c:v>σ = 0.03</c:v>
                </c:pt>
                <c:pt idx="2">
                  <c:v>σ = 0.05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38.3</c:v>
                </c:pt>
                <c:pt idx="1">
                  <c:v>34.2</c:v>
                </c:pt>
                <c:pt idx="2">
                  <c:v>31.4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fusión TPS + DIP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σ = 0.01</c:v>
                </c:pt>
                <c:pt idx="1">
                  <c:v>σ = 0.03</c:v>
                </c:pt>
                <c:pt idx="2">
                  <c:v>σ = 0.05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39.0</c:v>
                </c:pt>
                <c:pt idx="1">
                  <c:v>34.9</c:v>
                </c:pt>
                <c:pt idx="2">
                  <c:v>32.6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>
                <a:solidFill>
                  <a:srgbClr val="1F232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"/>
          <c:min val="25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B6270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1F232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presentación es para entender el método, no para mostrar resultados (para eso está la 4).</a:t>
            </a:r>
          </a:p>
          <a:p>
            <a:r>
              <a:t>La idea en una frase: cada punto del diagrama con KMC cuesta horas o días, así que en vez de</a:t>
            </a:r>
          </a:p>
          <a:p>
            <a:r>
              <a:t>calcular la imagen entera se eligen muy pocos puntos (64) de forma inteligente y el resto se</a:t>
            </a:r>
          </a:p>
          <a:p>
            <a:r>
              <a:t>reconstruye. El objetivo que fijamos el 23/9 fue: ≤ 64 puntos y más de 38 dB de PSNR.</a:t>
            </a:r>
          </a:p>
          <a:p>
            <a:r>
              <a:t>Hoy: 40,6 dB de media en los 9 g sin DIP y 41,1 con DIP; y ya estamos corriendo KMC real para g=−4.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Ejes: columnas = log ℓ de −4 a 2 (izquierda a derecha); filas = log Ξ de 2 (arriba) a −4 (abajo).</a:t>
            </a:r>
          </a:p>
          <a:p>
            <a:r>
              <a:t>Dos propiedades físicas que se usan todo el tiempo:</a:t>
            </a:r>
          </a:p>
          <a:p>
            <a:r>
              <a:t>1) El SoC NUNCA sube si bajás (menos Ξ) o si vas a la derecha (más corriente). Monotonía.</a:t>
            </a:r>
          </a:p>
          <a:p>
            <a:r>
              <a:t>2) Debajo de cierto borde el SoC es exactamente 0 (el potencial corta enseguida): el "acantilado".</a:t>
            </a:r>
          </a:p>
          <a:p>
            <a:r>
              <a:t>Los tres g muestran lo mismo: g=−4 tiene un frente seco, g=−0.5 una rampa más suave.</a:t>
            </a:r>
          </a:p>
          <a:p>
            <a:r>
              <a:t>Por qué pocos puntos: una corrida de KMC tarda de minutos (ℓ alto) a días (log ℓ ≈ −3.5).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respuesta a "¿cómo sabés que no hiciste trampa?".</a:t>
            </a:r>
          </a:p>
          <a:p>
            <a:r>
              <a:t>El método no tiene acceso a la imagen: solo puede llamar oracle.query((i, j)) y cada punto nuevo</a:t>
            </a:r>
          </a:p>
          <a:p>
            <a:r>
              <a:t>gasta presupuesto. Todo queda en queries.json. Después eval.py, que es independiente, verifica:</a:t>
            </a:r>
          </a:p>
          <a:p>
            <a:r>
              <a:t>que no haya más de 64 consultas, que no haya duplicadas, y que cada valor anotado sea el real</a:t>
            </a:r>
          </a:p>
          <a:p>
            <a:r>
              <a:t>(así no se puede meter un valor inventado haciéndolo pasar por medido).</a:t>
            </a:r>
          </a:p>
          <a:p>
            <a:r>
              <a:t>Métricas: PSNR y SSIM de la imagen entera, y PSNR en la frontera (10 % de píxeles con más gradiente),</a:t>
            </a:r>
          </a:p>
          <a:p>
            <a:r>
              <a:t>que pidieron el 17/9 porque el PSNR global lo dominan las mesetas.</a:t>
            </a:r>
          </a:p>
          <a:p>
            <a:r>
              <a:t>Los pseudo-puntos sí están permitidos (por ejemplo "debajo del borde vale 0"), pero no cuentan</a:t>
            </a:r>
          </a:p>
          <a:p>
            <a:r>
              <a:t>como observaciones.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primero: ¿qué da lo más simple? Grilla 8×8 (64 puntos) + interpolar. Promedio en los 3 g de desarrollo:</a:t>
            </a:r>
          </a:p>
          <a:p>
            <a:r>
              <a:t>vecino más cercano 19.1, lineal 21.9, cúbica 22.9, TPS (thin-plate spline, RBFInterpolator) 24.4.</a:t>
            </a:r>
          </a:p>
          <a:p>
            <a:r>
              <a:t>La TPS es la mejor y queda como base de todo lo que sigue.</a:t>
            </a:r>
          </a:p>
          <a:p>
            <a:r>
              <a:t>interp2d (lo que pidió el profe) ya no existe en scipy 1.14; con su motor interno da 18.7-24.1: lo mismo.</a:t>
            </a:r>
          </a:p>
          <a:p>
            <a:r>
              <a:t>Referencia de DIP previo: 20.6 dB con 48 puntos en g=−4.</a:t>
            </a:r>
          </a:p>
          <a:p>
            <a:r>
              <a:t>Mirá el mapa de error: TODO el error está en el borde. La TPS no puede hacer un salto: ondula</a:t>
            </a:r>
          </a:p>
          <a:p>
            <a:r>
              <a:t>("cuentas") y deja fantasmas a los dos lados. Eso marca el camino.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que pidió el profe en el punto 6 de la reunión del 17/9: interpolar con scipy y comparar.</a:t>
            </a:r>
          </a:p>
          <a:p>
            <a:r>
              <a:t>Mismos 64 puntos en grilla 8×8, cuatro métodos (autoexp/interp.py, función reconstruct):</a:t>
            </a:r>
          </a:p>
          <a:p>
            <a:r>
              <a:t>- vecino más cercano (griddata nearest): 18.8 dB. Cada píxel copia el punto más cercano: bloques.</a:t>
            </a:r>
          </a:p>
          <a:p>
            <a:r>
              <a:t>- lineal (griddata linear, triangula los puntos): 21.5 dB. Dientes de sierra sobre el borde.</a:t>
            </a:r>
          </a:p>
          <a:p>
            <a:r>
              <a:t>- cúbica (griddata cubic, Clough-Tocher): 22.4 dB. Más suave, pero los mismos dientes.</a:t>
            </a:r>
          </a:p>
          <a:p>
            <a:r>
              <a:t>- TPS (RBFInterpolator, thin_plate_spline): 23.9 dB. La más lisa; ondula un poco y redondea el frente.</a:t>
            </a:r>
          </a:p>
          <a:p>
            <a:r>
              <a:t>(Estos dB son de g = −2; la media en los 3 g de desarrollo está en la filmina anterior: 19.1 / 21.9 / 22.9 / 24.4.)</a:t>
            </a:r>
          </a:p>
          <a:p>
            <a:r>
              <a:t>Mirá la fila de abajo: en los cuatro el error está casi todo en el borde inclinado. Ninguna interpolación</a:t>
            </a:r>
          </a:p>
          <a:p>
            <a:r>
              <a:t>puede hacer un salto seco con puntos a 16 píxeles de distancia. De ahí salen las dos ideas que siguen:</a:t>
            </a:r>
          </a:p>
          <a:p>
            <a:r>
              <a:t>medir más cerca del borde (bisección) y meter el salto a mano (cero debajo del borde).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TPS = thin-plate spline (spline de placa delgada). Método clásico: Duchon (1976), Bookstein (1989).</a:t>
            </a:r>
          </a:p>
          <a:p>
            <a:r>
              <a:t>Imaginá una chapa metálica finita clavada a la altura medida en cada punto: toma la forma de mínima</a:t>
            </a:r>
          </a:p>
          <a:p>
            <a:r>
              <a:t>energía de flexión. Matemáticamente, la función que pasa por los puntos y minimiza la integral de las</a:t>
            </a:r>
          </a:p>
          <a:p>
            <a:r>
              <a:t>segundas derivadas al cuadrado. La solución es un plano más un "bulto" r² log r centrado en cada punto;</a:t>
            </a:r>
          </a:p>
          <a:p>
            <a:r>
              <a:t>los pesos salen de un sistema lineal de N×N (N = 64).</a:t>
            </a:r>
          </a:p>
          <a:p>
            <a:r>
              <a:t>Con smoothing &gt; 0 deja de pasar exacto por los puntos: sirve para el ruido del KMC.</a:t>
            </a:r>
          </a:p>
          <a:p>
            <a:r>
              <a:t>Se usa de scipy: scipy.interpolate.RBFInterpolator con kernel="thin_plate_spline" (autoexp/interp.py:35).</a:t>
            </a:r>
          </a:p>
          <a:p>
            <a:r>
              <a:t>Llegó por el punto 6 de la reunión del 17/9 (interpolación de scipy vs DIP): fue la mejor de todas.</a:t>
            </a:r>
          </a:p>
          <a:p>
            <a:r>
              <a:t>IMPORTANTE para la reunión: la TPS sola NO le gana a DIP (24.4 vs ~29.9 de DIP en grilla). Lo que le</a:t>
            </a:r>
          </a:p>
          <a:p>
            <a:r>
              <a:t>gana es la TPS + muestreo por tandas + cero debajo del borde + monotonía (~39-40 dB). Llamarla</a:t>
            </a:r>
          </a:p>
          <a:p>
            <a:r>
              <a:t>"TPS con restricciones físicas" para que no haya confusión.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Corte vertical en la columna 20 para tres g. Siempre es igual: arriba una meseta (SoC ≈ 1),</a:t>
            </a:r>
          </a:p>
          <a:p>
            <a:r>
              <a:t>después una rampa suave (más ancha cuando g → 0) y al final un salto seco a exactamente 0.</a:t>
            </a:r>
          </a:p>
          <a:p>
            <a:r>
              <a:t>Casi todo el error de la interpolación está en ese salto. Con presupuesto fijo, conviene gastar</a:t>
            </a:r>
          </a:p>
          <a:p>
            <a:r>
              <a:t>la mayor parte de los puntos en saber dónde está el borde, y muy pocos en las mesetas.</a:t>
            </a:r>
          </a:p>
          <a:p>
            <a:r>
              <a:t>Toda la receta sale de esta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caso que sigue en todas las figuras es g = −2 con 64 puntos, con la receta final.</a:t>
            </a:r>
          </a:p>
          <a:p>
            <a:r>
              <a:t>Etapa 1: grilla gruesa de 30 puntos (6 columnas × 5 filas). Sirve para tener una idea global y,</a:t>
            </a:r>
          </a:p>
          <a:p>
            <a:r>
              <a:t>sobre todo, para ver en qué columnas hay un par de puntos vecinos donde uno vale ~0 y el otro no:</a:t>
            </a:r>
          </a:p>
          <a:p>
            <a:r>
              <a:t>ahí cruza el acantilado.</a:t>
            </a:r>
          </a:p>
          <a:p>
            <a:r>
              <a:t>Etapa 2: en cada una de esas columnas, búsqueda binaria vertical (siguiente filmina). 25 puntos.</a:t>
            </a:r>
          </a:p>
          <a:p>
            <a:r>
              <a:t>Etapa 3: los que sobran van donde el modelo más se equivoca según validación cruzada. 9 puntos.</a:t>
            </a:r>
          </a:p>
          <a:p>
            <a:r>
              <a:t>Con KMC real esto son 9 tandas: 1 de grilla, varias de bisección, 2-3 de relleno.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Columna 10 del caso g = −2. Los puntos azules son la grilla: el penúltimo vale ~0.9 y el último 0,</a:t>
            </a:r>
          </a:p>
          <a:p>
            <a:r>
              <a:t>así que el borde está entre las filas 89 y 115 (corchete de 26 px).</a:t>
            </a:r>
          </a:p>
          <a:p>
            <a:r>
              <a:t>Ronda 1: pregunto el medio (fila 102): vale 0, así que el borde está arriba. Ronda 2: medio del nuevo</a:t>
            </a:r>
          </a:p>
          <a:p>
            <a:r>
              <a:t>corchete, y así. Con 5 consultas el corchete queda en 1 px.</a:t>
            </a:r>
          </a:p>
          <a:p>
            <a:r>
              <a:t>Detalles para defender: "cero" es v &lt; 0.004 porque la imagen es PNG de 8 bits. Solo se biseca si el</a:t>
            </a:r>
          </a:p>
          <a:p>
            <a:r>
              <a:t>lado no nulo es alto (≥ 0.05): arriba a la derecha el mapa se desvanece suave hasta ~0.02 y eso no es</a:t>
            </a:r>
          </a:p>
          <a:p>
            <a:r>
              <a:t>un acantilado.</a:t>
            </a:r>
          </a:p>
          <a:p>
            <a:r>
              <a:t>Las rondas son EN LOTE: todas las columnas piden su punto medio a la vez. Con KMC real, cada ronda es</a:t>
            </a:r>
          </a:p>
          <a:p>
            <a:r>
              <a:t>una tanda de corridas en paralelo en el cluster, no una corrida por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de calor = error de validación cruzada con los 55 puntos que había al terminar la bisección.</a:t>
            </a:r>
          </a:p>
          <a:p>
            <a:r>
              <a:t>Leave-one-out: saco un punto, reconstruyo con los demás y miro cuánto le erro a ese punto. Donde</a:t>
            </a:r>
          </a:p>
          <a:p>
            <a:r>
              <a:t>el modelo le erra a sus propios puntos, es donde menos información tiene.</a:t>
            </a:r>
          </a:p>
          <a:p>
            <a:r>
              <a:t>El criterio es error × distancia: así no se amontonan los puntos todos en el mismo lugar.</a:t>
            </a:r>
          </a:p>
          <a:p>
            <a:r>
              <a:t>Las estrellas son los 4 que eligió en la primera ronda (a la derecha arriba, en la zona que</a:t>
            </a:r>
          </a:p>
          <a:p>
            <a:r>
              <a:t>se desvanece, que cae entre columnas de la grilla).</a:t>
            </a:r>
          </a:p>
          <a:p>
            <a:r>
              <a:t>Antes se probó un relleno por gradiente: el LOO le ganó (38.65 dB de media en 9 g cuando se agregó).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los 64 puntos ya medidos hay que armar la imagen. Primero, el borde.</a:t>
            </a:r>
          </a:p>
          <a:p>
            <a:r>
              <a:t>Se triangulan los puntos (Delaunay). Si una arista es corta y une un punto que vale 0 con uno que no,</a:t>
            </a:r>
          </a:p>
          <a:p>
            <a:r>
              <a:t>el borde pasa por el medio: esos son los puntos de borde (cruces naranjas).</a:t>
            </a:r>
          </a:p>
          <a:p>
            <a:r>
              <a:t>Por esos puntos se ajusta fila = f(columna). Con RANSAC en vez de mínimos cuadrados comunes: se prueban</a:t>
            </a:r>
          </a:p>
          <a:p>
            <a:r>
              <a:t>todos los subconjuntos mínimos y gana el que tiene más puntos cerca; así un cruce malo no mueve la recta.</a:t>
            </a:r>
          </a:p>
          <a:p>
            <a:r>
              <a:t>El grado sale solo (el más bajo que alcanza). En los 9 g del continuo sale siempre una recta; en los</a:t>
            </a:r>
          </a:p>
          <a:p>
            <a:r>
              <a:t>diagramas deformados (arcos, S) sale curva. Eso permite usarlo cuando no sabemos la forma del KMC.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Misma entrada (64 puntos), cuatro reconstrucciones. Fila de abajo = error.</a:t>
            </a:r>
          </a:p>
          <a:p>
            <a:r>
              <a:t>TPS común: 26.5 dB, ondula sobre el borde.</a:t>
            </a:r>
          </a:p>
          <a:p>
            <a:r>
              <a:t>+ cero debajo del borde: debajo vale 0 exacto; arriba, TPS usando SOLO los puntos de arriba. 33.3 dB.</a:t>
            </a:r>
          </a:p>
          <a:p>
            <a:r>
              <a:t>+ compresión vertical y rampa alineada: lejos del borde la estructura depende casi solo de x, así que</a:t>
            </a:r>
          </a:p>
          <a:p>
            <a:r>
              <a:t>la distancia vertical se multiplica por 0.6. Cerca del borde hay una rampa paralela al borde, pero</a:t>
            </a:r>
          </a:p>
          <a:p>
            <a:r>
              <a:t>solo la medimos en 6 columnas: se interpola en coordenadas rotadas (a lo largo del borde comprimido)</a:t>
            </a:r>
          </a:p>
          <a:p>
            <a:r>
              <a:t>para que el perfil medido en una columna se traslade a las vecinas. El ancho de esa franja es adaptativo:</a:t>
            </a:r>
          </a:p>
          <a:p>
            <a:r>
              <a:t>si justo arriba del borde el valor es alto (frente seco, g=−4) la franja es angosta. 37.7 dB.</a:t>
            </a:r>
          </a:p>
          <a:p>
            <a:r>
              <a:t>+ monotonía: 38.3 dB. En g = −2 es el peor de los 3 g de desarrollo; en g = −4 la misma receta da ~45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el SoC no sube ni bajando ni yendo a la derecha, un punto medido q que está abajo-derecha de p</a:t>
            </a:r>
          </a:p>
          <a:p>
            <a:r>
              <a:t>dice f(p) &gt;= v(q); uno arriba-izquierda dice f(p) &lt;= v(q). Eso da, para cada píxel, un intervalo</a:t>
            </a:r>
          </a:p>
          <a:p>
            <a:r>
              <a:t>[L, U] EXACTO (no es una estimación). El mapa muestra el ancho U − L: negro = ya se sabe.</a:t>
            </a:r>
          </a:p>
          <a:p>
            <a:r>
              <a:t>Con 64 puntos, en el 58 % del mapa el intervalo mide 0.05 o menos.</a:t>
            </a:r>
          </a:p>
          <a:p>
            <a:r>
              <a:t>Se usa de dos formas: se recorta la interpolación a [L, U] y después se proyecta al conjunto de mapas</a:t>
            </a:r>
          </a:p>
          <a:p>
            <a:r>
              <a:t>monótonos (algoritmo de Dykstra, que alterna regresión isotónica PAVA por columnas y por filas).</a:t>
            </a:r>
          </a:p>
          <a:p>
            <a:r>
              <a:t>Si te preguntan "¿no estás metiendo conocimiento a mano?": sí, conocimiento FÍSICO (monotonía, SoC=0</a:t>
            </a:r>
          </a:p>
          <a:p>
            <a:r>
              <a:t>debajo del corte), no de la imagen particular. Y la próxima filmina muestra que se chequea con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objeción natural: "todo esto está hecho a medida de los mapas del continuo; el KMC puede ser distinto".</a:t>
            </a:r>
          </a:p>
          <a:p>
            <a:r>
              <a:t>Respuesta: interp.auto no asume nada a ciegas. Con los mismos puntos medidos chequea:</a:t>
            </a:r>
          </a:p>
          <a:p>
            <a:r>
              <a:t>- si algún par de puntos viola la monotonía (con tolerancia 0.02 + 3σ): si sí, se apaga la monotonía;</a:t>
            </a:r>
          </a:p>
          <a:p>
            <a:r>
              <a:t>- si de verdad hay acantilado (al menos 3 puntos debajo del borde y el 90 % vale ~0): si no, TPS común;</a:t>
            </a:r>
          </a:p>
          <a:p>
            <a:r>
              <a:t>- la compresión vertical la elige por validación cruzada entre 1.0, 0.8, 0.6, 0.4.</a:t>
            </a:r>
          </a:p>
          <a:p>
            <a:r>
              <a:t>Prueba fuera de muestra (mapas nunca usados para afinar): 36.0 vs 33.8 del baseline.</a:t>
            </a:r>
          </a:p>
          <a:p>
            <a:r>
              <a:t>Diagramas deformados (el acantilado corrido, inclinado, en arco, en S): 33.4 vs 24.5.</a:t>
            </a:r>
          </a:p>
          <a:p>
            <a:r>
              <a:t>En los 9 g originales da idéntico (sale recta en todos).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columna es un g; fila 1 la verdad, fila 2 la TPS sola, fila 3 la TPS con restricciones físicas</a:t>
            </a:r>
          </a:p>
          <a:p>
            <a:r>
              <a:t>(interp.auto: chequea con los puntos si hay borde y si se cumple la monotonía).</a:t>
            </a:r>
          </a:p>
          <a:p>
            <a:r>
              <a:t>g = -4.0: TPS sola 23.9 dB, con restricciones 43.8 dB</a:t>
            </a:r>
          </a:p>
          <a:p>
            <a:r>
              <a:t>g = -3.5: TPS sola 24.1 dB, con restricciones 37.9 dB</a:t>
            </a:r>
          </a:p>
          <a:p>
            <a:r>
              <a:t>g = -3.0: TPS sola 24.2 dB, con restricciones 38.7 dB</a:t>
            </a:r>
          </a:p>
          <a:p>
            <a:r>
              <a:t>g = -2.5: TPS sola 26.4 dB, con restricciones 39.5 dB</a:t>
            </a:r>
          </a:p>
          <a:p>
            <a:r>
              <a:t>g = -2.0: TPS sola 27.4 dB, con restricciones 38.1 dB</a:t>
            </a:r>
          </a:p>
          <a:p>
            <a:r>
              <a:t>g = -1.5: TPS sola 29.1 dB, con restricciones 36.7 dB</a:t>
            </a:r>
          </a:p>
          <a:p>
            <a:r>
              <a:t>g = -1.0: TPS sola 30.5 dB, con restricciones 39.0 dB</a:t>
            </a:r>
          </a:p>
          <a:p>
            <a:r>
              <a:t>g = -0.5: TPS sola 31.4 dB, con restricciones 38.7 dB</a:t>
            </a:r>
          </a:p>
          <a:p>
            <a:r>
              <a:t>g = +0.0: TPS sola 32.5 dB, con restricciones 38.5 dB</a:t>
            </a:r>
          </a:p>
          <a:p>
            <a:r>
              <a:t>g = +2.0: TPS sola 34.8 dB, con restricciones 35.3 dB (sin borde)</a:t>
            </a:r>
          </a:p>
          <a:p>
            <a:r>
              <a:t>g = +4.0: TPS sola 36.3 dB, con restricciones 36.7 dB (sin borde)</a:t>
            </a:r>
          </a:p>
          <a:p>
            <a:r>
              <a:t>Cuanto más suave el mapa, mejor anda la TPS sola (no hay salto que la haga ondular).</a:t>
            </a:r>
          </a:p>
          <a:p>
            <a:r>
              <a:t>En g = +2 y +4 los puntos no muestran ningún par 0 / alto cercano: el corte no se activa solo</a:t>
            </a:r>
          </a:p>
          <a:p>
            <a:r>
              <a:t>y queda TPS + monotonía. No es que el corte sea contraproducente: simplemente no se usa.</a:t>
            </a:r>
          </a:p>
          <a:p>
            <a:r>
              <a:t>¿Conviene tirar más puntos donde no hay borde? Sí. Mismo planificador, σ = 0.005, interp.auto:</a:t>
            </a:r>
          </a:p>
          <a:p>
            <a:r>
              <a:t>g = +2: 64 puntos 35.3 dB -&gt; 96: 38.0 -&gt; 128: 41.4.  g = +4: 64 -&gt; 36.8, 96 -&gt; 42.0, 128 -&gt; 42.6.</a:t>
            </a:r>
          </a:p>
          <a:p>
            <a:r>
              <a:t>Sin borde, la información está repartida en toda la rampa (no concentrada en un salto), así que cada</a:t>
            </a:r>
          </a:p>
          <a:p>
            <a:r>
              <a:t>punto extra rinde. Regla práctica para KMC: si después de la grilla y la bisección no aparece borde,</a:t>
            </a:r>
          </a:p>
          <a:p>
            <a:r>
              <a:t>subir el presupuesto (~96) en vez de insistir con 64.</a:t>
            </a:r>
          </a:p>
          <a:p>
            <a:r>
              <a:t>Ojo: estos números son con ruido σ = 0.005 y una sola tirada; sin ruido, en los 9 g negativos la</a:t>
            </a:r>
          </a:p>
          <a:p>
            <a:r>
              <a:t>misma receta da 40.6 dB de media (VAL9_ransac_s1e-4). El ruido cuesta ~1.3 dB, porque ubica peor el borde.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uno es bueno en una zona distinta. La TPS con rampa alineada es muy precisa pegada al borde</a:t>
            </a:r>
          </a:p>
          <a:p>
            <a:r>
              <a:t>(DIP ahí deja escalones o huecos). DIP es más lisa lejos del borde (mesetas y zona que se desvanece),</a:t>
            </a:r>
          </a:p>
          <a:p>
            <a:r>
              <a:t>donde la TPS ondula. Se mezclan con un peso que depende de la distancia al borde (B = 20 px).</a:t>
            </a:r>
          </a:p>
          <a:p>
            <a:r>
              <a:t>A DIP se le pasan los puntos reales + pseudo-ceros debajo del borde (seguro valen 0, no gastan presupuesto).</a:t>
            </a:r>
          </a:p>
          <a:p>
            <a:r>
              <a:t>Dos protecciones, ninguna mira la imagen real:</a:t>
            </a:r>
          </a:p>
          <a:p>
            <a:r>
              <a:t>- guarda: si DIP no ajusta los puntos REALES de arriba del borde (RMS &gt; 0.02) se descarta. En los 9 g,</a:t>
            </a:r>
          </a:p>
          <a:p>
            <a:r>
              <a:t>  cuando DIP anda el residuo es ≤ 0.008 y cuando falla ≥ 0.03: el corte es limpio.</a:t>
            </a:r>
          </a:p>
          <a:p>
            <a:r>
              <a:t>- mejor de 2: DIP varía entre semillas; se corren 2 y se elige por residuo en los puntos.</a:t>
            </a:r>
          </a:p>
          <a:p>
            <a:r>
              <a:t>DIP corre en Mendieta (GPU A30), nunca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barra es una corrida real del loop, todas con 64 puntos y el mismo evaluador.</a:t>
            </a:r>
          </a:p>
          <a:p>
            <a:r>
              <a:t>Resumen de lo que más sumó: bisección del frente (+2.5), acantilado a cero (+3.3), relleno por</a:t>
            </a:r>
          </a:p>
          <a:p>
            <a:r>
              <a:t>validación cruzada (+3.0), monotonía, RANSAC y la fusión con DIP al final.</a:t>
            </a:r>
          </a:p>
          <a:p>
            <a:r>
              <a:t>El objetivo de 38 dB en el PEOR g se pasa con la fusión (39.5).</a:t>
            </a:r>
          </a:p>
          <a:p>
            <a:r>
              <a:t>Regla del loop: un cambio por vez, se mide, y si empeora se revierte con git. Está todo anotado en</a:t>
            </a:r>
          </a:p>
          <a:p>
            <a:r>
              <a:t>autoexp/experimentos.md (la bitácora) y leaderboard.csv.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Números clave:</a:t>
            </a:r>
          </a:p>
          <a:p>
            <a:r>
              <a:t>- 64 puntos, 9 g: 40.6 dB sin DIP (peor 36.2); 41.1 con fusión + guarda (peor 37.3), 8 de 9 g ≥ 38</a:t>
            </a:r>
          </a:p>
          <a:p>
            <a:r>
              <a:t>  (solo g = −1.5 queda abajo).</a:t>
            </a:r>
          </a:p>
          <a:p>
            <a:r>
              <a:t>- Para ≥ 40 dB en los 9 g hacen falta 84 puntos con DIP (43.4 / 40.2) u 88 sin DIP (42.9 / 41.2).</a:t>
            </a:r>
          </a:p>
          <a:p>
            <a:r>
              <a:t>  Es ~0.5 % de la imagen. El DIP previo con máscara frontier_mix necesitaba ~328, y esa máscara usaba</a:t>
            </a:r>
          </a:p>
          <a:p>
            <a:r>
              <a:t>  el mapa denso para elegir puntos.</a:t>
            </a:r>
          </a:p>
          <a:p>
            <a:r>
              <a:t>- Ruido: el oráculo puede sumar ruido gaussiano de desvío σ; el puntaje se mide contra el mapa limpio.</a:t>
            </a:r>
          </a:p>
          <a:p>
            <a:r>
              <a:t>  DIP suma más cuanto más ruido. En KMC medimos σ ≈ 0.02 entre réplicas para g = −4.</a:t>
            </a:r>
          </a:p>
          <a:p>
            <a:r>
              <a:t>- Robustez: si corro la grilla (otro offset), sin DIP da 38.9 ± 1.3. El 40.6 es con el offset por defecto.</a:t>
            </a:r>
          </a:p>
          <a:p>
            <a:r>
              <a:t>Descartados (por si preguntan): proceso gaussiano/kriging, sondas de rampa, Optuna sobre DIP solo</a:t>
            </a:r>
          </a:p>
          <a:p>
            <a:r>
              <a:t>(mejor ~29.9 con grilla de 64).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planificador reutiliza EXACTAMENTE el mismo muestreo. El truco es el ReplayOracle: tiene la misma</a:t>
            </a:r>
          </a:p>
          <a:p>
            <a:r>
              <a:t>interfaz que el oráculo, pero responde con los resultados de KMC ya cargados. En cada "next" se corre</a:t>
            </a:r>
          </a:p>
          <a:p>
            <a:r>
              <a:t>el muestreo desde cero; cuando pide un punto que todavía no se corrió, tira NeedPoints y esos puntos</a:t>
            </a:r>
          </a:p>
          <a:p>
            <a:r>
              <a:t>son la tanda siguiente. Como el muestreo es determinista, siempre llega al mismo lugar.</a:t>
            </a:r>
          </a:p>
          <a:p>
            <a:r>
              <a:t>kmc_results lee datos-*.dat y un estado.txt con el código de salida que escribe el slurm. Se usa el</a:t>
            </a:r>
          </a:p>
          <a:p>
            <a:r>
              <a:t>código de salida y no la última E porque el último intervalo a veces no se imprime.</a:t>
            </a:r>
          </a:p>
          <a:p>
            <a:r>
              <a:t>Los puntos de log ℓ ≈ −3.5 tardan días: no terminan. Se cargan como pseudo: el SoC no sube hacia la</a:t>
            </a:r>
          </a:p>
          <a:p>
            <a:r>
              <a:t>derecha, así que vale al menos lo que midió el vecino de la derecha en la misma fila (si ese vecino dio 0,</a:t>
            </a:r>
          </a:p>
          <a:p>
            <a:r>
              <a:t>se usa la altura del escalón más cercana, 0.765).</a:t>
            </a:r>
          </a:p>
          <a:p>
            <a:r>
              <a:t>kmc_auto corre local en segundo plano, se relanza solo con crontab si se reinicia la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número en el mapa es la tanda en la que se corrió ese punto. Tanda 1 = grilla de 30 (Serafín);</a:t>
            </a:r>
          </a:p>
          <a:p>
            <a:r>
              <a:t>tandas 2 a 6 = bisección (~5 puntos cada una) en las columnas donde cruza el borde; 7 a 9 = relleno.</a:t>
            </a:r>
          </a:p>
          <a:p>
            <a:r>
              <a:t>Los punteados son pseudo (cortados por tiempo, cargados por monotonía). El recuadro es el job largo</a:t>
            </a:r>
          </a:p>
          <a:p>
            <a:r>
              <a:t>(log ℓ = −3.53), todavía pendiente: cuando termine reemplaza a los pseudo y se rehace el final.</a:t>
            </a:r>
          </a:p>
          <a:p>
            <a:r>
              <a:t>Control: 10 puntos que NO se usaron para reconstruir, corridos con KMC después. Error RMS del mapa</a:t>
            </a:r>
          </a:p>
          <a:p>
            <a:r>
              <a:t>final contra esos puntos: 0.027 (fusión TPS + DIP), 0.043 (TPS con restricciones sola), 0.14 si se</a:t>
            </a:r>
          </a:p>
          <a:p>
            <a:r>
              <a:t>usara el mapa del continuo con g = −4 como sustituto. Es decir: medir 64 puntos y reconstruir es 5</a:t>
            </a:r>
          </a:p>
          <a:p>
            <a:r>
              <a:t>veces mejor que suponer que el KMC es igual al continuo.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1 de 10. Tanda 1: grilla de 30. Sin pares 0 / alto cercanos todavía: TPS común, el frente sale ondulado.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2 de 10. Tanda 2: primera bisección (círculos naranjas = puntos nuevos). Todavía no alcanza para ubicar el borde.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3 de 10. Tanda 3: la bisección se acerca al salto desde los dos lados.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4 de 10. Tanda 4: aparecen pares 0 / alto a ≤ 4 px → se detecta el borde (línea punteada) y debajo pasa a 0.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5 de 10. Tanda 5: el borde se afina; la rampa sobre el borde ya tiene forma.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6 de 10. Tanda 6: termina la bisección (54 puntos).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7 de 10. Tanda 7: relleno, donde la validación cruzada dice que más se equivoca (arriba a la derecha).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8 de 10. Tanda 8: más relleno en la zona que se desvanece.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9 de 10. Tanda 9: 64 puntos. Esto es la TPS con restricciones físicas.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10 de 10. Final: se mezcla con DIP lejos del borde (fusión con guarda).</a:t>
            </a:r>
          </a:p>
          <a:p/>
          <a:p/>
          <a:p>
            <a:r>
              <a:t>Cada panel es el mapa que se podía armar en ese momento con la misma receta (TPS con restricciones</a:t>
            </a:r>
          </a:p>
          <a:p>
            <a:r>
              <a:t>físicas). El borde recién aparece en la tanda 4: con σ = 0.02 hace falta un par 0 / alto a ≤ 4 px y</a:t>
            </a:r>
          </a:p>
          <a:p>
            <a:r>
              <a:t>que cerca del lado alto algo valga ≥ 0.1. Lo que más cambia el mapa son las tandas de bisección;</a:t>
            </a:r>
          </a:p>
          <a:p>
            <a:r>
              <a:t>el relleno retoca detalles en la zona que se desvanece.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1 de 8. 1. Los 64 valores de SoC del KMC: lo único que hay.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2 de 8. 2. TPS sola (scipy, thin-plate spline): se pasa de 0 y de 1 y ondula en el frente. Sola no sirve.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3 de 8. 3. Borde: aristas cortas de Delaunay entre un punto ≈ 0 y uno alto; sus puntos medios (★) → recta. El salto es real: a 1 px, el KMC da 0.77 y 0.00.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4 de 8. 4. Debajo de la recta, 0. Arriba, TPS solo con los puntos de arriba, alineada al borde.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5 de 8. 5. + cotas y proyección monótona (el SoC no sube con ℓ ni con Ξ) = TPS con restricciones físicas.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6 de 8. 6. DIP: la red ve los puntos + ceros debajo del borde; 2 semillas, queda la que mejor ajusta los puntos.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7 de 8. 7. Peso de la mezcla: 1 pegado al borde (TPS), 0 lejos (DIP).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8 de 8. 8. Final = monótona(w·TPS + (1−w)·DIP). Si DIP no reproduce los puntos, queda solo la TPS.</a:t>
            </a:r>
          </a:p>
          <a:p/>
          <a:p/>
          <a:p>
            <a:r>
              <a:t>Orden importante: primero se ubica el borde con los puntos y DESPUÉS se hace la TPS solo con los puntos</a:t>
            </a:r>
          </a:p>
          <a:p>
            <a:r>
              <a:t>de arriba. No es "TPS y después recortar": si la TPS usara también los ceros, chorrearía hacia la meseta</a:t>
            </a:r>
          </a:p>
          <a:p>
            <a:r>
              <a:t>(panel 2). Recta del borde: fila = -0.50·col + 111.4. DIP no cierra todo: se mezcla por zonas, y si no</a:t>
            </a:r>
          </a:p>
          <a:p>
            <a:r>
              <a:t>reproduce los puntos reales (RMS &gt; 0.02 + 2σ) se descarta.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Respuestas cortas para tener a mano. La versión larga de cada una está en las notas de las filminas</a:t>
            </a:r>
          </a:p>
          <a:p>
            <a:r>
              <a:t>anteriores (reglas: 1; fuera de muestra: 10; DIP: 11; resultados: la de resultados).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piezas: dónde medir (grilla, bisección, relleno por validación cruzada), cómo reconstruir</a:t>
            </a:r>
          </a:p>
          <a:p>
            <a:r>
              <a:t>(borde por RANSAC, TPS solo arriba, cero abajo, monotonía) y dónde entra DIP (fusión lejos del borde,</a:t>
            </a:r>
          </a:p>
          <a:p>
            <a:r>
              <a:t>con guarda). Todo el código está en autoexp/, la bitácora en autoexp/experimentos.md.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Reconstruir el diagrama de fases con 64 puntos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9D1E0"/>
                </a:solidFill>
                <a:latin typeface="Calibri"/>
              </a:rPr>
              <a:t>Cómo funciona el loop autoexp,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EB6834"/>
                </a:solidFill>
                <a:latin typeface="Calibri"/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73168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9D1E0"/>
                </a:solidFill>
                <a:latin typeface="Calibri"/>
              </a:rPr>
              <a:t>puntos consultados
(0,39 % de 128×128)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39" y="40233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7FB2F0"/>
                </a:solidFill>
                <a:latin typeface="Calibri"/>
              </a:rPr>
              <a:t>&gt; 38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4773168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9D1E0"/>
                </a:solidFill>
                <a:latin typeface="Calibri"/>
              </a:rPr>
              <a:t>el objetivo del 23/9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40233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5FD3A6"/>
                </a:solidFill>
                <a:latin typeface="Calibri"/>
              </a:rPr>
              <a:t>41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4773168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9D1E0"/>
                </a:solidFill>
                <a:latin typeface="Calibri"/>
              </a:rPr>
              <a:t>logrado en los 9 g
(media, con DIP)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40233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45 /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773168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9D1E0"/>
                </a:solidFill>
                <a:latin typeface="Calibri"/>
              </a:rPr>
              <a:t>puntos de KMC real
ya corridos (g = −4)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A94A8"/>
                </a:solidFill>
                <a:latin typeface="Calibri"/>
              </a:rPr>
              <a:t>branch autoexp · worktree ~/Tesis-autoexp · código en autoexp/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El problema: cada píxel cuesta horas</a:t>
            </a:r>
          </a:p>
        </p:txBody>
      </p:sp>
      <p:pic>
        <p:nvPicPr>
          <p:cNvPr id="4" name="Picture 3" descr="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3720"/>
            <a:ext cx="7680960" cy="285047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71600"/>
            <a:ext cx="3154680" cy="34747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554480"/>
            <a:ext cx="2697480" cy="3154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Qué es la imagen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SoC_max en función de log ℓ (columnas) y log Ξ (filas).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128 × 128 = 16 384 píxeles.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La “verdad” para desarrollar: el modelo continuo (galpynostatic) en 9 g negativos.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6636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4213D"/>
                </a:solidFill>
                <a:latin typeface="Calibri"/>
              </a:rPr>
              <a:t>16 384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1616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píxeles de la imagen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16636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EB6834"/>
                </a:solidFill>
                <a:latin typeface="Calibri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91616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consultas permitidas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16636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4213D"/>
                </a:solidFill>
                <a:latin typeface="Calibri"/>
              </a:rPr>
              <a:t>min → días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91616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lo que tarda un punto de KMC (~1/ℓ)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Las reglas del juego: nadie mira la imagen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oracle.py y eval.py son archivos fijos: el loop de experimentación no los toca nunca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00400" cy="150876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74320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Método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sampling.py + interp.py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decide dónde medir y reconstruye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2395728"/>
            <a:ext cx="502920" cy="365760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200400" cy="150876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74320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Oráculo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oracle.py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responde el valor de un píxel, cuenta y anota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26679" y="2395728"/>
            <a:ext cx="502920" cy="365760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200400" cy="150876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11680"/>
            <a:ext cx="274320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Evaluador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eval.py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chequea el registro contra la verdad, calcula PSNR/SSIM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4813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270"/>
                </a:solidFill>
                <a:latin typeface="Courier New"/>
              </a:rPr>
              <a:t>query(i, 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48132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270"/>
                </a:solidFill>
                <a:latin typeface="Courier New"/>
              </a:rPr>
              <a:t>queries.json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6675120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67328"/>
            <a:ext cx="6309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270"/>
                </a:solidFill>
                <a:latin typeface="Calibri"/>
              </a:rPr>
              <a:t>autoexp/oracle.py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63093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def query(self, points):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new = {p for p in pts if p not in self.queried}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if self.n_used + len(new) &gt; self.budget: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raise BudgetExceeded(...)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for i, j in new: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x = float(self.__img[i, j])   # imagen privada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if self.noise &gt; 0:            # opcional: ruido KMC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    x += self.noise * rng.standard_normal()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self.queried[(i, j)] = 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03320"/>
            <a:ext cx="4023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Calibri"/>
              </a:rPr>
              <a:t>Pseudo-puntos permitidos: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valores inventados a partir de lo medido; no gastan presupuesto.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Calibri"/>
              </a:rPr>
              <a:t>Anti-trampa: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eval.py verifica que cada valor anotado coincida con la imagen real.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Calibri"/>
              </a:rPr>
              <a:t>Desarrollo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en 3 g (−4, −2, −0.5); </a:t>
            </a:r>
            <a:r>
              <a:rPr sz="1400" b="1" i="0">
                <a:solidFill>
                  <a:srgbClr val="1F2328"/>
                </a:solidFill>
                <a:latin typeface="Calibri"/>
              </a:rPr>
              <a:t>validación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en los 9. Siempre media + peor 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Punto de partida: grilla + interpolación de scipy</a:t>
            </a:r>
          </a:p>
        </p:txBody>
      </p:sp>
      <p:pic>
        <p:nvPicPr>
          <p:cNvPr id="4" name="Picture 3" descr="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20" y="1280160"/>
            <a:ext cx="10766478" cy="3566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074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1389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19.1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vecino más cercano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074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51389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21.9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5806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lineal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74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1389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22.9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806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cúbica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5074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51389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B6834"/>
                </a:solidFill>
                <a:latin typeface="Calibri"/>
              </a:rPr>
              <a:t>24.4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5806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TPS (RBF)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Calibri"/>
              </a:rPr>
              <a:t>media en los 3 g de desarrollo (la figura de arriba es solo g = −2)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Las cuatro interpolaciones de scipy, lado a 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misma grilla 8×8 (64 puntos), g = −2 · arriba la reconstrucción, abajo el |error|</a:t>
            </a:r>
          </a:p>
        </p:txBody>
      </p:sp>
      <p:pic>
        <p:nvPicPr>
          <p:cNvPr id="4" name="Picture 3" descr="scipy_met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03" y="1554480"/>
            <a:ext cx="1082371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Todas fallan en el mismo lugar: el borde. Vecino más cercano hace escalones, lineal y cúbica dientes de sierra; la TPS es la más lisa y la que menos error deja.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Qué es la TPS (thin-plate spline)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la mejor de las interpolaciones de scipy: la base de todo lo que sigue</a:t>
            </a:r>
          </a:p>
        </p:txBody>
      </p:sp>
      <p:pic>
        <p:nvPicPr>
          <p:cNvPr id="4" name="Picture 3" descr="tps_que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8245"/>
            <a:ext cx="6949440" cy="2384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434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Una chapa fina clavada a la altura de cada punto: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toma la forma que menos se curva. Minimiza ∬ (f_xx² + 2f_xy² + f_yy²).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66360"/>
            <a:ext cx="6766560" cy="13716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76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270"/>
                </a:solidFill>
                <a:latin typeface="Calibri"/>
              </a:rPr>
              <a:t>scipy.interpolate · autoexp/interp.py:35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640080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f(x) = a0 + a1·x + a2·y + Σ w_i · r_i² log r_i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RBFInterpolator(ij / s, v, kernel="thin_plate_spline",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        smoothing=1e-4)(q / 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00200"/>
            <a:ext cx="3977639" cy="233172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520439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37A55"/>
                </a:solidFill>
                <a:latin typeface="Calibri"/>
              </a:rPr>
              <a:t>Lo bueno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Pasa por los puntos (o casi, con suavizado para el ruido).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Sin parámetros que afinar; 64 puntos se resuelven en milisegundos.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114800"/>
            <a:ext cx="3977639" cy="242316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297680"/>
            <a:ext cx="35204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471C"/>
                </a:solidFill>
                <a:latin typeface="Calibri"/>
              </a:rPr>
              <a:t>Ojo con el nombre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Sola, en un salto se pasa de largo: 24 dB.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De acá en adelante, “TPS” = TPS con restricciones físicas (cero debajo del borde + monotonía): ~40 dB. Lo que la hace andar es la física, no el interpolador.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La observación clave: siempre el mismo perfil</a:t>
            </a:r>
          </a:p>
        </p:txBody>
      </p:sp>
      <p:pic>
        <p:nvPicPr>
          <p:cNvPr id="4" name="Picture 3" descr="per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2915"/>
            <a:ext cx="6766560" cy="43322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645920"/>
            <a:ext cx="35204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En todos los g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328"/>
                </a:solidFill>
                <a:latin typeface="Calibri"/>
              </a:rPr>
              <a:t>meseta → rampa suave → salto a 0 exacto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01752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3200400"/>
            <a:ext cx="35204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B4471C"/>
                </a:solidFill>
                <a:latin typeface="Calibri"/>
              </a:rPr>
              <a:t>El error está en el salto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328"/>
                </a:solidFill>
                <a:latin typeface="Calibri"/>
              </a:rPr>
              <a:t>las mesetas se reconstruyen casi solas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572000"/>
            <a:ext cx="3977639" cy="164592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4754880"/>
            <a:ext cx="352043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37A55"/>
                </a:solidFill>
                <a:latin typeface="Calibri"/>
              </a:rPr>
              <a:t>Entonces…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328"/>
                </a:solidFill>
                <a:latin typeface="Calibri"/>
              </a:rPr>
              <a:t>gastar puntos en UBICAR el borde con precisión, no en cubrir parejo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Dónde medir: tres etapas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sampling.bisect — la misma receta que usa el planificador de KMC</a:t>
            </a:r>
          </a:p>
        </p:txBody>
      </p:sp>
      <p:pic>
        <p:nvPicPr>
          <p:cNvPr id="5" name="Picture 4" descr="muestreo_et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11" y="1554480"/>
            <a:ext cx="8522096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663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306324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1 · Grilla (30)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6 columnas × 5 filas: idea global y en qué columnas hay salto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51663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349240"/>
            <a:ext cx="306324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471C"/>
                </a:solidFill>
                <a:latin typeface="Calibri"/>
              </a:rPr>
              <a:t>2 · Bisección (25)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búsqueda binaria del acantilado en cada columna, hasta 1 px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1663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5349240"/>
            <a:ext cx="306324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37A55"/>
                </a:solidFill>
                <a:latin typeface="Calibri"/>
              </a:rPr>
              <a:t>3 · Relleno (9)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donde la validación cruzada dice que más se equivoca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Bisección: el borde por búsqueda binaria</a:t>
            </a:r>
          </a:p>
        </p:txBody>
      </p:sp>
      <p:pic>
        <p:nvPicPr>
          <p:cNvPr id="4" name="Picture 3" descr="bis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9" y="1280160"/>
            <a:ext cx="61283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49440" y="1325880"/>
            <a:ext cx="4709160" cy="29260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435607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270"/>
                </a:solidFill>
                <a:latin typeface="Calibri"/>
              </a:rPr>
              <a:t>autoexp/sampling.py · bisect()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343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# corchete: un extremo ~0 y el otro no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if (v0 &lt; eps) != (v1 &lt; eps):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    br.append([x, y0, v0, y1, v1])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# cada ronda: el medio de TODOS los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# corchetes abiertos, a la vez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while any(b[3] - b[1] &gt; tol for b in br):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    pts = [((b[1]+b[3])//2, b[0]) for b in br]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    vals = oracle.query(pts)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328"/>
                </a:solidFill>
                <a:latin typeface="Courier New"/>
              </a:rPr>
              <a:t>    # achicar el corchete hacia el 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434840"/>
            <a:ext cx="4709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8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Calibri"/>
              </a:rPr>
              <a:t>eps = 0.004: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el PNG es de 8 bits (1/255 ≈ 0.0039 es “cero”).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Calibri"/>
              </a:rPr>
              <a:t>~5 consultas por columna: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log₂(26 px) ≈ 5.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Calibri"/>
              </a:rPr>
              <a:t>En lote: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una ronda = una tanda de KMC en paralelo.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En g = −4 </a:t>
            </a:r>
            <a:r>
              <a:rPr sz="1500" b="0" i="0">
                <a:solidFill>
                  <a:srgbClr val="14213D"/>
                </a:solidFill>
                <a:latin typeface="Calibri"/>
              </a:rPr>
              <a:t>(el caso “imposible” para DIP con pocos puntos) esto solo ya llevó de 24 a 34 dB.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Relleno: medir donde el modelo más se equivoca</a:t>
            </a:r>
          </a:p>
        </p:txBody>
      </p:sp>
      <p:pic>
        <p:nvPicPr>
          <p:cNvPr id="4" name="Picture 3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2716"/>
            <a:ext cx="5669280" cy="4935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303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Para cada punto medido arriba del borde: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1. 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sacarlo y reconstruir sin él,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2. 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medir cuánto se equivoca en ese lugar (error leave-one-out),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3. 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interpolar esos errores a toda la imagen.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24612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335584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270"/>
                </a:solidFill>
                <a:latin typeface="Calibri"/>
              </a:rPr>
              <a:t>autoexp/sampling.py · loo_fill()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657599"/>
            <a:ext cx="4892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k = argmax( error_LOO ** power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        * distancia_al_punto_mas_cercano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5257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8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Error alto y lejos de lo medido → ahí va el punto. De a 4 por ronda.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Calibri"/>
              </a:rPr>
              <a:t>Se excluyen 4 px sobre el borde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(ya los resolvió la bisección). Sin eso, g = −4 cae de 45.7 a 37.4 dB.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Reconstruir (1): ubicar el borde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interp.cliff — el “modelo de acantilado”</a:t>
            </a:r>
          </a:p>
        </p:txBody>
      </p:sp>
      <p:pic>
        <p:nvPicPr>
          <p:cNvPr id="5" name="Picture 4" descr="bo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77" y="1554480"/>
            <a:ext cx="4340605" cy="4937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17920" y="164592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600200"/>
            <a:ext cx="4846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Triangulación de Delaunay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une cada punto con sus vecinos (líneas blancas).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2862072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816352"/>
            <a:ext cx="4846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Aristas que cruzan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cortas (≤ 4 px), con un extremo = 0 y el otro &gt; 0 → su punto medio es un punto del borde (×).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4078224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032504"/>
            <a:ext cx="4846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RANSAC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prueba todos los subconjuntos mínimos y gana el que más puntos deja a ≤ 3 px: un cruce mal detectado no tuerce la recta.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5294376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5248656"/>
            <a:ext cx="4846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Grado automático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recta, parábola o cúbica: el más bajo que logra el máximo de inliers; si falla, curva por tramos (PCHIP).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Reconstruir (2): cada idea suma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mismos 64 puntos en las cuatro columnas (g = −2)</a:t>
            </a:r>
          </a:p>
        </p:txBody>
      </p:sp>
      <p:pic>
        <p:nvPicPr>
          <p:cNvPr id="5" name="Picture 4" descr="recon_p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055"/>
            <a:ext cx="7406640" cy="40846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508760"/>
            <a:ext cx="3429000" cy="150876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1848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B6834"/>
                </a:solidFill>
                <a:latin typeface="Calibri"/>
              </a:rPr>
              <a:t>+6.9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39112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Cero debajo del borde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y TPS solo con los puntos de arriba: sin salto que la TPS no pueda hacer.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00400"/>
            <a:ext cx="3429000" cy="150876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31012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A78D6"/>
                </a:solidFill>
                <a:latin typeface="Calibri"/>
              </a:rPr>
              <a:t>+4.4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730752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y comprimida + rampa alineada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la rampa corre paralela al borde: se interpola en coordenadas “a lo largo / a través” del borde.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892040"/>
            <a:ext cx="3429000" cy="150876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500176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37A55"/>
                </a:solidFill>
                <a:latin typeface="Calibri"/>
              </a:rPr>
              <a:t>+0.6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422392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Monotonía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cotas exactas + proyección a mapas no crecientes (siguiente).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Reconstruir (3): la física ya dice mucho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el SoC no sube hacia abajo ni hacia la derecha</a:t>
            </a:r>
          </a:p>
        </p:txBody>
      </p:sp>
      <p:pic>
        <p:nvPicPr>
          <p:cNvPr id="5" name="Picture 4" descr="monoto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8572"/>
            <a:ext cx="5394960" cy="47038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55448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BAF7A"/>
                </a:solidFill>
                <a:latin typeface="Calibri"/>
              </a:rPr>
              <a:t>58 %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04288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del mapa ya tiene su intervalo [L, U] de ancho ≤ 0.05 con solo 64 puntos, antes de interpolar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6324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17296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270"/>
                </a:solidFill>
                <a:latin typeface="Calibri"/>
              </a:rPr>
              <a:t>autoexp/interp.py · monotone_bounds / monotone_2d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07492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# p medido abajo-derecha de q  -&gt;  f(q) &gt;= v(p)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L = max.accumulate(max.accumulate(M[::-1,::-1]))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U = min.accumulate(min.accumulate(N))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rec = clip(rec, L, U)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rec = monotone_2d(rec)   # Dykstra + PAVA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983480"/>
            <a:ext cx="5440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800"/>
              </a:spcAft>
              <a:buChar char="•"/>
            </a:pPr>
            <a:r>
              <a:rPr sz="1350" b="1" i="0">
                <a:solidFill>
                  <a:srgbClr val="1F2328"/>
                </a:solidFill>
                <a:latin typeface="Calibri"/>
              </a:rPr>
              <a:t>Cotas: </a:t>
            </a:r>
            <a:r>
              <a:rPr sz="1350" b="0" i="0">
                <a:solidFill>
                  <a:srgbClr val="1F2328"/>
                </a:solidFill>
                <a:latin typeface="Calibri"/>
              </a:rPr>
              <a:t>cada punto medido acota toda una esquina del mapa.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350" b="1" i="0">
                <a:solidFill>
                  <a:srgbClr val="1F2328"/>
                </a:solidFill>
                <a:latin typeface="Calibri"/>
              </a:rPr>
              <a:t>Proyección: </a:t>
            </a:r>
            <a:r>
              <a:rPr sz="1350" b="0" i="0">
                <a:solidFill>
                  <a:srgbClr val="1F2328"/>
                </a:solidFill>
                <a:latin typeface="Calibri"/>
              </a:rPr>
              <a:t>se alterna regresión isotónica por columnas y por filas hasta que el mapa es monótono; borra las ondulaciones.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¿Y si el KMC tiene otra forma?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interp.auto: el método chequea cada supuesto con los propios puntos; si no se cumple, lo apaga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611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Calibri"/>
              </a:rPr>
              <a:t>¿Algún par de puntos viola la monotonía?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2057400"/>
            <a:ext cx="411480" cy="347472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892807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37A55"/>
                </a:solidFill>
                <a:latin typeface="Calibri"/>
              </a:rPr>
              <a:t>no → cotas + proyección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sí → sin monotonía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611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Calibri"/>
              </a:rPr>
              <a:t>¿≥ 90 % de lo de abajo del borde vale ~0?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72000" y="3154679"/>
            <a:ext cx="411480" cy="347472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99008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37A55"/>
                </a:solidFill>
                <a:latin typeface="Calibri"/>
              </a:rPr>
              <a:t>sí → modelo de acantilado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no → TPS genérica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3611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Calibri"/>
              </a:rPr>
              <a:t>¿Cuánto comprimir en vertical?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72000" y="4251959"/>
            <a:ext cx="411480" cy="347472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4087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37A55"/>
                </a:solidFill>
                <a:latin typeface="Calibri"/>
              </a:rPr>
              <a:t>4 valores, gana el de menor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error de validación cruzada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406640" y="1645920"/>
          <a:ext cx="42976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257800"/>
            <a:ext cx="6583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2328"/>
                </a:solidFill>
                <a:latin typeface="Calibri"/>
              </a:rPr>
              <a:t>Por qué importa: </a:t>
            </a:r>
            <a:r>
              <a:rPr sz="1450" b="0" i="0">
                <a:solidFill>
                  <a:srgbClr val="1F2328"/>
                </a:solidFill>
                <a:latin typeface="Calibri"/>
              </a:rPr>
              <a:t>todo se afinó con el modelo continuo. En mapas que el método nunca vio, sigue ganando: no está sobreajustado a esos 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La receta en los 11 g del continuo, con ruido tipo KMC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64 puntos del planificador de KMC, σ = 0.005; el chequeo de supuestos decide si hay borde</a:t>
            </a:r>
          </a:p>
        </p:txBody>
      </p:sp>
      <p:pic>
        <p:nvPicPr>
          <p:cNvPr id="4" name="Picture 3" descr="tps_continuo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9880"/>
            <a:ext cx="11247120" cy="34382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4068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23560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g ≤ 0: hay borde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TPS sola 27.7 dB → con restricciones 39.0 dB de media.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544068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5623560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471C"/>
                </a:solidFill>
                <a:latin typeface="Calibri"/>
              </a:rPr>
              <a:t>g &gt; 0: no hay borde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No es que el corte empeore: no se activa. Con 96 puntos en vez de 64: g=+2 35.3 → 38.0 dB, g=+4 36.8 → 42.0 dB. Ahí conviene medir más.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Dónde entra DIP: fusión con la 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autoexp/fuse.py</a:t>
            </a:r>
          </a:p>
        </p:txBody>
      </p:sp>
      <p:pic>
        <p:nvPicPr>
          <p:cNvPr id="5" name="Picture 4" descr="zonas_tps_d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2212"/>
            <a:ext cx="11064240" cy="3196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4632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5604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270"/>
                </a:solidFill>
                <a:latin typeface="Calibri"/>
              </a:rPr>
              <a:t>cerca del borde manda la TPS; lejos, DIP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38404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# d = distancia (px) sobre el borde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w = exp(-(d / B) ** 2)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final = monotone_2d(w * TPS + (1 - w) * DIP)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484632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502920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4471C"/>
                </a:solidFill>
                <a:latin typeface="Calibri"/>
              </a:rPr>
              <a:t>Guarda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si DIP no reproduce los puntos reales (RMS &gt; 0.02), DIP falló → solo 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84632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502920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37A55"/>
                </a:solidFill>
                <a:latin typeface="Calibri"/>
              </a:rPr>
              <a:t>Mejor de 2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dos semillas de DIP; queda la de menor residuo en los puntos medidos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El recorrido completo, con el mismo presupuesto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PSNR en los 3 g de desarrollo (autoexp/runs/*/score.json)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10642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Resultados: lo que hay que saber de memoria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validación en los 9 g negativos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4213D"/>
                </a:solidFill>
                <a:latin typeface="Calibri"/>
              </a:rPr>
              <a:t>40.6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0428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64 puntos, sin DIP
(peor g 36.2)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55448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EB6834"/>
                </a:solidFill>
                <a:latin typeface="Calibri"/>
              </a:rPr>
              <a:t>41.1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30428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64 puntos, fusión con DIP
(peor g 37.3; 8/9 g ≥ 38)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55448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BAF7A"/>
                </a:solidFill>
                <a:latin typeface="Calibri"/>
              </a:rPr>
              <a:t>84 / 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30428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puntos para ≥ 40 dB en los 9 g
con DIP / sin DIP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155448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A78D6"/>
                </a:solidFill>
                <a:latin typeface="Calibri"/>
              </a:rPr>
              <a:t>×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230428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menos puntos que DIP previo
(~328, y ese miraba el mapa)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3246120"/>
          <a:ext cx="57607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75120" y="3291840"/>
            <a:ext cx="4983480" cy="32004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474720"/>
            <a:ext cx="45262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Cómo leerlo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Con más ruido, DIP suma más (sobre todo en SSIM): es el argumento para mantenerlo.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Banda honesta sin DIP, moviendo la grilla: 38.9 ± 1.3 dB.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Lo que falta está en la franja de 0-12 px sobre el borde, y ahí TPS y DIP fallan igual: falta información, no un mejor reconstructor.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Con KMC real: el mismo muestreo, por tandas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autoexp/kmc_planner.py + kmc_auto.py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920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ourier New"/>
              </a:rPr>
              <a:t>next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qué puntos
correr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2057400"/>
            <a:ext cx="457200" cy="347472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64208"/>
            <a:ext cx="1920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ourier New"/>
              </a:rPr>
              <a:t>cluster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Serafín /
Mulatona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15000" y="2057400"/>
            <a:ext cx="457200" cy="347472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64208"/>
            <a:ext cx="1920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ourier New"/>
              </a:rPr>
              <a:t>kmc_results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leer SoC
+ réplicas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49640" y="2057400"/>
            <a:ext cx="457200" cy="347472"/>
          </a:xfrm>
          <a:prstGeom prst="rightArrow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2560" y="160020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664208"/>
            <a:ext cx="1920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ourier New"/>
              </a:rPr>
              <a:t>add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cargar al
estado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Se repite hasta 64 puntos; al final: reconstrucción TPS + DIP (Mendieta) y 10 puntos de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5852160" cy="2971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844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270"/>
                </a:solidFill>
                <a:latin typeface="Calibri"/>
              </a:rPr>
              <a:t>autoexp/kmc_planner.py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5486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class ReplayOracle:   # misma interfaz que Oracle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def query(self, points):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missing = [p for p in new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           if p not in self.known]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if missing: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    raise NeedPoints(missing)  # = la tanda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        ...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# next: se corre bisect() desde cero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# con lo ya conocido; donde frena, esa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328"/>
                </a:solidFill>
                <a:latin typeface="Courier New"/>
              </a:rPr>
              <a:t># es la tanda siguiente (es determinista)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20440"/>
            <a:ext cx="49834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800"/>
              </a:spcAft>
              <a:buChar char="•"/>
            </a:pPr>
            <a:r>
              <a:rPr sz="1350" b="1" i="0">
                <a:solidFill>
                  <a:srgbClr val="1F2328"/>
                </a:solidFill>
                <a:latin typeface="Calibri"/>
              </a:rPr>
              <a:t>rc = 0: </a:t>
            </a:r>
            <a:r>
              <a:rPr sz="1350" b="0" i="0">
                <a:solidFill>
                  <a:srgbClr val="1F2328"/>
                </a:solidFill>
                <a:latin typeface="Calibri"/>
              </a:rPr>
              <a:t>terminó (sin filas = SoC 0).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350" b="1" i="0">
                <a:solidFill>
                  <a:srgbClr val="1F2328"/>
                </a:solidFill>
                <a:latin typeface="Calibri"/>
              </a:rPr>
              <a:t>rc = 124: </a:t>
            </a:r>
            <a:r>
              <a:rPr sz="1350" b="0" i="0">
                <a:solidFill>
                  <a:srgbClr val="1F2328"/>
                </a:solidFill>
                <a:latin typeface="Calibri"/>
              </a:rPr>
              <a:t>cortado por tiempo → el SoC real es ≥ el último: cota.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350" b="1" i="0">
                <a:solidFill>
                  <a:srgbClr val="1F2328"/>
                </a:solidFill>
                <a:latin typeface="Calibri"/>
              </a:rPr>
              <a:t>Pseudo por monotonía: </a:t>
            </a:r>
            <a:r>
              <a:rPr sz="1350" b="0" i="0">
                <a:solidFill>
                  <a:srgbClr val="1F2328"/>
                </a:solidFill>
                <a:latin typeface="Calibri"/>
              </a:rPr>
              <a:t>un punto que no termina vale al menos lo medido a su derecha.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350" b="1" i="0">
                <a:solidFill>
                  <a:srgbClr val="1F2328"/>
                </a:solidFill>
                <a:latin typeface="Calibri"/>
              </a:rPr>
              <a:t>Carrera: </a:t>
            </a:r>
            <a:r>
              <a:rPr sz="1350" b="0" i="0">
                <a:solidFill>
                  <a:srgbClr val="1F2328"/>
                </a:solidFill>
                <a:latin typeface="Calibri"/>
              </a:rPr>
              <a:t>cada tanda va a Mulatona y a Serafín; gana la que termina (Mulatona desaloja jobs).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g = −4 con KMC real: terminado</a:t>
            </a:r>
          </a:p>
        </p:txBody>
      </p:sp>
      <p:pic>
        <p:nvPicPr>
          <p:cNvPr id="4" name="Picture 3" descr="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0361"/>
            <a:ext cx="5852160" cy="51716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32588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Calibri"/>
              </a:rPr>
              <a:t>64 /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7568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puntos en 9 tandas
(56 medidos + 8 pseudo)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32588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EB6834"/>
                </a:solidFill>
                <a:latin typeface="Calibri"/>
              </a:rPr>
              <a:t>σ ≈ 0.02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207568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ruido entre réplicas de KMC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01752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AF7A"/>
                </a:solidFill>
                <a:latin typeface="Calibri"/>
              </a:rPr>
              <a:t>0.027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RMS en 10 puntos de control
con TPS + DIP (máx 0.068)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301752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A78D6"/>
                </a:solidFill>
                <a:latin typeface="Calibri"/>
              </a:rPr>
              <a:t>0.043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Calibri"/>
              </a:rPr>
              <a:t>RMS con TPS sola;
el continuo como sustituto: 0.14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800600"/>
            <a:ext cx="4983480" cy="169164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4983480"/>
            <a:ext cx="4526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471C"/>
                </a:solidFill>
                <a:latin typeface="Calibri"/>
              </a:rPr>
              <a:t>Para consultar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Con log Ξ ≥ 1.4 y log ℓ ≤ −3.5 el KMC da SoC ≈ 0 en ~3 min (el continuo da ~1). Reproducible: 6 de 6 semillas.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1: grilla de 30. Sin pares 0 / alto cercanos todavía: TPS común, el frente sale ondulado.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2: primera bisección (círculos naranjas = puntos nuevos). Todavía no alcanza para ubicar el borde.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3: la bisección se acerca al salto desde los dos lados.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4: aparecen pares 0 / alto a ≤ 4 px → se detecta el borde (línea punteada) y debajo pasa a 0.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5: el borde se afina; la rampa sobre el borde ya tiene forma.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6: termina la bisección (54 puntos).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7: relleno, donde la validación cruzada dice que más se equivoca (arriba a la derecha).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8: más relleno en la zona que se desvanece.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Tanda 9: 64 puntos. Esto es la TPS con restricciones físicas.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Cómo se va armando el mapa, tanda a tanda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círculos naranjas = puntos nuevos · línea punteada = borde detectado</a:t>
            </a:r>
          </a:p>
        </p:txBody>
      </p:sp>
      <p:pic>
        <p:nvPicPr>
          <p:cNvPr id="5" name="Picture 4" descr="kmc_tandas_g-4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54" y="1554480"/>
            <a:ext cx="1039821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Final: se mezcla con DIP lejos del borde (fusión con guarda).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1. Los 64 valores de SoC del KMC: lo único que hay.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2. TPS sola (scipy, thin-plate spline): se pasa de 0 y de 1 y ondula en el frente. Sola no sirve.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3. Borde: aristas cortas de Delaunay entre un punto ≈ 0 y uno alto; sus puntos medios (★) → recta. El salto es real: a 1 px, el KMC da 0.77 y 0.00.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4. Debajo de la recta, 0. Arriba, TPS solo con los puntos de arriba, alineada al borde.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5. + cotas y proyección monótona (el SoC no sube con ℓ ni con Ξ) = TPS con restricciones físicas.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6. DIP: la red ve los puntos + ceros debajo del borde; 2 semillas, queda la que mejor ajusta los puntos.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7. Peso de la mezcla: 1 pegado al borde (TPS), 0 lejos (DIP).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4048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De los 64 puntos al mapa final: los 8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789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270"/>
                </a:solidFill>
                <a:latin typeface="Calibri"/>
              </a:rPr>
              <a:t>g = −4, KMC real · autoexp/kmc_dip.py</a:t>
            </a:r>
          </a:p>
        </p:txBody>
      </p:sp>
      <p:pic>
        <p:nvPicPr>
          <p:cNvPr id="5" name="Picture 4" descr="kmc_pasos_g-4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8. Final = monótona(w·TPS + (1−w)·DIP). Si DIP no reproduce los puntos, queda solo la TPS.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Calibri"/>
              </a:rPr>
              <a:t>Preguntas probables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632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¿Cómo sabés que no hiciste trampa?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Oráculo que cuenta y anota; evaluador independiente que lo verifica contra la verdad.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44568" y="1600200"/>
            <a:ext cx="30632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4471C"/>
                </a:solidFill>
                <a:latin typeface="Calibri"/>
              </a:rPr>
              <a:t>¿Vale para KMC si se afinó con el continuo?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Parcialmente: por eso la prueba fuera de muestra, los deformados, el ruido y los 10 puntos de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1896" y="1600200"/>
            <a:ext cx="30632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37A55"/>
                </a:solidFill>
                <a:latin typeface="Calibri"/>
              </a:rPr>
              <a:t>¿Por qué no calibrar g y listo?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Branch physics-calibration: 34 dB limpio, pero supone KMC = continuo con otro g, y el borde parece corrido.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0632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¿Para qué DIP si la TPS llega?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Sin ruido +0.5-1 dB; con ruido suma más, y con 84 puntos es lo que hace pasar los 9 g sobre 40.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4160520"/>
            <a:ext cx="30632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4471C"/>
                </a:solidFill>
                <a:latin typeface="Calibri"/>
              </a:rPr>
              <a:t>¿Por qué no aleatorio o Halton?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Probado: Halton 23.1, peor que la grilla. El muestreo activo gana porque la información no está repartida pareja.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4160520"/>
            <a:ext cx="30632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37A55"/>
                </a:solidFill>
                <a:latin typeface="Calibri"/>
              </a:rPr>
              <a:t>¿Qué limita hoy?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La franja de 0-12 px sobre el borde: falta información, no un mejor reconstructor.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9D1E0"/>
                </a:solidFill>
                <a:latin typeface="Calibri"/>
              </a:rPr>
              <a:t>En una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Medir donde está la información (el borde), reconstruir con lo que dice la física (cero abajo, monotonía) y dejar que DIP alise el resto.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8A94A8"/>
                </a:solidFill>
                <a:latin typeface="Calibri"/>
              </a:rPr>
              <a:t>dónde medir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grilla → bisección → relleno LOO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4805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8A94A8"/>
                </a:solidFill>
                <a:latin typeface="Calibri"/>
              </a:rPr>
              <a:t>cómo reconstruir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FB2F0"/>
                </a:solidFill>
                <a:latin typeface="Calibri"/>
              </a:rPr>
              <a:t>borde RANSAC + TPS + monotonía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4805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8A94A8"/>
                </a:solidFill>
                <a:latin typeface="Calibri"/>
              </a:rPr>
              <a:t>dónde suma la red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5FD3A6"/>
                </a:solidFill>
                <a:latin typeface="Calibri"/>
              </a:rPr>
              <a:t>fusión con DIP + guarda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