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Orden: primero cómo funciona el KMC (sin eso los errores no se entienden), después el error 1 y el 3, que son los que cambian resultados, y al final el 2, que es numérico.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Cadena de un evento: entra un ion → cambia la superficie (un hueco menos, sus vecinos tienen un vecino más) → el código recalcula el μ que hace falta para mantener la corriente fija → como μ es uno solo, cambia la tasa de entrar y salir de TODOS los sitios de la superficie. El error 1 fue que ese último paso solo se hacía en el sitio tocado y sus vecinos. En el código: ads = K·exp((μ − E_ads)/2kT), des = K·exp(−(E_des + μ)/2kT); mui en meV, E[V] = −mui/1000.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KMC no integra ecuaciones: sortea eventos. Si una tasa está mal o vieja, ese evento ocurre con la frecuencia equivocada. Los dos errores importantes son justamente tasas mal calculadas: el 1 en adsorción/desorción, el 3 en los saltos.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Galvanostático = se impone la corriente. El código busca en cada paso (método de Brent, función potencial) el μ con el que la corriente esperada iguala la impuesta. Ese μ entra en las tasas de adsorción y desorción de todos los sitios de la superficie.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el código: potencial() recalcula mui, pero VelocidadesAds solo actualiza el sitio y sus vecinos. Las tasas de toda la superficie se calculaban una sola vez, al principio (Velocidades()). La versión vieja sin optimizar tiene la misma lógica.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versión vieja sin optimizar tiene la misma lógica (tasas viejas), pero calcula las tasas iniciales con μ = 0, es decir E = 0 V, donde sí se adsorbe; por eso ahí "andaba". La optimizada las calcula con el μ resuelto con la superficie vacía, E ≈ +0.35 V. El problema de fondo es el mismo: el resultado dependía de un μ inicial arbitrario. No son NaN: el SoC ya era ≈ 0 antes de cualquier NaN.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el código: KADS_FACTOR = k0/ds con k0 proporcional a Ξ·sqrt(ℓ); KDIF_FACTOR = D/a² ≈ 3.5e4 s⁻¹. En log Ξ = 2, log ℓ = −1.33, KADS ≈ 3.8e4 s⁻¹. La explicación de por qué con Ξ bajo casi no importa es mi lectura; lo medido es lo de la última línea.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punto normal no cambia: el arreglo no rompe lo que estaba bien. El costo: el punto anómalo pasó de 338 s a 7062 s, y el normal de 1660 s a 3034 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crudo ya corre con los dos arreglos (1 y 3). En esta franja de ℓ bajo el error 3 casi no cambia nada; donde sí cambia es en ℓ alto, que todavía no terminó.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 es el parámetro de interacción de Frumkin del modelo continuo; en la red sale de la energía entre primeros vecinos. Con 6 vecinos, 6·J1 = g·kT. La energía de interacción es entre PARES de iones distintos: un ion no interactúa consigo mismo. Eso es lo que rompe el error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tiene dos vecinos ocupados (arriba y abajo). B tiene uno propio (arriba) más A. Para la energía en B después del salto, A ya no está ahí: el ion se mudó a B. El código contaba a A igual, porque en ese momento Ocup[A] seguía en 1. En el código el arreglo es una línea: dE = (CalcularEf(i, jv) − J1) − Esitio.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g = 0 no hay interacción (J1 = 0), así que el error 3 no existe: el mapa de g = 0 solo tenía el error 1. Cuanto más negativo es g, más pesa: en g = −8 los saltos iban casi al doble de velocidad.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ion no interactúa consigo mismo: la energía de interacción es entre pares de iones distintos. Lo que dice esta filmina sobre el equilibrio y la velocidad sale de que el error es el mismo factor en todos los saltos. Que Ξ y ℓ dependen de D es la definición del modelo continuo (galpynostatic); conviene confirmarlo con los profes antes de sacar números de cuánto se corre cada punto.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Verde = los dos arreglos; naranja = solo el 1; azul = crudo viejo; línea negra = continuo. 24 puntos locales, 1 réplica. Es lo que esperaríamos: en g = −4 el código hacía difundir más rápido, y al sacar eso, la carga en esa zona llega menos lejos.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el código (kmc_ckpt_refresco_ef.cpp:263-270): Crate = D·ℓ·3600/L², dt = capacidad/corriente = 3600/Crate segundos, pasobin = dt/200. Lo normal es que el corte llegue antes del tiempo nominal: la superficie se satura antes de que los iones lleguen al fondo y el SoC queda por debajo de 1. Las 7 corridas raras están todas arriba del mapa (log Ξ alto) con log ℓ = −2. Pregunta de fondo para los profes: ¿puede pasar en el modelo, o hay algo más que está mal?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el código, líneas 337–348: MUs[Time_i] y tita[Time_i] con Time_i ≥ 200. NaN &lt; muoff da falso, así que el while (mui &lt; muoff) sale y el código de salida es 0. La pregunta física: ¿la descarga debe terminar por el potencial de corte (como el continuo) o por el tiempo nominal?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13 g usan el mismo procedimiento que antes (grilla, bisección del acantilado y relleno), así que se puede comparar g por g contra los mapas viejos. El binario corregido tiene los arreglos 1 y 3; el 2 sigue pendiente.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0080"/>
            <a:ext cx="105664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000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0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843980"/>
            <a:ext cx="10566400" cy="4201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0080"/>
            <a:ext cx="105664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000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0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843980"/>
            <a:ext cx="10566400" cy="4201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1853803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150" kern="0" dirty="0">
                <a:solidFill>
                  <a:srgbClr val="F0A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KMC GALVANOSTÁTICO · REUNIÓN 19/10</a:t>
            </a:r>
            <a:endParaRPr lang="en-US" sz="14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2407444"/>
            <a:ext cx="10883392" cy="1342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184"/>
              </a:lnSpc>
              <a:buNone/>
            </a:pPr>
            <a:r>
              <a:rPr lang="en-US" sz="4800" b="1" i="0" dirty="0">
                <a:solidFill>
                  <a:srgbClr val="F6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errores en el KMC:</a:t>
            </a:r>
            <a:endParaRPr lang="en-US" sz="4800" dirty="0"/>
          </a:p>
          <a:p>
            <a:pPr algn="l" indent="0" marL="0">
              <a:lnSpc>
                <a:spcPts val="5184"/>
              </a:lnSpc>
              <a:buNone/>
            </a:pPr>
            <a:r>
              <a:rPr lang="en-US" sz="4800" b="1" i="0" dirty="0">
                <a:solidFill>
                  <a:srgbClr val="F6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eran y cómo se corrigieron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812800" y="4041577"/>
            <a:ext cx="3386634" cy="0"/>
          </a:xfrm>
          <a:prstGeom prst="line">
            <a:avLst/>
          </a:prstGeom>
          <a:noFill/>
          <a:ln w="25400">
            <a:solidFill>
              <a:srgbClr val="F0A3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4206677"/>
            <a:ext cx="3488233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6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Tasas viejas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12800" y="4541937"/>
            <a:ext cx="3488233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BFC9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potencial nuevo no le llegaba a toda la superficie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02634" y="4041577"/>
            <a:ext cx="3386733" cy="0"/>
          </a:xfrm>
          <a:prstGeom prst="line">
            <a:avLst/>
          </a:prstGeom>
          <a:noFill/>
          <a:ln w="25400">
            <a:solidFill>
              <a:srgbClr val="F0A3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02634" y="4206677"/>
            <a:ext cx="3488335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6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Ion que se cuenta solo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402634" y="4541937"/>
            <a:ext cx="3488335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BFC9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saltar, el ion se contaba como su propio vecino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992566" y="4041577"/>
            <a:ext cx="3386634" cy="0"/>
          </a:xfrm>
          <a:prstGeom prst="line">
            <a:avLst/>
          </a:prstGeom>
          <a:noFill/>
          <a:ln w="25400">
            <a:solidFill>
              <a:srgbClr val="5B6B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92566" y="4206677"/>
            <a:ext cx="3488233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6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Fuera del arreglo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992566" y="4541937"/>
            <a:ext cx="3488233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BFC9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acá salían los NaN (arreglo pendiente)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00" kern="0" dirty="0">
                <a:solidFill>
                  <a:srgbClr val="D96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EMPEZAR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008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Ion, electrodo, potencial: lo mínimo para seguir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9150" y="1850330"/>
            <a:ext cx="3369667" cy="2448123"/>
          </a:xfrm>
          <a:prstGeom prst="roundRect">
            <a:avLst>
              <a:gd name="adj" fmla="val 3372"/>
            </a:avLst>
          </a:prstGeom>
          <a:solidFill>
            <a:srgbClr val="FFFFFF"/>
          </a:solidFill>
          <a:ln w="12700">
            <a:solidFill>
              <a:srgbClr val="D5D9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8700" y="2059880"/>
            <a:ext cx="3039084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Ion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28700" y="2395141"/>
            <a:ext cx="3039084" cy="718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átomo con carga. </a:t>
            </a:r>
            <a:r>
              <a:rPr lang="en-US" sz="1300" b="1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Li⁺</a:t>
            </a: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litio que perdió un electrón. Flota en el electrolito, el líquido de la batería.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28700" y="3164582"/>
            <a:ext cx="3039084" cy="9497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Cargar el electrodo = meter Li⁺ en sus huecos. Cada ion que entra es una carga que pasó por el cable: </a:t>
            </a:r>
            <a:r>
              <a:rPr lang="en-US" sz="1300" b="1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corriente = iones por segundo</a:t>
            </a: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4717" y="1850330"/>
            <a:ext cx="3369766" cy="2448123"/>
          </a:xfrm>
          <a:prstGeom prst="roundRect">
            <a:avLst>
              <a:gd name="adj" fmla="val 3372"/>
            </a:avLst>
          </a:prstGeom>
          <a:solidFill>
            <a:srgbClr val="FFFFFF"/>
          </a:solidFill>
          <a:ln w="12700">
            <a:solidFill>
              <a:srgbClr val="D5D9D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4267" y="2059880"/>
            <a:ext cx="3039186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Potencial μ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614267" y="2395141"/>
            <a:ext cx="3039186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Cuánto "empuja" el electrodo a que los iones entren.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14267" y="2933502"/>
            <a:ext cx="3039186" cy="9497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electrodo es un conductor: tiene </a:t>
            </a:r>
            <a:r>
              <a:rPr lang="en-US" sz="1300" b="1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solo potencial para todo el material</a:t>
            </a: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No hay un μ por sitio; lo que cambia de sitio a sitio son los vecinos.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993559" y="1853505"/>
            <a:ext cx="3376116" cy="2441773"/>
          </a:xfrm>
          <a:prstGeom prst="roundRect">
            <a:avLst>
              <a:gd name="adj" fmla="val 3251"/>
            </a:avLst>
          </a:prstGeom>
          <a:solidFill>
            <a:srgbClr val="FFF4EA"/>
          </a:solidFill>
          <a:ln w="19050">
            <a:solidFill>
              <a:srgbClr val="D9661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06284" y="2066230"/>
            <a:ext cx="3039186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Galvanostático = velocidad crucero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206284" y="2660551"/>
            <a:ext cx="3039186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corriente está fija (la velocidad). μ es el </a:t>
            </a:r>
            <a:r>
              <a:rPr lang="en-US" sz="1300" b="1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acelerador</a:t>
            </a: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se ajusta solo.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06284" y="3198912"/>
            <a:ext cx="3039186" cy="718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Cuanto más llena la superficie, más hay que apretar. Cuando llega al corte, termina: eso es el </a:t>
            </a:r>
            <a:r>
              <a:rPr lang="en-US" sz="1300" b="1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 máx</a:t>
            </a: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del mapa.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12800" y="4533404"/>
            <a:ext cx="10566400" cy="802481"/>
          </a:xfrm>
          <a:prstGeom prst="roundRect">
            <a:avLst>
              <a:gd name="adj" fmla="val 9496"/>
            </a:avLst>
          </a:prstGeom>
          <a:solidFill>
            <a:srgbClr val="EAE8E0"/>
          </a:solidFill>
          <a:ln/>
        </p:spPr>
        <p:txBody>
          <a:bodyPr wrap="square" lIns="180882" tIns="130082" rIns="0" bIns="104682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signo:</a:t>
            </a:r>
            <a:r>
              <a:rPr lang="en-US" sz="1400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en el código, μ más alto → entran más iones. El voltaje que se imprime es </a:t>
            </a:r>
            <a:r>
              <a:rPr lang="en-US" sz="1400" b="1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= −μ</a:t>
            </a:r>
            <a:r>
              <a:rPr lang="en-US" sz="1400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así que E más bajo → entran más. Durante una carga, E baja hasta el corte (−0.149 V).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00" kern="0" dirty="0">
                <a:solidFill>
                  <a:srgbClr val="D96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PRIMERO: EL MODELO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008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simula el KMC: iones que entran, salen y saltan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2032000"/>
            <a:ext cx="4826000" cy="609600"/>
          </a:xfrm>
          <a:prstGeom prst="roundRect">
            <a:avLst>
              <a:gd name="adj" fmla="val 12500"/>
            </a:avLst>
          </a:prstGeom>
          <a:solidFill>
            <a:srgbClr val="DCE6F2"/>
          </a:solidFill>
          <a:ln/>
        </p:spPr>
      </p:sp>
      <p:sp>
        <p:nvSpPr>
          <p:cNvPr id="5" name="Text 3"/>
          <p:cNvSpPr/>
          <p:nvPr/>
        </p:nvSpPr>
        <p:spPr>
          <a:xfrm>
            <a:off x="952500" y="2197100"/>
            <a:ext cx="15748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4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electrolito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76325" y="2803525"/>
            <a:ext cx="387350" cy="3873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8A96A8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1828800" y="2794000"/>
            <a:ext cx="406400" cy="406400"/>
          </a:xfrm>
          <a:prstGeom prst="roundRect">
            <a:avLst>
              <a:gd name="adj" fmla="val 50000"/>
            </a:avLst>
          </a:prstGeom>
          <a:solidFill>
            <a:srgbClr val="15233B"/>
          </a:solidFill>
          <a:ln/>
        </p:spPr>
      </p:sp>
      <p:sp>
        <p:nvSpPr>
          <p:cNvPr id="8" name="Shape 6"/>
          <p:cNvSpPr/>
          <p:nvPr/>
        </p:nvSpPr>
        <p:spPr>
          <a:xfrm>
            <a:off x="2600325" y="2803525"/>
            <a:ext cx="387350" cy="3873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8A96A8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3362325" y="2803525"/>
            <a:ext cx="387350" cy="3873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8A96A8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4114800" y="2794000"/>
            <a:ext cx="406400" cy="406400"/>
          </a:xfrm>
          <a:prstGeom prst="roundRect">
            <a:avLst>
              <a:gd name="adj" fmla="val 50000"/>
            </a:avLst>
          </a:prstGeom>
          <a:solidFill>
            <a:srgbClr val="15233B"/>
          </a:solidFill>
          <a:ln/>
        </p:spPr>
      </p:sp>
      <p:sp>
        <p:nvSpPr>
          <p:cNvPr id="11" name="Shape 9"/>
          <p:cNvSpPr/>
          <p:nvPr/>
        </p:nvSpPr>
        <p:spPr>
          <a:xfrm>
            <a:off x="4886325" y="2803525"/>
            <a:ext cx="387350" cy="3873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8A96A8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1066800" y="3505200"/>
            <a:ext cx="406400" cy="406400"/>
          </a:xfrm>
          <a:prstGeom prst="roundRect">
            <a:avLst>
              <a:gd name="adj" fmla="val 50000"/>
            </a:avLst>
          </a:prstGeom>
          <a:solidFill>
            <a:srgbClr val="15233B"/>
          </a:solidFill>
          <a:ln/>
        </p:spPr>
      </p:sp>
      <p:sp>
        <p:nvSpPr>
          <p:cNvPr id="13" name="Shape 11"/>
          <p:cNvSpPr/>
          <p:nvPr/>
        </p:nvSpPr>
        <p:spPr>
          <a:xfrm>
            <a:off x="1838325" y="3514725"/>
            <a:ext cx="387350" cy="3873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8A96A8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2590800" y="3505200"/>
            <a:ext cx="406400" cy="406400"/>
          </a:xfrm>
          <a:prstGeom prst="roundRect">
            <a:avLst>
              <a:gd name="adj" fmla="val 50000"/>
            </a:avLst>
          </a:prstGeom>
          <a:solidFill>
            <a:srgbClr val="15233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62325" y="3514725"/>
            <a:ext cx="387350" cy="3873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8A96A8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4124325" y="3514725"/>
            <a:ext cx="387350" cy="3873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8A96A8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876800" y="3505200"/>
            <a:ext cx="406400" cy="406400"/>
          </a:xfrm>
          <a:prstGeom prst="roundRect">
            <a:avLst>
              <a:gd name="adj" fmla="val 50000"/>
            </a:avLst>
          </a:prstGeom>
          <a:solidFill>
            <a:srgbClr val="15233B"/>
          </a:solidFill>
          <a:ln/>
        </p:spPr>
      </p:sp>
      <p:sp>
        <p:nvSpPr>
          <p:cNvPr id="18" name="Shape 16"/>
          <p:cNvSpPr/>
          <p:nvPr/>
        </p:nvSpPr>
        <p:spPr>
          <a:xfrm>
            <a:off x="1076325" y="4225925"/>
            <a:ext cx="387350" cy="3873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8A96A8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1828800" y="4216400"/>
            <a:ext cx="406400" cy="406400"/>
          </a:xfrm>
          <a:prstGeom prst="roundRect">
            <a:avLst>
              <a:gd name="adj" fmla="val 50000"/>
            </a:avLst>
          </a:prstGeom>
          <a:solidFill>
            <a:srgbClr val="15233B"/>
          </a:solidFill>
          <a:ln/>
        </p:spPr>
      </p:sp>
      <p:sp>
        <p:nvSpPr>
          <p:cNvPr id="20" name="Shape 18"/>
          <p:cNvSpPr/>
          <p:nvPr/>
        </p:nvSpPr>
        <p:spPr>
          <a:xfrm>
            <a:off x="2600325" y="4225925"/>
            <a:ext cx="387350" cy="3873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8A96A8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352800" y="4216400"/>
            <a:ext cx="406400" cy="406400"/>
          </a:xfrm>
          <a:prstGeom prst="roundRect">
            <a:avLst>
              <a:gd name="adj" fmla="val 50000"/>
            </a:avLst>
          </a:prstGeom>
          <a:solidFill>
            <a:srgbClr val="15233B"/>
          </a:solidFill>
          <a:ln/>
        </p:spPr>
      </p:sp>
      <p:sp>
        <p:nvSpPr>
          <p:cNvPr id="22" name="Shape 20"/>
          <p:cNvSpPr/>
          <p:nvPr/>
        </p:nvSpPr>
        <p:spPr>
          <a:xfrm>
            <a:off x="4114800" y="4216400"/>
            <a:ext cx="406400" cy="406400"/>
          </a:xfrm>
          <a:prstGeom prst="roundRect">
            <a:avLst>
              <a:gd name="adj" fmla="val 50000"/>
            </a:avLst>
          </a:prstGeom>
          <a:solidFill>
            <a:srgbClr val="15233B"/>
          </a:solidFill>
          <a:ln/>
        </p:spPr>
      </p:sp>
      <p:sp>
        <p:nvSpPr>
          <p:cNvPr id="23" name="Shape 21"/>
          <p:cNvSpPr/>
          <p:nvPr/>
        </p:nvSpPr>
        <p:spPr>
          <a:xfrm>
            <a:off x="4886325" y="4225925"/>
            <a:ext cx="387350" cy="3873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8A96A8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066800" y="4927600"/>
            <a:ext cx="406400" cy="406400"/>
          </a:xfrm>
          <a:prstGeom prst="roundRect">
            <a:avLst>
              <a:gd name="adj" fmla="val 50000"/>
            </a:avLst>
          </a:prstGeom>
          <a:solidFill>
            <a:srgbClr val="15233B"/>
          </a:solidFill>
          <a:ln/>
        </p:spPr>
      </p:sp>
      <p:sp>
        <p:nvSpPr>
          <p:cNvPr id="25" name="Shape 23"/>
          <p:cNvSpPr/>
          <p:nvPr/>
        </p:nvSpPr>
        <p:spPr>
          <a:xfrm>
            <a:off x="1828800" y="4927600"/>
            <a:ext cx="406400" cy="406400"/>
          </a:xfrm>
          <a:prstGeom prst="roundRect">
            <a:avLst>
              <a:gd name="adj" fmla="val 50000"/>
            </a:avLst>
          </a:prstGeom>
          <a:solidFill>
            <a:srgbClr val="15233B"/>
          </a:solidFill>
          <a:ln/>
        </p:spPr>
      </p:sp>
      <p:sp>
        <p:nvSpPr>
          <p:cNvPr id="26" name="Shape 24"/>
          <p:cNvSpPr/>
          <p:nvPr/>
        </p:nvSpPr>
        <p:spPr>
          <a:xfrm>
            <a:off x="2590800" y="4927600"/>
            <a:ext cx="406400" cy="406400"/>
          </a:xfrm>
          <a:prstGeom prst="roundRect">
            <a:avLst>
              <a:gd name="adj" fmla="val 50000"/>
            </a:avLst>
          </a:prstGeom>
          <a:solidFill>
            <a:srgbClr val="15233B"/>
          </a:solidFill>
          <a:ln/>
        </p:spPr>
      </p:sp>
      <p:sp>
        <p:nvSpPr>
          <p:cNvPr id="27" name="Shape 25"/>
          <p:cNvSpPr/>
          <p:nvPr/>
        </p:nvSpPr>
        <p:spPr>
          <a:xfrm>
            <a:off x="3352800" y="4927600"/>
            <a:ext cx="406400" cy="406400"/>
          </a:xfrm>
          <a:prstGeom prst="roundRect">
            <a:avLst>
              <a:gd name="adj" fmla="val 50000"/>
            </a:avLst>
          </a:prstGeom>
          <a:solidFill>
            <a:srgbClr val="15233B"/>
          </a:solidFill>
          <a:ln/>
        </p:spPr>
      </p:sp>
      <p:sp>
        <p:nvSpPr>
          <p:cNvPr id="28" name="Shape 26"/>
          <p:cNvSpPr/>
          <p:nvPr/>
        </p:nvSpPr>
        <p:spPr>
          <a:xfrm>
            <a:off x="4124325" y="4937125"/>
            <a:ext cx="387350" cy="3873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8A96A8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4876800" y="4927600"/>
            <a:ext cx="406400" cy="406400"/>
          </a:xfrm>
          <a:prstGeom prst="roundRect">
            <a:avLst>
              <a:gd name="adj" fmla="val 50000"/>
            </a:avLst>
          </a:prstGeom>
          <a:solidFill>
            <a:srgbClr val="15233B"/>
          </a:solidFill>
          <a:ln/>
        </p:spPr>
      </p:sp>
      <p:pic>
        <p:nvPicPr>
          <p:cNvPr id="30" name="Image 0" descr="connecto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30500" y="2159000"/>
            <a:ext cx="127000" cy="660400"/>
          </a:xfrm>
          <a:prstGeom prst="rect">
            <a:avLst/>
          </a:prstGeom>
        </p:spPr>
      </p:pic>
      <p:pic>
        <p:nvPicPr>
          <p:cNvPr id="31" name="Image 1" descr="connecto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4500" y="2171700"/>
            <a:ext cx="127000" cy="660400"/>
          </a:xfrm>
          <a:prstGeom prst="rect">
            <a:avLst/>
          </a:prstGeom>
        </p:spPr>
      </p:pic>
      <p:pic>
        <p:nvPicPr>
          <p:cNvPr id="32" name="Image 2" descr="connect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959100" y="3644900"/>
            <a:ext cx="431800" cy="127000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2870200" y="22606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9661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10"/>
              </a:lnSpc>
              <a:buNone/>
            </a:pPr>
            <a:r>
              <a:rPr lang="en-US" sz="1300" b="1" dirty="0">
                <a:solidFill>
                  <a:srgbClr val="F6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4" name="Text 29"/>
          <p:cNvSpPr/>
          <p:nvPr/>
        </p:nvSpPr>
        <p:spPr>
          <a:xfrm>
            <a:off x="4406900" y="22606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9661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10"/>
              </a:lnSpc>
              <a:buNone/>
            </a:pPr>
            <a:r>
              <a:rPr lang="en-US" sz="1300" b="1" dirty="0">
                <a:solidFill>
                  <a:srgbClr val="F6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3035300" y="3924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9661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10"/>
              </a:lnSpc>
              <a:buNone/>
            </a:pPr>
            <a:r>
              <a:rPr lang="en-US" sz="1300" b="1" dirty="0">
                <a:solidFill>
                  <a:srgbClr val="F6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6" name="Text 31"/>
          <p:cNvSpPr/>
          <p:nvPr/>
        </p:nvSpPr>
        <p:spPr>
          <a:xfrm>
            <a:off x="812800" y="5537200"/>
            <a:ext cx="497078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 del electrodo. Fila de arriba = superficie (en la simulación, 1600 sitios). ● ion · ◌ sitio vacío</a:t>
            </a:r>
            <a:endParaRPr lang="en-US" sz="1200" dirty="0"/>
          </a:p>
        </p:txBody>
      </p:sp>
      <p:sp>
        <p:nvSpPr>
          <p:cNvPr id="37" name="Text 32"/>
          <p:cNvSpPr/>
          <p:nvPr/>
        </p:nvSpPr>
        <p:spPr>
          <a:xfrm>
            <a:off x="6096000" y="20320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9661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10"/>
              </a:lnSpc>
              <a:buNone/>
            </a:pPr>
            <a:r>
              <a:rPr lang="en-US" sz="1300" b="1" dirty="0">
                <a:solidFill>
                  <a:srgbClr val="F6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8" name="Text 33"/>
          <p:cNvSpPr/>
          <p:nvPr/>
        </p:nvSpPr>
        <p:spPr>
          <a:xfrm>
            <a:off x="6502400" y="2032000"/>
            <a:ext cx="502310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Adsorción</a:t>
            </a:r>
            <a:endParaRPr lang="en-US" sz="1600" dirty="0"/>
          </a:p>
        </p:txBody>
      </p:sp>
      <p:sp>
        <p:nvSpPr>
          <p:cNvPr id="39" name="Text 34"/>
          <p:cNvSpPr/>
          <p:nvPr/>
        </p:nvSpPr>
        <p:spPr>
          <a:xfrm>
            <a:off x="6502400" y="2301180"/>
            <a:ext cx="502310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Li⁺ del electrolito entra a un sitio vacío de la superficie</a:t>
            </a:r>
            <a:endParaRPr lang="en-US" sz="1300" dirty="0"/>
          </a:p>
        </p:txBody>
      </p:sp>
      <p:sp>
        <p:nvSpPr>
          <p:cNvPr id="40" name="Text 35"/>
          <p:cNvSpPr/>
          <p:nvPr/>
        </p:nvSpPr>
        <p:spPr>
          <a:xfrm>
            <a:off x="6096000" y="2710061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9661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10"/>
              </a:lnSpc>
              <a:buNone/>
            </a:pPr>
            <a:r>
              <a:rPr lang="en-US" sz="1300" b="1" dirty="0">
                <a:solidFill>
                  <a:srgbClr val="F6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41" name="Text 36"/>
          <p:cNvSpPr/>
          <p:nvPr/>
        </p:nvSpPr>
        <p:spPr>
          <a:xfrm>
            <a:off x="6502400" y="2710061"/>
            <a:ext cx="502310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Desorción</a:t>
            </a:r>
            <a:endParaRPr lang="en-US" sz="1600" dirty="0"/>
          </a:p>
        </p:txBody>
      </p:sp>
      <p:sp>
        <p:nvSpPr>
          <p:cNvPr id="42" name="Text 37"/>
          <p:cNvSpPr/>
          <p:nvPr/>
        </p:nvSpPr>
        <p:spPr>
          <a:xfrm>
            <a:off x="6502400" y="2979241"/>
            <a:ext cx="502310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ion de la superficie vuelve al electrolito</a:t>
            </a:r>
            <a:endParaRPr lang="en-US" sz="1300" dirty="0"/>
          </a:p>
        </p:txBody>
      </p:sp>
      <p:sp>
        <p:nvSpPr>
          <p:cNvPr id="43" name="Text 38"/>
          <p:cNvSpPr/>
          <p:nvPr/>
        </p:nvSpPr>
        <p:spPr>
          <a:xfrm>
            <a:off x="6096000" y="3388122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9661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10"/>
              </a:lnSpc>
              <a:buNone/>
            </a:pPr>
            <a:r>
              <a:rPr lang="en-US" sz="1300" b="1" dirty="0">
                <a:solidFill>
                  <a:srgbClr val="F6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44" name="Text 39"/>
          <p:cNvSpPr/>
          <p:nvPr/>
        </p:nvSpPr>
        <p:spPr>
          <a:xfrm>
            <a:off x="6502400" y="3388122"/>
            <a:ext cx="502310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Salto (difusión)</a:t>
            </a:r>
            <a:endParaRPr lang="en-US" sz="1600" dirty="0"/>
          </a:p>
        </p:txBody>
      </p:sp>
      <p:sp>
        <p:nvSpPr>
          <p:cNvPr id="45" name="Text 40"/>
          <p:cNvSpPr/>
          <p:nvPr/>
        </p:nvSpPr>
        <p:spPr>
          <a:xfrm>
            <a:off x="6502400" y="3657302"/>
            <a:ext cx="502310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ion pasa a un sitio vecino vacío; así avanza hacia adentro</a:t>
            </a:r>
            <a:endParaRPr lang="en-US" sz="1300" dirty="0"/>
          </a:p>
        </p:txBody>
      </p:sp>
      <p:sp>
        <p:nvSpPr>
          <p:cNvPr id="46" name="Text 41"/>
          <p:cNvSpPr/>
          <p:nvPr/>
        </p:nvSpPr>
        <p:spPr>
          <a:xfrm>
            <a:off x="6096000" y="4066183"/>
            <a:ext cx="5283200" cy="1051322"/>
          </a:xfrm>
          <a:prstGeom prst="roundRect">
            <a:avLst>
              <a:gd name="adj" fmla="val 7248"/>
            </a:avLst>
          </a:prstGeom>
          <a:solidFill>
            <a:srgbClr val="EAE8E0"/>
          </a:solidFill>
          <a:ln/>
        </p:spPr>
        <p:txBody>
          <a:bodyPr wrap="square" lIns="155482" tIns="130082" rIns="7654" bIns="104682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evento tiene una </a:t>
            </a:r>
            <a:r>
              <a:rPr lang="en-US" sz="1400" b="1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tasa</a:t>
            </a:r>
            <a:r>
              <a:rPr lang="en-US" sz="1400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En cada paso se sortea cuál ocurre, con probabilidad proporcional a su tasa. Por eso la tabla de tasas tiene que estar </a:t>
            </a:r>
            <a:r>
              <a:rPr lang="en-US" sz="1400" b="1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día</a:t>
            </a:r>
            <a:r>
              <a:rPr lang="en-US" sz="1400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00" kern="0" dirty="0">
                <a:solidFill>
                  <a:srgbClr val="D96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PRIMERO: EL MODELO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0080"/>
            <a:ext cx="10883392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Galvanostático: la corriente está fija y el potencial se acomoda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9150" y="2415480"/>
            <a:ext cx="2282825" cy="797520"/>
          </a:xfrm>
          <a:prstGeom prst="roundRect">
            <a:avLst>
              <a:gd name="adj" fmla="val 10351"/>
            </a:avLst>
          </a:prstGeom>
          <a:solidFill>
            <a:srgbClr val="FFFFFF"/>
          </a:solidFill>
          <a:ln w="12700">
            <a:solidFill>
              <a:srgbClr val="D5D9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77900" y="2574230"/>
            <a:ext cx="202428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Ocurre un evento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77900" y="2840930"/>
            <a:ext cx="202428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sortea según las tasas</a:t>
            </a:r>
            <a:endParaRPr lang="en-US" sz="1200" dirty="0"/>
          </a:p>
        </p:txBody>
      </p:sp>
      <p:pic>
        <p:nvPicPr>
          <p:cNvPr id="7" name="Image 0" descr="connecto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184525" y="2763441"/>
            <a:ext cx="304800" cy="101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571875" y="2308820"/>
            <a:ext cx="2282825" cy="1010841"/>
          </a:xfrm>
          <a:prstGeom prst="roundRect">
            <a:avLst>
              <a:gd name="adj" fmla="val 8166"/>
            </a:avLst>
          </a:prstGeom>
          <a:solidFill>
            <a:srgbClr val="FFFFFF"/>
          </a:solidFill>
          <a:ln w="12700">
            <a:solidFill>
              <a:srgbClr val="D5D9D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730625" y="2467570"/>
            <a:ext cx="202428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Cambia la superficie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730625" y="2734270"/>
            <a:ext cx="2024285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entra, sale o se mueve un ion</a:t>
            </a:r>
            <a:endParaRPr lang="en-US" sz="1200" dirty="0"/>
          </a:p>
        </p:txBody>
      </p:sp>
      <p:pic>
        <p:nvPicPr>
          <p:cNvPr id="11" name="Image 1" descr="connecto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937250" y="2763441"/>
            <a:ext cx="304800" cy="1016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24600" y="2308820"/>
            <a:ext cx="2282825" cy="1010841"/>
          </a:xfrm>
          <a:prstGeom prst="roundRect">
            <a:avLst>
              <a:gd name="adj" fmla="val 8166"/>
            </a:avLst>
          </a:prstGeom>
          <a:solidFill>
            <a:srgbClr val="FFFFFF"/>
          </a:solidFill>
          <a:ln w="12700">
            <a:solidFill>
              <a:srgbClr val="D5D9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483350" y="2467570"/>
            <a:ext cx="202428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recalcula μ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483350" y="2734270"/>
            <a:ext cx="2024285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μ que hace adsorción − desorción = I impuesta</a:t>
            </a:r>
            <a:endParaRPr lang="en-US" sz="1200" dirty="0"/>
          </a:p>
        </p:txBody>
      </p:sp>
      <p:pic>
        <p:nvPicPr>
          <p:cNvPr id="15" name="Image 2" descr="connect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689975" y="2763441"/>
            <a:ext cx="304800" cy="1016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9080500" y="2298005"/>
            <a:ext cx="2289175" cy="1032470"/>
          </a:xfrm>
          <a:prstGeom prst="roundRect">
            <a:avLst>
              <a:gd name="adj" fmla="val 7688"/>
            </a:avLst>
          </a:prstGeom>
          <a:solidFill>
            <a:srgbClr val="FFF4EA"/>
          </a:solidFill>
          <a:ln w="19050">
            <a:solidFill>
              <a:srgbClr val="D9661F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9242425" y="2459930"/>
            <a:ext cx="2024285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actualizan las tasas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9242425" y="2955230"/>
            <a:ext cx="202428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A8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acá estaba el error 1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495808" y="3416201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…y vuelve a empezar, millones de veces por corrida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812800" y="3858121"/>
            <a:ext cx="5359400" cy="1096963"/>
          </a:xfrm>
          <a:prstGeom prst="roundRect">
            <a:avLst>
              <a:gd name="adj" fmla="val 8104"/>
            </a:avLst>
          </a:prstGeom>
          <a:solidFill>
            <a:srgbClr val="EAE8E0"/>
          </a:solidFill>
          <a:ln/>
        </p:spPr>
      </p:sp>
      <p:sp>
        <p:nvSpPr>
          <p:cNvPr id="21" name="Text 16"/>
          <p:cNvSpPr/>
          <p:nvPr/>
        </p:nvSpPr>
        <p:spPr>
          <a:xfrm>
            <a:off x="1041400" y="4086721"/>
            <a:ext cx="504926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5233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ads = K · exp( (μ − E_ads) / 2kT)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1041400" y="4455021"/>
            <a:ext cx="504926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5233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des = K · exp(−(E_des + μ) / 2kT)</a:t>
            </a:r>
            <a:endParaRPr lang="en-US" sz="1500" dirty="0"/>
          </a:p>
        </p:txBody>
      </p:sp>
      <p:sp>
        <p:nvSpPr>
          <p:cNvPr id="23" name="Text 18"/>
          <p:cNvSpPr/>
          <p:nvPr/>
        </p:nvSpPr>
        <p:spPr>
          <a:xfrm>
            <a:off x="6477000" y="3858121"/>
            <a:ext cx="5049266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μ</a:t>
            </a:r>
            <a:r>
              <a:rPr lang="en-US" sz="14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r>
              <a:rPr lang="en-US" sz="1400" dirty="0">
                <a:solidFill>
                  <a:srgbClr val="A8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mui</a:t>
            </a:r>
            <a:r>
              <a:rPr lang="en-US" sz="14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en el código) es el potencial del electrodo. Todas las tasas de adsorción y desorción dependen de μ.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6477000" y="4457402"/>
            <a:ext cx="5049266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electrodo es un conductor: </a:t>
            </a:r>
            <a:r>
              <a:rPr lang="en-US" sz="1400" b="1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los sitios de la superficie ven el mismo μ al mismo tiempo.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00" kern="0" dirty="0">
                <a:solidFill>
                  <a:srgbClr val="D96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1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008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μ nuevo no le llegaba a toda la superficie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1818580"/>
            <a:ext cx="3494683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 viejo (vista desde arriba)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12800" y="21639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6" name="Shape 4"/>
          <p:cNvSpPr/>
          <p:nvPr/>
        </p:nvSpPr>
        <p:spPr>
          <a:xfrm>
            <a:off x="1206500" y="21639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7" name="Shape 5"/>
          <p:cNvSpPr/>
          <p:nvPr/>
        </p:nvSpPr>
        <p:spPr>
          <a:xfrm>
            <a:off x="1600200" y="21639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8" name="Shape 6"/>
          <p:cNvSpPr/>
          <p:nvPr/>
        </p:nvSpPr>
        <p:spPr>
          <a:xfrm>
            <a:off x="1993900" y="21639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9" name="Shape 7"/>
          <p:cNvSpPr/>
          <p:nvPr/>
        </p:nvSpPr>
        <p:spPr>
          <a:xfrm>
            <a:off x="2387600" y="21639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10" name="Shape 8"/>
          <p:cNvSpPr/>
          <p:nvPr/>
        </p:nvSpPr>
        <p:spPr>
          <a:xfrm>
            <a:off x="2781300" y="21639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11" name="Shape 9"/>
          <p:cNvSpPr/>
          <p:nvPr/>
        </p:nvSpPr>
        <p:spPr>
          <a:xfrm>
            <a:off x="3175000" y="21639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12" name="Shape 10"/>
          <p:cNvSpPr/>
          <p:nvPr/>
        </p:nvSpPr>
        <p:spPr>
          <a:xfrm>
            <a:off x="3568700" y="21639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13" name="Shape 11"/>
          <p:cNvSpPr/>
          <p:nvPr/>
        </p:nvSpPr>
        <p:spPr>
          <a:xfrm>
            <a:off x="812800" y="25576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6500" y="25576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15" name="Shape 13"/>
          <p:cNvSpPr/>
          <p:nvPr/>
        </p:nvSpPr>
        <p:spPr>
          <a:xfrm>
            <a:off x="1600200" y="25576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16" name="Shape 14"/>
          <p:cNvSpPr/>
          <p:nvPr/>
        </p:nvSpPr>
        <p:spPr>
          <a:xfrm>
            <a:off x="1993900" y="25576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17" name="Shape 15"/>
          <p:cNvSpPr/>
          <p:nvPr/>
        </p:nvSpPr>
        <p:spPr>
          <a:xfrm>
            <a:off x="2387600" y="25576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18" name="Shape 16"/>
          <p:cNvSpPr/>
          <p:nvPr/>
        </p:nvSpPr>
        <p:spPr>
          <a:xfrm>
            <a:off x="2781300" y="25576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175000" y="25576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20" name="Shape 18"/>
          <p:cNvSpPr/>
          <p:nvPr/>
        </p:nvSpPr>
        <p:spPr>
          <a:xfrm>
            <a:off x="3568700" y="25576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21" name="Shape 19"/>
          <p:cNvSpPr/>
          <p:nvPr/>
        </p:nvSpPr>
        <p:spPr>
          <a:xfrm>
            <a:off x="812800" y="29513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22" name="Shape 20"/>
          <p:cNvSpPr/>
          <p:nvPr/>
        </p:nvSpPr>
        <p:spPr>
          <a:xfrm>
            <a:off x="1206500" y="29513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23" name="Shape 21"/>
          <p:cNvSpPr/>
          <p:nvPr/>
        </p:nvSpPr>
        <p:spPr>
          <a:xfrm>
            <a:off x="1600200" y="29513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24" name="Shape 22"/>
          <p:cNvSpPr/>
          <p:nvPr/>
        </p:nvSpPr>
        <p:spPr>
          <a:xfrm>
            <a:off x="1993900" y="29513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25" name="Shape 23"/>
          <p:cNvSpPr/>
          <p:nvPr/>
        </p:nvSpPr>
        <p:spPr>
          <a:xfrm>
            <a:off x="2387600" y="29513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26" name="Shape 24"/>
          <p:cNvSpPr/>
          <p:nvPr/>
        </p:nvSpPr>
        <p:spPr>
          <a:xfrm>
            <a:off x="2781300" y="29513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27" name="Shape 25"/>
          <p:cNvSpPr/>
          <p:nvPr/>
        </p:nvSpPr>
        <p:spPr>
          <a:xfrm>
            <a:off x="3175000" y="29513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28" name="Shape 26"/>
          <p:cNvSpPr/>
          <p:nvPr/>
        </p:nvSpPr>
        <p:spPr>
          <a:xfrm>
            <a:off x="3568700" y="29513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29" name="Shape 27"/>
          <p:cNvSpPr/>
          <p:nvPr/>
        </p:nvSpPr>
        <p:spPr>
          <a:xfrm>
            <a:off x="812800" y="33450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30" name="Shape 28"/>
          <p:cNvSpPr/>
          <p:nvPr/>
        </p:nvSpPr>
        <p:spPr>
          <a:xfrm>
            <a:off x="1206500" y="33450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31" name="Shape 29"/>
          <p:cNvSpPr/>
          <p:nvPr/>
        </p:nvSpPr>
        <p:spPr>
          <a:xfrm>
            <a:off x="1600200" y="33450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32" name="Shape 30"/>
          <p:cNvSpPr/>
          <p:nvPr/>
        </p:nvSpPr>
        <p:spPr>
          <a:xfrm>
            <a:off x="1993900" y="33450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33" name="Shape 31"/>
          <p:cNvSpPr/>
          <p:nvPr/>
        </p:nvSpPr>
        <p:spPr>
          <a:xfrm>
            <a:off x="2387600" y="33450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D9661F"/>
          </a:solidFill>
          <a:ln/>
        </p:spPr>
      </p:sp>
      <p:sp>
        <p:nvSpPr>
          <p:cNvPr id="34" name="Shape 32"/>
          <p:cNvSpPr/>
          <p:nvPr/>
        </p:nvSpPr>
        <p:spPr>
          <a:xfrm>
            <a:off x="2781300" y="33450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35" name="Shape 33"/>
          <p:cNvSpPr/>
          <p:nvPr/>
        </p:nvSpPr>
        <p:spPr>
          <a:xfrm>
            <a:off x="3175000" y="33450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36" name="Shape 34"/>
          <p:cNvSpPr/>
          <p:nvPr/>
        </p:nvSpPr>
        <p:spPr>
          <a:xfrm>
            <a:off x="3568700" y="33450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37" name="Shape 35"/>
          <p:cNvSpPr/>
          <p:nvPr/>
        </p:nvSpPr>
        <p:spPr>
          <a:xfrm>
            <a:off x="812800" y="37387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38" name="Shape 36"/>
          <p:cNvSpPr/>
          <p:nvPr/>
        </p:nvSpPr>
        <p:spPr>
          <a:xfrm>
            <a:off x="1206500" y="37387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39" name="Shape 37"/>
          <p:cNvSpPr/>
          <p:nvPr/>
        </p:nvSpPr>
        <p:spPr>
          <a:xfrm>
            <a:off x="1600200" y="37387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40" name="Shape 38"/>
          <p:cNvSpPr/>
          <p:nvPr/>
        </p:nvSpPr>
        <p:spPr>
          <a:xfrm>
            <a:off x="1993900" y="37387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41" name="Shape 39"/>
          <p:cNvSpPr/>
          <p:nvPr/>
        </p:nvSpPr>
        <p:spPr>
          <a:xfrm>
            <a:off x="2387600" y="37387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42" name="Shape 40"/>
          <p:cNvSpPr/>
          <p:nvPr/>
        </p:nvSpPr>
        <p:spPr>
          <a:xfrm>
            <a:off x="2781300" y="37387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175000" y="37387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8700" y="37387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45" name="Shape 43"/>
          <p:cNvSpPr/>
          <p:nvPr/>
        </p:nvSpPr>
        <p:spPr>
          <a:xfrm>
            <a:off x="812800" y="41324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46" name="Shape 44"/>
          <p:cNvSpPr/>
          <p:nvPr/>
        </p:nvSpPr>
        <p:spPr>
          <a:xfrm>
            <a:off x="1206500" y="41324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47" name="Shape 45"/>
          <p:cNvSpPr/>
          <p:nvPr/>
        </p:nvSpPr>
        <p:spPr>
          <a:xfrm>
            <a:off x="1600200" y="41324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48" name="Shape 46"/>
          <p:cNvSpPr/>
          <p:nvPr/>
        </p:nvSpPr>
        <p:spPr>
          <a:xfrm>
            <a:off x="1993900" y="41324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49" name="Shape 47"/>
          <p:cNvSpPr/>
          <p:nvPr/>
        </p:nvSpPr>
        <p:spPr>
          <a:xfrm>
            <a:off x="2387600" y="41324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50" name="Shape 48"/>
          <p:cNvSpPr/>
          <p:nvPr/>
        </p:nvSpPr>
        <p:spPr>
          <a:xfrm>
            <a:off x="2781300" y="41324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51" name="Shape 49"/>
          <p:cNvSpPr/>
          <p:nvPr/>
        </p:nvSpPr>
        <p:spPr>
          <a:xfrm>
            <a:off x="3175000" y="41324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52" name="Shape 50"/>
          <p:cNvSpPr/>
          <p:nvPr/>
        </p:nvSpPr>
        <p:spPr>
          <a:xfrm>
            <a:off x="3568700" y="41324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53" name="Shape 51"/>
          <p:cNvSpPr/>
          <p:nvPr/>
        </p:nvSpPr>
        <p:spPr>
          <a:xfrm>
            <a:off x="812800" y="45261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54" name="Shape 52"/>
          <p:cNvSpPr/>
          <p:nvPr/>
        </p:nvSpPr>
        <p:spPr>
          <a:xfrm>
            <a:off x="1206500" y="45261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55" name="Shape 53"/>
          <p:cNvSpPr/>
          <p:nvPr/>
        </p:nvSpPr>
        <p:spPr>
          <a:xfrm>
            <a:off x="1600200" y="45261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56" name="Shape 54"/>
          <p:cNvSpPr/>
          <p:nvPr/>
        </p:nvSpPr>
        <p:spPr>
          <a:xfrm>
            <a:off x="1993900" y="45261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57" name="Shape 55"/>
          <p:cNvSpPr/>
          <p:nvPr/>
        </p:nvSpPr>
        <p:spPr>
          <a:xfrm>
            <a:off x="2387600" y="45261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58" name="Shape 56"/>
          <p:cNvSpPr/>
          <p:nvPr/>
        </p:nvSpPr>
        <p:spPr>
          <a:xfrm>
            <a:off x="2781300" y="45261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175000" y="45261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568700" y="45261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61" name="Shape 59"/>
          <p:cNvSpPr/>
          <p:nvPr/>
        </p:nvSpPr>
        <p:spPr>
          <a:xfrm>
            <a:off x="812800" y="49198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62" name="Shape 60"/>
          <p:cNvSpPr/>
          <p:nvPr/>
        </p:nvSpPr>
        <p:spPr>
          <a:xfrm>
            <a:off x="1206500" y="49198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63" name="Shape 61"/>
          <p:cNvSpPr/>
          <p:nvPr/>
        </p:nvSpPr>
        <p:spPr>
          <a:xfrm>
            <a:off x="1600200" y="49198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64" name="Shape 62"/>
          <p:cNvSpPr/>
          <p:nvPr/>
        </p:nvSpPr>
        <p:spPr>
          <a:xfrm>
            <a:off x="1993900" y="49198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65" name="Shape 63"/>
          <p:cNvSpPr/>
          <p:nvPr/>
        </p:nvSpPr>
        <p:spPr>
          <a:xfrm>
            <a:off x="2387600" y="49198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66" name="Shape 64"/>
          <p:cNvSpPr/>
          <p:nvPr/>
        </p:nvSpPr>
        <p:spPr>
          <a:xfrm>
            <a:off x="2781300" y="49198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175000" y="49198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68" name="Shape 66"/>
          <p:cNvSpPr/>
          <p:nvPr/>
        </p:nvSpPr>
        <p:spPr>
          <a:xfrm>
            <a:off x="3568700" y="49198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C9CED6"/>
          </a:solidFill>
          <a:ln/>
        </p:spPr>
      </p:sp>
      <p:sp>
        <p:nvSpPr>
          <p:cNvPr id="69" name="Text 67"/>
          <p:cNvSpPr/>
          <p:nvPr/>
        </p:nvSpPr>
        <p:spPr>
          <a:xfrm>
            <a:off x="4307483" y="1818580"/>
            <a:ext cx="3178683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Corregido</a:t>
            </a:r>
            <a:endParaRPr lang="en-US" sz="1600" dirty="0"/>
          </a:p>
        </p:txBody>
      </p:sp>
      <p:sp>
        <p:nvSpPr>
          <p:cNvPr id="70" name="Shape 68"/>
          <p:cNvSpPr/>
          <p:nvPr/>
        </p:nvSpPr>
        <p:spPr>
          <a:xfrm>
            <a:off x="4307483" y="21639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71" name="Shape 69"/>
          <p:cNvSpPr/>
          <p:nvPr/>
        </p:nvSpPr>
        <p:spPr>
          <a:xfrm>
            <a:off x="4701183" y="21639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72" name="Shape 70"/>
          <p:cNvSpPr/>
          <p:nvPr/>
        </p:nvSpPr>
        <p:spPr>
          <a:xfrm>
            <a:off x="5094883" y="21639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73" name="Shape 71"/>
          <p:cNvSpPr/>
          <p:nvPr/>
        </p:nvSpPr>
        <p:spPr>
          <a:xfrm>
            <a:off x="5488583" y="21639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74" name="Shape 72"/>
          <p:cNvSpPr/>
          <p:nvPr/>
        </p:nvSpPr>
        <p:spPr>
          <a:xfrm>
            <a:off x="5882283" y="21639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75" name="Shape 73"/>
          <p:cNvSpPr/>
          <p:nvPr/>
        </p:nvSpPr>
        <p:spPr>
          <a:xfrm>
            <a:off x="6275983" y="21639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76" name="Shape 74"/>
          <p:cNvSpPr/>
          <p:nvPr/>
        </p:nvSpPr>
        <p:spPr>
          <a:xfrm>
            <a:off x="6669683" y="21639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77" name="Shape 75"/>
          <p:cNvSpPr/>
          <p:nvPr/>
        </p:nvSpPr>
        <p:spPr>
          <a:xfrm>
            <a:off x="7063383" y="21639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78" name="Shape 76"/>
          <p:cNvSpPr/>
          <p:nvPr/>
        </p:nvSpPr>
        <p:spPr>
          <a:xfrm>
            <a:off x="4307483" y="25576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79" name="Shape 77"/>
          <p:cNvSpPr/>
          <p:nvPr/>
        </p:nvSpPr>
        <p:spPr>
          <a:xfrm>
            <a:off x="4701183" y="25576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80" name="Shape 78"/>
          <p:cNvSpPr/>
          <p:nvPr/>
        </p:nvSpPr>
        <p:spPr>
          <a:xfrm>
            <a:off x="5094883" y="25576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81" name="Shape 79"/>
          <p:cNvSpPr/>
          <p:nvPr/>
        </p:nvSpPr>
        <p:spPr>
          <a:xfrm>
            <a:off x="5488583" y="25576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82" name="Shape 80"/>
          <p:cNvSpPr/>
          <p:nvPr/>
        </p:nvSpPr>
        <p:spPr>
          <a:xfrm>
            <a:off x="5882283" y="25576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83" name="Shape 81"/>
          <p:cNvSpPr/>
          <p:nvPr/>
        </p:nvSpPr>
        <p:spPr>
          <a:xfrm>
            <a:off x="6275983" y="25576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84" name="Shape 82"/>
          <p:cNvSpPr/>
          <p:nvPr/>
        </p:nvSpPr>
        <p:spPr>
          <a:xfrm>
            <a:off x="6669683" y="25576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85" name="Shape 83"/>
          <p:cNvSpPr/>
          <p:nvPr/>
        </p:nvSpPr>
        <p:spPr>
          <a:xfrm>
            <a:off x="7063383" y="25576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86" name="Shape 84"/>
          <p:cNvSpPr/>
          <p:nvPr/>
        </p:nvSpPr>
        <p:spPr>
          <a:xfrm>
            <a:off x="4307483" y="29513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87" name="Shape 85"/>
          <p:cNvSpPr/>
          <p:nvPr/>
        </p:nvSpPr>
        <p:spPr>
          <a:xfrm>
            <a:off x="4701183" y="29513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88" name="Shape 86"/>
          <p:cNvSpPr/>
          <p:nvPr/>
        </p:nvSpPr>
        <p:spPr>
          <a:xfrm>
            <a:off x="5094883" y="29513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89" name="Shape 87"/>
          <p:cNvSpPr/>
          <p:nvPr/>
        </p:nvSpPr>
        <p:spPr>
          <a:xfrm>
            <a:off x="5488583" y="29513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90" name="Shape 88"/>
          <p:cNvSpPr/>
          <p:nvPr/>
        </p:nvSpPr>
        <p:spPr>
          <a:xfrm>
            <a:off x="5882283" y="29513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91" name="Shape 89"/>
          <p:cNvSpPr/>
          <p:nvPr/>
        </p:nvSpPr>
        <p:spPr>
          <a:xfrm>
            <a:off x="6275983" y="29513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92" name="Shape 90"/>
          <p:cNvSpPr/>
          <p:nvPr/>
        </p:nvSpPr>
        <p:spPr>
          <a:xfrm>
            <a:off x="6669683" y="29513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93" name="Shape 91"/>
          <p:cNvSpPr/>
          <p:nvPr/>
        </p:nvSpPr>
        <p:spPr>
          <a:xfrm>
            <a:off x="7063383" y="29513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94" name="Shape 92"/>
          <p:cNvSpPr/>
          <p:nvPr/>
        </p:nvSpPr>
        <p:spPr>
          <a:xfrm>
            <a:off x="4307483" y="33450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95" name="Shape 93"/>
          <p:cNvSpPr/>
          <p:nvPr/>
        </p:nvSpPr>
        <p:spPr>
          <a:xfrm>
            <a:off x="4701183" y="33450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96" name="Shape 94"/>
          <p:cNvSpPr/>
          <p:nvPr/>
        </p:nvSpPr>
        <p:spPr>
          <a:xfrm>
            <a:off x="5094883" y="33450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97" name="Shape 95"/>
          <p:cNvSpPr/>
          <p:nvPr/>
        </p:nvSpPr>
        <p:spPr>
          <a:xfrm>
            <a:off x="5488583" y="33450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98" name="Shape 96"/>
          <p:cNvSpPr/>
          <p:nvPr/>
        </p:nvSpPr>
        <p:spPr>
          <a:xfrm>
            <a:off x="5882283" y="33450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D9661F"/>
          </a:solidFill>
          <a:ln/>
        </p:spPr>
      </p:sp>
      <p:sp>
        <p:nvSpPr>
          <p:cNvPr id="99" name="Shape 97"/>
          <p:cNvSpPr/>
          <p:nvPr/>
        </p:nvSpPr>
        <p:spPr>
          <a:xfrm>
            <a:off x="6275983" y="33450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669683" y="33450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063383" y="33450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307483" y="37387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701183" y="37387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094883" y="37387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5488583" y="37387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882283" y="37387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275983" y="37387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669683" y="37387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063383" y="37387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307483" y="41324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701183" y="41324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094883" y="41324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488583" y="41324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882283" y="41324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6275983" y="41324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6669683" y="41324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063383" y="41324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307483" y="45261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701183" y="45261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5094883" y="45261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488583" y="45261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5882283" y="45261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275983" y="45261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669683" y="45261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063383" y="45261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307483" y="49198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701183" y="49198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5094883" y="49198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5488583" y="49198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130" name="Shape 128"/>
          <p:cNvSpPr/>
          <p:nvPr/>
        </p:nvSpPr>
        <p:spPr>
          <a:xfrm>
            <a:off x="5882283" y="49198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275983" y="49198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669683" y="49198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063383" y="4919861"/>
            <a:ext cx="330200" cy="330200"/>
          </a:xfrm>
          <a:prstGeom prst="roundRect">
            <a:avLst>
              <a:gd name="adj" fmla="val 15385"/>
            </a:avLst>
          </a:prstGeom>
          <a:solidFill>
            <a:srgbClr val="2563A6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749183" y="1818580"/>
            <a:ext cx="254000" cy="254000"/>
          </a:xfrm>
          <a:prstGeom prst="roundRect">
            <a:avLst>
              <a:gd name="adj" fmla="val 20000"/>
            </a:avLst>
          </a:prstGeom>
          <a:solidFill>
            <a:srgbClr val="D9661F"/>
          </a:solidFill>
          <a:ln/>
        </p:spPr>
      </p:sp>
      <p:sp>
        <p:nvSpPr>
          <p:cNvPr id="135" name="Text 133"/>
          <p:cNvSpPr/>
          <p:nvPr/>
        </p:nvSpPr>
        <p:spPr>
          <a:xfrm>
            <a:off x="8104783" y="1829991"/>
            <a:ext cx="2808803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sitio donde acaba de pasar algo</a:t>
            </a:r>
            <a:endParaRPr lang="en-US" sz="1300" dirty="0"/>
          </a:p>
        </p:txBody>
      </p:sp>
      <p:sp>
        <p:nvSpPr>
          <p:cNvPr id="136" name="Shape 134"/>
          <p:cNvSpPr/>
          <p:nvPr/>
        </p:nvSpPr>
        <p:spPr>
          <a:xfrm>
            <a:off x="7749183" y="2199580"/>
            <a:ext cx="254000" cy="254000"/>
          </a:xfrm>
          <a:prstGeom prst="roundRect">
            <a:avLst>
              <a:gd name="adj" fmla="val 20000"/>
            </a:avLst>
          </a:prstGeom>
          <a:solidFill>
            <a:srgbClr val="2563A6"/>
          </a:solidFill>
          <a:ln/>
        </p:spPr>
      </p:sp>
      <p:sp>
        <p:nvSpPr>
          <p:cNvPr id="137" name="Text 135"/>
          <p:cNvSpPr/>
          <p:nvPr/>
        </p:nvSpPr>
        <p:spPr>
          <a:xfrm>
            <a:off x="8104783" y="2210991"/>
            <a:ext cx="1711166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tasa con el μ actual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7749183" y="2580580"/>
            <a:ext cx="254000" cy="254000"/>
          </a:xfrm>
          <a:prstGeom prst="roundRect">
            <a:avLst>
              <a:gd name="adj" fmla="val 20000"/>
            </a:avLst>
          </a:prstGeom>
          <a:solidFill>
            <a:srgbClr val="C9CE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8104783" y="2591991"/>
            <a:ext cx="1656159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tasa con un μ viejo</a:t>
            </a:r>
            <a:endParaRPr lang="en-US" sz="1300" dirty="0"/>
          </a:p>
        </p:txBody>
      </p:sp>
      <p:sp>
        <p:nvSpPr>
          <p:cNvPr id="140" name="Text 138"/>
          <p:cNvSpPr/>
          <p:nvPr/>
        </p:nvSpPr>
        <p:spPr>
          <a:xfrm>
            <a:off x="7749183" y="3063180"/>
            <a:ext cx="3738918" cy="11808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Después de cada evento se recalculaba μ, pero solo se reescribían las tasas del sitio tocado y sus vecinos. Los otros ~1600 sitios seguían con tasas de un μ viejo: en la práctica, el del arranque.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00" kern="0" dirty="0">
                <a:solidFill>
                  <a:srgbClr val="D96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1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008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eso daba SoC ≈ 0: el paso a paso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9150" y="1799530"/>
            <a:ext cx="2511425" cy="1739702"/>
          </a:xfrm>
          <a:prstGeom prst="roundRect">
            <a:avLst>
              <a:gd name="adj" fmla="val 4745"/>
            </a:avLst>
          </a:prstGeom>
          <a:solidFill>
            <a:srgbClr val="FFFFFF"/>
          </a:solidFill>
          <a:ln w="12700">
            <a:solidFill>
              <a:srgbClr val="D5D9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77900" y="195828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15233B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10"/>
              </a:lnSpc>
              <a:buNone/>
            </a:pPr>
            <a:r>
              <a:rPr lang="en-US" sz="1300" b="1" dirty="0">
                <a:solidFill>
                  <a:srgbClr val="F6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77900" y="2301180"/>
            <a:ext cx="2259743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arrancar, con la superficie vacía, se resuelve μ: </a:t>
            </a:r>
            <a:r>
              <a:rPr lang="en-US" sz="1200" b="1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≈ +0.35 V</a:t>
            </a:r>
            <a:r>
              <a:rPr lang="en-US" sz="12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Con ese μ se calculan las tasas de toda la superficie.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95675" y="1799530"/>
            <a:ext cx="2511425" cy="1739702"/>
          </a:xfrm>
          <a:prstGeom prst="roundRect">
            <a:avLst>
              <a:gd name="adj" fmla="val 4745"/>
            </a:avLst>
          </a:prstGeom>
          <a:solidFill>
            <a:srgbClr val="FFFFFF"/>
          </a:solidFill>
          <a:ln w="12700">
            <a:solidFill>
              <a:srgbClr val="D5D9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4425" y="195828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15233B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10"/>
              </a:lnSpc>
              <a:buNone/>
            </a:pPr>
            <a:r>
              <a:rPr lang="en-US" sz="1300" b="1" dirty="0">
                <a:solidFill>
                  <a:srgbClr val="F6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4425" y="2301180"/>
            <a:ext cx="2259743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ese potencial la adsorción es </a:t>
            </a:r>
            <a:r>
              <a:rPr lang="en-US" sz="1200" b="1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casi nula</a:t>
            </a:r>
            <a:r>
              <a:rPr lang="en-US" sz="12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Los sitios que nunca se tocan se quedan congelados así.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72200" y="1799530"/>
            <a:ext cx="2511425" cy="1739702"/>
          </a:xfrm>
          <a:prstGeom prst="roundRect">
            <a:avLst>
              <a:gd name="adj" fmla="val 4745"/>
            </a:avLst>
          </a:prstGeom>
          <a:solidFill>
            <a:srgbClr val="FFFFFF"/>
          </a:solidFill>
          <a:ln w="12700">
            <a:solidFill>
              <a:srgbClr val="D5D9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30950" y="195828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15233B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10"/>
              </a:lnSpc>
              <a:buNone/>
            </a:pPr>
            <a:r>
              <a:rPr lang="en-US" sz="1300" b="1" dirty="0">
                <a:solidFill>
                  <a:srgbClr val="F6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30950" y="2301180"/>
            <a:ext cx="2259743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un ion logra entrar, su sitio sí toma el μ nuevo y su desorción es rápida: </a:t>
            </a:r>
            <a:r>
              <a:rPr lang="en-US" sz="1200" b="1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va antes de difundir</a:t>
            </a:r>
            <a:r>
              <a:rPr lang="en-US" sz="12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hacia adentro.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851900" y="1802705"/>
            <a:ext cx="2517775" cy="1733352"/>
          </a:xfrm>
          <a:prstGeom prst="roundRect">
            <a:avLst>
              <a:gd name="adj" fmla="val 4579"/>
            </a:avLst>
          </a:prstGeom>
          <a:solidFill>
            <a:srgbClr val="FFF4EA"/>
          </a:solidFill>
          <a:ln w="19050">
            <a:solidFill>
              <a:srgbClr val="D966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13825" y="196463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9661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10"/>
              </a:lnSpc>
              <a:buNone/>
            </a:pPr>
            <a:r>
              <a:rPr lang="en-US" sz="1300" b="1" dirty="0">
                <a:solidFill>
                  <a:srgbClr val="F6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013825" y="2307530"/>
            <a:ext cx="2259743" cy="1092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cálculo de μ "cree" que la superficie carga, pero los eventos se sortean con tasas viejas: </a:t>
            </a:r>
            <a:r>
              <a:rPr lang="en-US" sz="1200" b="1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electrodo no se carga</a:t>
            </a:r>
            <a:r>
              <a:rPr lang="en-US" sz="12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12800" y="3799582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Punto log Ξ = 2, log ℓ = −1.33, g = −4: SoC durante la corrida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4162723"/>
          <a:ext cx="10553700" cy="1543844"/>
        </p:xfrm>
        <a:graphic>
          <a:graphicData uri="http://schemas.openxmlformats.org/drawingml/2006/table">
            <a:tbl>
              <a:tblPr/>
              <a:tblGrid>
                <a:gridCol w="3588258"/>
                <a:gridCol w="1688592"/>
                <a:gridCol w="1688592"/>
                <a:gridCol w="1688592"/>
                <a:gridCol w="1899666"/>
              </a:tblGrid>
              <a:tr h="385961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intervalo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E"/>
                    </a:solidFill>
                  </a:tcPr>
                </a:tc>
              </a:tr>
              <a:tr h="385961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esperado (corriente impuesta)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0.125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961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viejo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0.0004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0.0004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0.0004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0.0004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DC"/>
                    </a:solidFill>
                  </a:tcPr>
                </a:tc>
              </a:tr>
              <a:tr h="385961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corregido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B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B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A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4B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B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B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A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4B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B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B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A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0.141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4B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B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B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A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0.957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4B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B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B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A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E8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00" kern="0" dirty="0">
                <a:solidFill>
                  <a:srgbClr val="D96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1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008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solo pasaba arriba del mapa (Ξ alto)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171698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Ξ mide qué tan rápida es la reacción en la superficie (constante k₀) comparada con la difusión hacia adentro.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12800" y="2212280"/>
            <a:ext cx="5181600" cy="1823541"/>
          </a:xfrm>
          <a:prstGeom prst="roundRect">
            <a:avLst>
              <a:gd name="adj" fmla="val 4875"/>
            </a:avLst>
          </a:prstGeom>
          <a:solidFill>
            <a:srgbClr val="F6F5F0"/>
          </a:solidFill>
          <a:ln/>
        </p:spPr>
      </p:sp>
      <p:sp>
        <p:nvSpPr>
          <p:cNvPr id="6" name="Shape 4"/>
          <p:cNvSpPr/>
          <p:nvPr/>
        </p:nvSpPr>
        <p:spPr>
          <a:xfrm>
            <a:off x="812800" y="2212280"/>
            <a:ext cx="5181600" cy="1823541"/>
          </a:xfrm>
          <a:custGeom>
            <a:avLst/>
            <a:gdLst/>
            <a:ahLst/>
            <a:cxnLst/>
            <a:rect l="l" t="t" r="r" b="b"/>
            <a:pathLst>
              <a:path w="5181600" h="1823541">
                <a:moveTo>
                  <a:pt x="0" y="88900"/>
                </a:moveTo>
                <a:lnTo>
                  <a:pt x="0" y="88900"/>
                </a:lnTo>
                <a:arcTo hR="88900" wR="88900" stAng="10800000" swAng="5400000"/>
                <a:lnTo>
                  <a:pt x="5092700" y="0"/>
                </a:lnTo>
                <a:arcTo hR="88900" wR="88900" stAng="16200000" swAng="5400000"/>
                <a:lnTo>
                  <a:pt x="5181600" y="88900"/>
                </a:lnTo>
                <a:arcTo hR="50800" wR="88900" stAng="0" swAng="-5400000"/>
                <a:lnTo>
                  <a:pt x="88900" y="38100"/>
                </a:lnTo>
                <a:arcTo hR="50800" wR="88900" stAng="16200000" swAng="-5400000"/>
                <a:close/>
              </a:path>
            </a:pathLst>
          </a:custGeom>
          <a:solidFill>
            <a:srgbClr val="D9661F"/>
          </a:solidFill>
          <a:ln/>
        </p:spPr>
      </p:sp>
      <p:sp>
        <p:nvSpPr>
          <p:cNvPr id="7" name="Text 5"/>
          <p:cNvSpPr/>
          <p:nvPr/>
        </p:nvSpPr>
        <p:spPr>
          <a:xfrm>
            <a:off x="1041400" y="2478980"/>
            <a:ext cx="486613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A8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Ξ = 2 (arriba)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41400" y="2821880"/>
            <a:ext cx="486613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K_ads ≈ K_dif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1041400" y="3345061"/>
            <a:ext cx="4866132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Entrar y salir de la superficie es tan rápido como difundir. Lo que pasa en la superficie decide todo, y sus tasas estaban viejas.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97600" y="2212280"/>
            <a:ext cx="5181600" cy="1823541"/>
          </a:xfrm>
          <a:prstGeom prst="roundRect">
            <a:avLst>
              <a:gd name="adj" fmla="val 4875"/>
            </a:avLst>
          </a:prstGeom>
          <a:solidFill>
            <a:srgbClr val="F6F5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97600" y="2212280"/>
            <a:ext cx="5181600" cy="1823541"/>
          </a:xfrm>
          <a:custGeom>
            <a:avLst/>
            <a:gdLst/>
            <a:ahLst/>
            <a:cxnLst/>
            <a:rect l="l" t="t" r="r" b="b"/>
            <a:pathLst>
              <a:path w="5181600" h="1823541">
                <a:moveTo>
                  <a:pt x="0" y="88900"/>
                </a:moveTo>
                <a:lnTo>
                  <a:pt x="0" y="88900"/>
                </a:lnTo>
                <a:arcTo hR="88900" wR="88900" stAng="10800000" swAng="5400000"/>
                <a:lnTo>
                  <a:pt x="5092700" y="0"/>
                </a:lnTo>
                <a:arcTo hR="88900" wR="88900" stAng="16200000" swAng="5400000"/>
                <a:lnTo>
                  <a:pt x="5181600" y="88900"/>
                </a:lnTo>
                <a:arcTo hR="50800" wR="88900" stAng="0" swAng="-5400000"/>
                <a:lnTo>
                  <a:pt x="88900" y="38100"/>
                </a:lnTo>
                <a:arcTo hR="50800" wR="88900" stAng="16200000" swAng="-5400000"/>
                <a:close/>
              </a:path>
            </a:pathLst>
          </a:custGeom>
          <a:solidFill>
            <a:srgbClr val="2563A6"/>
          </a:solidFill>
          <a:ln/>
        </p:spPr>
      </p:sp>
      <p:sp>
        <p:nvSpPr>
          <p:cNvPr id="12" name="Text 10"/>
          <p:cNvSpPr/>
          <p:nvPr/>
        </p:nvSpPr>
        <p:spPr>
          <a:xfrm>
            <a:off x="6426200" y="2478980"/>
            <a:ext cx="486613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56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Ξ = 0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26200" y="2821880"/>
            <a:ext cx="486613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K_ads 100× menor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426200" y="3345061"/>
            <a:ext cx="4866132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reacción es lenta: el ion que entra tiene tiempo de difundir antes de salir, y el error casi no se nota.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12800" y="4289822"/>
            <a:ext cx="10883392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Medido con el arreglo (40 puntos de g = −4):</a:t>
            </a:r>
            <a:r>
              <a:rPr lang="en-US" sz="1400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zona de SoC 0 → 0.97 · log Ξ ≤ 1.1 cambia ≤ 0.04 · log Ξ alto con log ℓ −0.5 baja 0.03–0.08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00" kern="0" dirty="0">
                <a:solidFill>
                  <a:srgbClr val="D96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1 · ARREGLO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008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vez que cambia μ, se refresca toda la superficie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869380"/>
            <a:ext cx="6156920" cy="1566863"/>
          </a:xfrm>
          <a:prstGeom prst="roundRect">
            <a:avLst>
              <a:gd name="adj" fmla="val 5674"/>
            </a:avLst>
          </a:prstGeom>
          <a:solidFill>
            <a:srgbClr val="15233B"/>
          </a:solidFill>
          <a:ln/>
        </p:spPr>
      </p:sp>
      <p:sp>
        <p:nvSpPr>
          <p:cNvPr id="5" name="Text 3"/>
          <p:cNvSpPr/>
          <p:nvPr/>
        </p:nvSpPr>
        <p:spPr>
          <a:xfrm>
            <a:off x="1041400" y="2097980"/>
            <a:ext cx="587071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6F5F0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if (g_need_potencial) {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41400" y="2384921"/>
            <a:ext cx="587071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6F5F0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potencial(); </a:t>
            </a:r>
            <a:r>
              <a:rPr lang="en-US" sz="1400" dirty="0">
                <a:solidFill>
                  <a:srgbClr val="9FB3CC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// μ nuevo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1400" y="2671862"/>
            <a:ext cx="587071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0A35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RefrescarSuperficie(); </a:t>
            </a:r>
            <a:r>
              <a:rPr lang="en-US" sz="1400" dirty="0">
                <a:solidFill>
                  <a:srgbClr val="9FB3CC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// nuevo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41400" y="2958802"/>
            <a:ext cx="587071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6F5F0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}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12800" y="3588643"/>
            <a:ext cx="6341628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RefrescarSuperficie() recalcula la adsorción y la desorción de los 1600 sitios de la superficie con el μ actual. Solo se hace cuando se recalcula el potencial.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31850" y="4238724"/>
            <a:ext cx="0" cy="848122"/>
          </a:xfrm>
          <a:prstGeom prst="line">
            <a:avLst/>
          </a:prstGeom>
          <a:noFill/>
          <a:ln w="38100">
            <a:solidFill>
              <a:srgbClr val="2563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3300" y="4289524"/>
            <a:ext cx="6145413" cy="771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i="1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“Idealmente la actualización siempre es local, a menos que necesite recalcular el potencial […] para el potencial necesitás todas las tasas.”</a:t>
            </a:r>
            <a:r>
              <a:rPr lang="en-US" sz="1400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Maxi, 16/10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274520" y="1869380"/>
            <a:ext cx="422782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256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0.0004 → 0.957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7274520" y="2321421"/>
            <a:ext cx="422782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 final en el punto anómalo (continuo: 0.99)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274520" y="2755702"/>
            <a:ext cx="422782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0.96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7274520" y="3207742"/>
            <a:ext cx="422782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punto normal (log Ξ 0, log ℓ −1): 0.965 antes, 0.962 después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274520" y="3873103"/>
            <a:ext cx="422782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A8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2–20×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7274520" y="4325144"/>
            <a:ext cx="422782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lento por corrida (el costo del arreglo)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00" kern="0" dirty="0">
                <a:solidFill>
                  <a:srgbClr val="D96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1 · EN EL MAPA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008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crudo 64×64 la zona de SoC 0 se llena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615380"/>
            <a:ext cx="10566400" cy="2495550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/>
        </p:spPr>
      </p:sp>
      <p:pic>
        <p:nvPicPr>
          <p:cNvPr id="5" name="Image 0" descr="Crudo 64×64 de g = −4: KMC viejo, KMC corregido (153 puntos terminados y 256 en curso), diferencia corregido menos viejo, y corte en log ℓ = −2.10 comparando continuo, viejo y corregido">    </p:cNvPr>
          <p:cNvPicPr>
            <a:picLocks noChangeAspect="1"/>
          </p:cNvPicPr>
          <p:nvPr/>
        </p:nvPicPr>
        <p:blipFill>
          <a:blip r:embed="rId1"/>
          <a:srcRect l="-39" r="-39" t="0" b="0"/>
          <a:stretch/>
        </p:blipFill>
        <p:spPr>
          <a:xfrm>
            <a:off x="812800" y="1615380"/>
            <a:ext cx="10566400" cy="2495550"/>
          </a:xfrm>
          <a:prstGeom prst="roundRect">
            <a:avLst>
              <a:gd name="adj" fmla="val 3053"/>
            </a:avLst>
          </a:prstGeom>
        </p:spPr>
      </p:pic>
      <p:sp>
        <p:nvSpPr>
          <p:cNvPr id="6" name="Text 3"/>
          <p:cNvSpPr/>
          <p:nvPr/>
        </p:nvSpPr>
        <p:spPr>
          <a:xfrm>
            <a:off x="812800" y="4339530"/>
            <a:ext cx="3488233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Arriba (log Ξ ≥ 1.8):</a:t>
            </a: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el viejo daba 0, el corregido 0.87–0.97 (continuo ≈ 0.995).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402634" y="4339530"/>
            <a:ext cx="3488335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resto no se mueve:</a:t>
            </a: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el acantilado en Ξ queda en el mismo lugar; diferencias ≤ 0.09.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992566" y="4339530"/>
            <a:ext cx="3488233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A8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un adelanto:</a:t>
            </a:r>
            <a:r>
              <a:rPr lang="en-US" sz="1300" dirty="0">
                <a:solidFill>
                  <a:srgbClr val="A8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~5 % del mapa, una franja de ℓ (−2.5 a −1.9), 1 réplica. Falta ~45 h.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00" kern="0" dirty="0">
                <a:solidFill>
                  <a:srgbClr val="D96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3 · ANTES, CÓMO ENTRA G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008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vecino ocupado suma J1 a la energía de un sitio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4427" y="2100362"/>
            <a:ext cx="762000" cy="762000"/>
          </a:xfrm>
          <a:prstGeom prst="roundRect">
            <a:avLst>
              <a:gd name="adj" fmla="val 50000"/>
            </a:avLst>
          </a:prstGeom>
          <a:solidFill>
            <a:srgbClr val="15233B"/>
          </a:solidFill>
          <a:ln/>
        </p:spPr>
      </p:sp>
      <p:sp>
        <p:nvSpPr>
          <p:cNvPr id="5" name="Shape 3"/>
          <p:cNvSpPr/>
          <p:nvPr/>
        </p:nvSpPr>
        <p:spPr>
          <a:xfrm>
            <a:off x="1838027" y="2100362"/>
            <a:ext cx="762000" cy="762000"/>
          </a:xfrm>
          <a:prstGeom prst="roundRect">
            <a:avLst>
              <a:gd name="adj" fmla="val 50000"/>
            </a:avLst>
          </a:prstGeom>
          <a:solidFill>
            <a:srgbClr val="15233B"/>
          </a:solidFill>
          <a:ln/>
        </p:spPr>
      </p:sp>
      <p:sp>
        <p:nvSpPr>
          <p:cNvPr id="6" name="Text 4"/>
          <p:cNvSpPr/>
          <p:nvPr/>
        </p:nvSpPr>
        <p:spPr>
          <a:xfrm>
            <a:off x="2701627" y="2100362"/>
            <a:ext cx="762000" cy="762000"/>
          </a:xfrm>
          <a:prstGeom prst="roundRect">
            <a:avLst>
              <a:gd name="adj" fmla="val 50000"/>
            </a:avLst>
          </a:prstGeom>
          <a:solidFill>
            <a:srgbClr val="D9661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6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974427" y="2963962"/>
            <a:ext cx="762000" cy="762000"/>
          </a:xfrm>
          <a:prstGeom prst="roundRect">
            <a:avLst>
              <a:gd name="adj" fmla="val 50000"/>
            </a:avLst>
          </a:prstGeom>
          <a:solidFill>
            <a:srgbClr val="15233B"/>
          </a:solidFill>
          <a:ln/>
        </p:spPr>
      </p:sp>
      <p:sp>
        <p:nvSpPr>
          <p:cNvPr id="8" name="Shape 6"/>
          <p:cNvSpPr/>
          <p:nvPr/>
        </p:nvSpPr>
        <p:spPr>
          <a:xfrm>
            <a:off x="1850727" y="2976662"/>
            <a:ext cx="736600" cy="73660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8A96A8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1149003" y="3878362"/>
            <a:ext cx="2140148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5233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E(A) = 3 · J1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12800" y="4350742"/>
            <a:ext cx="337506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 2D: en 3D cada sitio tiene 6 vecinos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34954" y="1920180"/>
            <a:ext cx="7144246" cy="762000"/>
          </a:xfrm>
          <a:prstGeom prst="roundRect">
            <a:avLst>
              <a:gd name="adj" fmla="val 11667"/>
            </a:avLst>
          </a:prstGeom>
          <a:solidFill>
            <a:srgbClr val="15233B"/>
          </a:solidFill>
          <a:ln/>
        </p:spPr>
        <p:txBody>
          <a:bodyPr wrap="square" lIns="177162" tIns="177162" rIns="0" bIns="151762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F6F5F0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J1 = (g / 6) · kT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234954" y="2859980"/>
            <a:ext cx="7358573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 &lt; 0: los iones se atraen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234954" y="3141861"/>
            <a:ext cx="7358573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J1 &lt; 0: tener vecinos baja la energía; los iones tienden a agruparse y la transición es abrupta.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234954" y="3550741"/>
            <a:ext cx="7358573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 &gt; 0: los iones se repelen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234954" y="3832622"/>
            <a:ext cx="7358573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J1 &gt; 0: tener vecinos sube la energía.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234954" y="4241502"/>
            <a:ext cx="7144246" cy="502841"/>
          </a:xfrm>
          <a:prstGeom prst="roundRect">
            <a:avLst>
              <a:gd name="adj" fmla="val 15154"/>
            </a:avLst>
          </a:prstGeom>
          <a:solidFill>
            <a:srgbClr val="EAE8E0"/>
          </a:solidFill>
          <a:ln/>
        </p:spPr>
        <p:txBody>
          <a:bodyPr wrap="square" lIns="155482" tIns="104682" rIns="0" bIns="79282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Ejemplo, g = −4: J1 = −0.67 kT por vecino ocupado.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00" kern="0" dirty="0">
                <a:solidFill>
                  <a:srgbClr val="D96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3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008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saltar de A a B, el ion se contaba como vecino de B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1615380"/>
            <a:ext cx="10566400" cy="469900"/>
          </a:xfrm>
          <a:prstGeom prst="roundRect">
            <a:avLst>
              <a:gd name="adj" fmla="val 16216"/>
            </a:avLst>
          </a:prstGeom>
          <a:solidFill>
            <a:srgbClr val="EAE8E0"/>
          </a:solidFill>
          <a:ln/>
        </p:spPr>
        <p:txBody>
          <a:bodyPr wrap="square" lIns="130082" tIns="79282" rIns="0" bIns="53882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5233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tasa(A→B) = K_dif · exp(−ΔE / 2kT) ΔE = E(B) − E(A)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325" y="2323405"/>
            <a:ext cx="5111750" cy="3224312"/>
          </a:xfrm>
          <a:prstGeom prst="roundRect">
            <a:avLst>
              <a:gd name="adj" fmla="val 2462"/>
            </a:avLst>
          </a:prstGeom>
          <a:solidFill>
            <a:srgbClr val="FFF4EA"/>
          </a:solidFill>
          <a:ln w="19050">
            <a:solidFill>
              <a:srgbClr val="D966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5050" y="2536130"/>
            <a:ext cx="4826889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A8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hacía el código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44575" y="2903736"/>
            <a:ext cx="514350" cy="5143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B8C0CC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1682750" y="2894211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15233B"/>
          </a:solidFill>
          <a:ln/>
        </p:spPr>
      </p:sp>
      <p:sp>
        <p:nvSpPr>
          <p:cNvPr id="9" name="Shape 7"/>
          <p:cNvSpPr/>
          <p:nvPr/>
        </p:nvSpPr>
        <p:spPr>
          <a:xfrm>
            <a:off x="2330450" y="2894211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15233B"/>
          </a:solidFill>
          <a:ln/>
          <a:effectLst>
            <a:outerShdw sx="100000" sy="100000" kx="0" ky="0" algn="bl" rotWithShape="0" blurRad="44450" dist="0" dir="60000">
              <a:srgbClr val="F0A35E">
                <a:alpha val="10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987675" y="2903736"/>
            <a:ext cx="514350" cy="5143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B8C0CC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1044575" y="3551436"/>
            <a:ext cx="514350" cy="5143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B8C0CC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82750" y="3541911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D9661F"/>
          </a:solidFill>
          <a:ln/>
          <a:effectLst>
            <a:outerShdw sx="100000" sy="100000" kx="0" ky="0" algn="bl" rotWithShape="0" blurRad="44450" dist="0" dir="60000">
              <a:srgbClr val="F0A35E">
                <a:alpha val="100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F6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339975" y="3551436"/>
            <a:ext cx="514350" cy="5143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5B6B82"/>
            </a:solidFill>
            <a:prstDash val="dash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987675" y="3551436"/>
            <a:ext cx="514350" cy="5143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B8C0CC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044575" y="4199136"/>
            <a:ext cx="514350" cy="5143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B8C0CC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1682750" y="4189611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15233B"/>
          </a:solidFill>
          <a:ln/>
        </p:spPr>
      </p:sp>
      <p:sp>
        <p:nvSpPr>
          <p:cNvPr id="17" name="Shape 15"/>
          <p:cNvSpPr/>
          <p:nvPr/>
        </p:nvSpPr>
        <p:spPr>
          <a:xfrm>
            <a:off x="2339975" y="4199136"/>
            <a:ext cx="514350" cy="5143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B8C0CC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2987675" y="4199136"/>
            <a:ext cx="514350" cy="5143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B8C0CC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3765550" y="3199110"/>
            <a:ext cx="2014474" cy="718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todavía figura ocupado cuando se cuentan los vecinos de B.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765550" y="3955852"/>
            <a:ext cx="2014474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Vecinos de B contados (anillo): </a:t>
            </a:r>
            <a:r>
              <a:rPr lang="en-US" sz="1300" b="1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35050" y="4837311"/>
            <a:ext cx="4826889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5233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E(A) = 2·J1 E(B) = 2·J1</a:t>
            </a:r>
            <a:endParaRPr lang="en-US" sz="1400" dirty="0"/>
          </a:p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5233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ΔE = 0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57925" y="2323405"/>
            <a:ext cx="5111750" cy="3224312"/>
          </a:xfrm>
          <a:prstGeom prst="roundRect">
            <a:avLst>
              <a:gd name="adj" fmla="val 2462"/>
            </a:avLst>
          </a:prstGeom>
          <a:solidFill>
            <a:srgbClr val="E9F0F8"/>
          </a:solidFill>
          <a:ln w="19050">
            <a:solidFill>
              <a:srgbClr val="2563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0650" y="2536130"/>
            <a:ext cx="4826889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56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correcto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80175" y="2903736"/>
            <a:ext cx="514350" cy="5143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B8C0CC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7118350" y="2894211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15233B"/>
          </a:solidFill>
          <a:ln/>
        </p:spPr>
      </p:sp>
      <p:sp>
        <p:nvSpPr>
          <p:cNvPr id="26" name="Shape 24"/>
          <p:cNvSpPr/>
          <p:nvPr/>
        </p:nvSpPr>
        <p:spPr>
          <a:xfrm>
            <a:off x="7766050" y="2894211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15233B"/>
          </a:solidFill>
          <a:ln/>
          <a:effectLst>
            <a:outerShdw sx="100000" sy="100000" kx="0" ky="0" algn="bl" rotWithShape="0" blurRad="44450" dist="0" dir="60000">
              <a:srgbClr val="7FA6D6">
                <a:alpha val="10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423275" y="2903736"/>
            <a:ext cx="514350" cy="5143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B8C0CC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6480175" y="3551436"/>
            <a:ext cx="514350" cy="5143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B8C0CC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7118350" y="3541911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D9661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F6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7775575" y="3551436"/>
            <a:ext cx="514350" cy="5143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5B6B82"/>
            </a:solidFill>
            <a:prstDash val="dash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8423275" y="3551436"/>
            <a:ext cx="514350" cy="5143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B8C0CC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480175" y="4199136"/>
            <a:ext cx="514350" cy="5143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B8C0CC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7118350" y="4189611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15233B"/>
          </a:solidFill>
          <a:ln/>
        </p:spPr>
      </p:sp>
      <p:sp>
        <p:nvSpPr>
          <p:cNvPr id="34" name="Shape 32"/>
          <p:cNvSpPr/>
          <p:nvPr/>
        </p:nvSpPr>
        <p:spPr>
          <a:xfrm>
            <a:off x="7775575" y="4199136"/>
            <a:ext cx="514350" cy="5143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B8C0CC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8423275" y="4199136"/>
            <a:ext cx="514350" cy="5143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B8C0CC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9201150" y="3199110"/>
            <a:ext cx="2014474" cy="718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ion que salta no puede ser su propio vecino: se descuenta.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9201150" y="3955852"/>
            <a:ext cx="2014474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Vecinos de B contados (anillo): </a:t>
            </a:r>
            <a:r>
              <a:rPr lang="en-US" sz="1300" b="1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470650" y="4837311"/>
            <a:ext cx="4826889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5233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E(A) = 2·J1 E(B) = 1·J1</a:t>
            </a:r>
            <a:endParaRPr lang="en-US" sz="1400" dirty="0"/>
          </a:p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5233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ΔE = −J1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00" kern="0" dirty="0">
                <a:solidFill>
                  <a:srgbClr val="D96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3 · CUÁNTO PESA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0080"/>
            <a:ext cx="113792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J1 de más en todos los saltos: un factor fijo exp(−g/12)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869380"/>
            <a:ext cx="5080000" cy="1305322"/>
          </a:xfrm>
          <a:prstGeom prst="roundRect">
            <a:avLst>
              <a:gd name="adj" fmla="val 6811"/>
            </a:avLst>
          </a:prstGeom>
          <a:solidFill>
            <a:srgbClr val="15233B"/>
          </a:solidFill>
          <a:ln/>
        </p:spPr>
      </p:sp>
      <p:sp>
        <p:nvSpPr>
          <p:cNvPr id="5" name="Text 3"/>
          <p:cNvSpPr/>
          <p:nvPr/>
        </p:nvSpPr>
        <p:spPr>
          <a:xfrm>
            <a:off x="1016000" y="2072580"/>
            <a:ext cx="4813808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6F5F0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ΔE_código = ΔE_correcto + J1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16000" y="2397621"/>
            <a:ext cx="4813808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6F5F0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tasa_código = tasa_correcta · exp(−J1/2kT)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16000" y="2722662"/>
            <a:ext cx="4813808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0A35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= tasa_correcta · exp(−g/12)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12800" y="3301702"/>
            <a:ext cx="52324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ejemplo de la filmina anterior con g = −4</a:t>
            </a: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(J1 = −0.67 kT):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12800" y="3659783"/>
            <a:ext cx="523240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correcto: ΔE = −J1 = +0.67 kT → tasa = 0.72 · K_dif</a:t>
            </a:r>
            <a:endParaRPr lang="en-US" sz="1300" dirty="0"/>
          </a:p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código: ΔE = 0 → tasa = 1.00 · K_dif → </a:t>
            </a:r>
            <a:r>
              <a:rPr lang="en-US" sz="1300" b="1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1.40 veces más rápido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11900" y="1882080"/>
          <a:ext cx="5067300" cy="2063750"/>
        </p:xfrm>
        <a:graphic>
          <a:graphicData uri="http://schemas.openxmlformats.org/drawingml/2006/table">
            <a:tbl>
              <a:tblPr/>
              <a:tblGrid>
                <a:gridCol w="1114806"/>
                <a:gridCol w="1520190"/>
                <a:gridCol w="2432304"/>
              </a:tblGrid>
              <a:tr h="4127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J1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saltos en el código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E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−1.33 kT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×1.95 más rápidos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DC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−4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−0.67 kT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×1.40 más rápidos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DC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×1 (sin error)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BA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B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B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A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+0.67 kT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B4B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B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B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A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×0.72 más lentos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B4B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B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B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AF5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6299200" y="4047430"/>
            <a:ext cx="523240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depende de cuántos vecinos haya: el J1 extra es siempre uno, el del propio ion. Por eso es el mismo factor en todos los saltos.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5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00" kern="0" dirty="0">
                <a:solidFill>
                  <a:srgbClr val="F0A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3 · QUÉ SIGNIFICA FÍSICAMENTE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0080"/>
            <a:ext cx="10883392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F6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como simular con un coeficiente de difusión distinto del que se cree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2570262"/>
            <a:ext cx="3318867" cy="0"/>
          </a:xfrm>
          <a:prstGeom prst="line">
            <a:avLst/>
          </a:prstGeom>
          <a:noFill/>
          <a:ln w="25400">
            <a:solidFill>
              <a:srgbClr val="5B6B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2735362"/>
            <a:ext cx="3418433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F6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equilibrio no cambia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12800" y="3070622"/>
            <a:ext cx="3418433" cy="1020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BFC9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salto de vuelta (B → A) también cuenta de más: el mismo factor en la ida y en la vuelta. Dónde terminan los iones en equilibrio es igual.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36467" y="2570262"/>
            <a:ext cx="3318966" cy="0"/>
          </a:xfrm>
          <a:prstGeom prst="line">
            <a:avLst/>
          </a:prstGeom>
          <a:noFill/>
          <a:ln w="25400">
            <a:solidFill>
              <a:srgbClr val="F0A3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36467" y="2735362"/>
            <a:ext cx="3418535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F6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Cambia la velocidad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436467" y="3070622"/>
            <a:ext cx="3418535" cy="771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BFC9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los saltos van ×exp(−g/12): en g = −4 los iones difunden como si D fuera 1.40 veces mayor.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60234" y="2570262"/>
            <a:ext cx="3318966" cy="0"/>
          </a:xfrm>
          <a:prstGeom prst="line">
            <a:avLst/>
          </a:prstGeom>
          <a:noFill/>
          <a:ln w="25400">
            <a:solidFill>
              <a:srgbClr val="F0A3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60234" y="2735362"/>
            <a:ext cx="3418535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F6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punto se corre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060234" y="3070622"/>
            <a:ext cx="3418535" cy="771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BFC9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Ξ y ℓ se definen con el D nominal: cada corrida representaba en realidad otro punto del mapa.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00" kern="0" dirty="0">
                <a:solidFill>
                  <a:srgbClr val="D96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3 · EN LOS DATOS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008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arreglo, el SoC baja donde manda la difusión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615380"/>
            <a:ext cx="10566400" cy="3175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/>
        </p:spPr>
      </p:sp>
      <p:pic>
        <p:nvPicPr>
          <p:cNvPr id="5" name="Image 0" descr="24 puntos de g = −4 en log ℓ −1.05, −0.48 y 0: continuo, crudo viejo, solo arreglo 1, y arreglos 1 y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625" y="1615380"/>
            <a:ext cx="10318750" cy="3175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2800" y="4993580"/>
            <a:ext cx="3488233" cy="718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ℓ −1.05:</a:t>
            </a: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casi igual con y sin el arreglo.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402634" y="4993580"/>
            <a:ext cx="3488335" cy="718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ℓ −0.48 y 0:</a:t>
            </a: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el SoC baja (~0.80 → 0.67 y ~0.41 → 0.31): la difusión ya no va 1.40× más rápido.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992566" y="4993580"/>
            <a:ext cx="3488233" cy="718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A8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 abierta:</a:t>
            </a:r>
            <a:r>
              <a:rPr lang="en-US" sz="1300" dirty="0">
                <a:solidFill>
                  <a:srgbClr val="A8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corregido, el KMC queda más lejos del continuo (0.88 y 0.66).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00" kern="0" dirty="0">
                <a:solidFill>
                  <a:srgbClr val="D96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2 · ANTES, EL TIEMPO NOMINAL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008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tiempo nominal: capacidad / corriente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67780"/>
            <a:ext cx="5168900" cy="1229221"/>
          </a:xfrm>
          <a:prstGeom prst="roundRect">
            <a:avLst>
              <a:gd name="adj" fmla="val 7232"/>
            </a:avLst>
          </a:prstGeom>
          <a:solidFill>
            <a:srgbClr val="15233B"/>
          </a:solidFill>
          <a:ln/>
        </p:spPr>
      </p:sp>
      <p:sp>
        <p:nvSpPr>
          <p:cNvPr id="5" name="Text 3"/>
          <p:cNvSpPr/>
          <p:nvPr/>
        </p:nvSpPr>
        <p:spPr>
          <a:xfrm>
            <a:off x="1016000" y="1970980"/>
            <a:ext cx="4905375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F6F5F0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t_nominal = capacidad / corriente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16000" y="2331641"/>
            <a:ext cx="4905375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BFC9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Cuánto tardaría en llenarse el electrodo si todo lo que se empuja entrara. Botella de 1 litro, 1 litro por hora → 1 hora.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91250" y="1774130"/>
            <a:ext cx="5181600" cy="1216521"/>
          </a:xfrm>
          <a:prstGeom prst="roundRect">
            <a:avLst>
              <a:gd name="adj" fmla="val 6786"/>
            </a:avLst>
          </a:prstGeom>
          <a:solidFill>
            <a:srgbClr val="FFFFFF"/>
          </a:solidFill>
          <a:ln w="12700">
            <a:solidFill>
              <a:srgbClr val="D5D9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983680"/>
            <a:ext cx="490537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C-rate:</a:t>
            </a: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0.1C → 10 h · 1C → 1 h · 2C → 30 min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0" y="2290961"/>
            <a:ext cx="4905375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KMC la C-rate sale de ℓ: </a:t>
            </a:r>
            <a:r>
              <a:rPr lang="en-US" sz="1300" b="1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ℓ alto = corriente alta = tiempo nominal corto</a:t>
            </a: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Por eso las corridas de ℓ bajo tardan días.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12800" y="3200202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tiempo nominal se parte en 200 intervalos; al final de cada uno se escribe una fila de datos.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12800" y="3536652"/>
            <a:ext cx="10033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56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normal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866900" y="3512542"/>
            <a:ext cx="3888482" cy="279400"/>
          </a:xfrm>
          <a:custGeom>
            <a:avLst/>
            <a:gdLst/>
            <a:ahLst/>
            <a:cxnLst/>
            <a:rect l="l" t="t" r="r" b="b"/>
            <a:pathLst>
              <a:path w="3888482" h="279400">
                <a:moveTo>
                  <a:pt x="50800" y="0"/>
                </a:moveTo>
                <a:lnTo>
                  <a:pt x="3888482" y="0"/>
                </a:lnTo>
                <a:lnTo>
                  <a:pt x="3888482" y="279400"/>
                </a:lnTo>
                <a:lnTo>
                  <a:pt x="50800" y="27940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close/>
              </a:path>
            </a:pathLst>
          </a:custGeom>
          <a:solidFill>
            <a:srgbClr val="2563A6"/>
          </a:solidFill>
          <a:ln/>
        </p:spPr>
      </p:sp>
      <p:sp>
        <p:nvSpPr>
          <p:cNvPr id="13" name="Text 11"/>
          <p:cNvSpPr/>
          <p:nvPr/>
        </p:nvSpPr>
        <p:spPr>
          <a:xfrm>
            <a:off x="5856982" y="3507482"/>
            <a:ext cx="1202630" cy="289520"/>
          </a:xfrm>
          <a:prstGeom prst="roundRect">
            <a:avLst>
              <a:gd name="adj" fmla="val 17546"/>
            </a:avLst>
          </a:prstGeom>
          <a:solidFill>
            <a:srgbClr val="F0A35E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corte: SoC 0.6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161213" y="3512542"/>
            <a:ext cx="2592388" cy="279400"/>
          </a:xfrm>
          <a:custGeom>
            <a:avLst/>
            <a:gdLst/>
            <a:ahLst/>
            <a:cxnLst/>
            <a:rect l="l" t="t" r="r" b="b"/>
            <a:pathLst>
              <a:path w="2592388" h="279400">
                <a:moveTo>
                  <a:pt x="0" y="0"/>
                </a:moveTo>
                <a:lnTo>
                  <a:pt x="2541588" y="0"/>
                </a:lnTo>
                <a:arcTo hR="50800" wR="50800" stAng="16200000" swAng="5400000"/>
                <a:lnTo>
                  <a:pt x="2592388" y="228600"/>
                </a:lnTo>
                <a:arcTo hR="50800" wR="50800" stAng="0" swAng="5400000"/>
                <a:lnTo>
                  <a:pt x="0" y="279400"/>
                </a:lnTo>
                <a:lnTo>
                  <a:pt x="0" y="0"/>
                </a:lnTo>
                <a:close/>
              </a:path>
            </a:pathLst>
          </a:custGeom>
          <a:solidFill>
            <a:srgbClr val="DCE1E8"/>
          </a:solidFill>
          <a:ln/>
        </p:spPr>
      </p:sp>
      <p:sp>
        <p:nvSpPr>
          <p:cNvPr id="15" name="Text 13"/>
          <p:cNvSpPr/>
          <p:nvPr/>
        </p:nvSpPr>
        <p:spPr>
          <a:xfrm>
            <a:off x="9855200" y="3545582"/>
            <a:ext cx="1574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 nominal (200)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12800" y="3897313"/>
            <a:ext cx="10033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A8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raro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866900" y="3873202"/>
            <a:ext cx="6642100" cy="279400"/>
          </a:xfrm>
          <a:prstGeom prst="roundRect">
            <a:avLst>
              <a:gd name="adj" fmla="val 18182"/>
            </a:avLst>
          </a:prstGeom>
          <a:solidFill>
            <a:srgbClr val="2563A6"/>
          </a:solidFill>
          <a:ln/>
        </p:spPr>
      </p:sp>
      <p:sp>
        <p:nvSpPr>
          <p:cNvPr id="18" name="Shape 16"/>
          <p:cNvSpPr/>
          <p:nvPr/>
        </p:nvSpPr>
        <p:spPr>
          <a:xfrm>
            <a:off x="8620125" y="3882727"/>
            <a:ext cx="1123950" cy="260350"/>
          </a:xfrm>
          <a:prstGeom prst="roundRect">
            <a:avLst>
              <a:gd name="adj" fmla="val 15854"/>
            </a:avLst>
          </a:prstGeom>
          <a:noFill/>
          <a:ln w="19050">
            <a:solidFill>
              <a:srgbClr val="D9661F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9855200" y="3906242"/>
            <a:ext cx="1574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A8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201, 202… → NaN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12800" y="4228802"/>
            <a:ext cx="10566400" cy="690761"/>
          </a:xfrm>
          <a:prstGeom prst="roundRect">
            <a:avLst>
              <a:gd name="adj" fmla="val 7354"/>
            </a:avLst>
          </a:prstGeom>
          <a:solidFill>
            <a:srgbClr val="FFF4EA"/>
          </a:solidFill>
          <a:ln/>
        </p:spPr>
        <p:txBody>
          <a:bodyPr wrap="square" lIns="175621" tIns="99421" rIns="0" bIns="74021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binario corregido, </a:t>
            </a:r>
            <a:r>
              <a:rPr lang="en-US" sz="1300" b="1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de 153</a:t>
            </a:r>
            <a:r>
              <a:rPr lang="en-US" sz="1300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corridas llegan al tiempo nominal con SoC 0.87–0.97 y E ≈ +0.03 V (corte: −0.149 V). Si todo lo empujado hubiera entrado, el SoC sería 1 y ya habría cortado: </a:t>
            </a:r>
            <a:r>
              <a:rPr lang="en-US" sz="1300" b="1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entró menos de lo que dice la corriente</a:t>
            </a:r>
            <a:r>
              <a:rPr lang="en-US" sz="1300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12800" y="4228802"/>
            <a:ext cx="10566400" cy="690761"/>
          </a:xfrm>
          <a:custGeom>
            <a:avLst/>
            <a:gdLst/>
            <a:ahLst/>
            <a:cxnLst/>
            <a:rect l="l" t="t" r="r" b="b"/>
            <a:pathLst>
              <a:path w="10566400" h="690761">
                <a:moveTo>
                  <a:pt x="50800" y="690761"/>
                </a:moveTo>
                <a:lnTo>
                  <a:pt x="50800" y="690761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50800" y="0"/>
                </a:lnTo>
                <a:arcTo hR="50800" wR="12700" stAng="16200000" swAng="-5400000"/>
                <a:lnTo>
                  <a:pt x="38100" y="639961"/>
                </a:lnTo>
                <a:arcTo hR="50800" wR="12700" stAng="10800000" swAng="-5400000"/>
                <a:close/>
              </a:path>
            </a:pathLst>
          </a:custGeom>
          <a:solidFill>
            <a:srgbClr val="D9661F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00" kern="0" dirty="0">
                <a:solidFill>
                  <a:srgbClr val="D96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2 · NUMÉRICO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0080"/>
            <a:ext cx="10883392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Pasado el tiempo nominal, el código escribía fuera del arreglo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223768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arreglo de resultados: 200 intervalos, hasta el tiempo nominal (cuando la corriente ya entregó la capacidad total)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12800" y="2546152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50800" y="0"/>
                </a:moveTo>
                <a:lnTo>
                  <a:pt x="482600" y="0"/>
                </a:lnTo>
                <a:arcTo hR="50800" wR="50800" stAng="16200000" swAng="5400000"/>
                <a:lnTo>
                  <a:pt x="533400" y="482600"/>
                </a:lnTo>
                <a:arcTo hR="50800" wR="50800" stAng="0" swAng="5400000"/>
                <a:lnTo>
                  <a:pt x="50800" y="53340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close/>
              </a:path>
            </a:pathLst>
          </a:custGeom>
          <a:solidFill>
            <a:srgbClr val="2563A6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4160"/>
              </a:lnSpc>
              <a:buNone/>
            </a:pPr>
            <a:r>
              <a:rPr lang="en-US" sz="1300" b="1" dirty="0">
                <a:solidFill>
                  <a:srgbClr val="F6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97000" y="2546152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50800" y="0"/>
                </a:moveTo>
                <a:lnTo>
                  <a:pt x="482600" y="0"/>
                </a:lnTo>
                <a:arcTo hR="50800" wR="50800" stAng="16200000" swAng="5400000"/>
                <a:lnTo>
                  <a:pt x="533400" y="482600"/>
                </a:lnTo>
                <a:arcTo hR="50800" wR="50800" stAng="0" swAng="5400000"/>
                <a:lnTo>
                  <a:pt x="50800" y="53340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close/>
              </a:path>
            </a:pathLst>
          </a:custGeom>
          <a:solidFill>
            <a:srgbClr val="2563A6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4160"/>
              </a:lnSpc>
              <a:buNone/>
            </a:pPr>
            <a:r>
              <a:rPr lang="en-US" sz="1300" b="1" dirty="0">
                <a:solidFill>
                  <a:srgbClr val="F6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981200" y="2546152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50800" y="0"/>
                </a:moveTo>
                <a:lnTo>
                  <a:pt x="482600" y="0"/>
                </a:lnTo>
                <a:arcTo hR="50800" wR="50800" stAng="16200000" swAng="5400000"/>
                <a:lnTo>
                  <a:pt x="533400" y="482600"/>
                </a:lnTo>
                <a:arcTo hR="50800" wR="50800" stAng="0" swAng="5400000"/>
                <a:lnTo>
                  <a:pt x="50800" y="53340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close/>
              </a:path>
            </a:pathLst>
          </a:custGeom>
          <a:solidFill>
            <a:srgbClr val="2563A6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4160"/>
              </a:lnSpc>
              <a:buNone/>
            </a:pPr>
            <a:r>
              <a:rPr lang="en-US" sz="1300" b="1" dirty="0">
                <a:solidFill>
                  <a:srgbClr val="F6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65400" y="2546152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50800" y="0"/>
                </a:moveTo>
                <a:lnTo>
                  <a:pt x="482600" y="0"/>
                </a:lnTo>
                <a:arcTo hR="50800" wR="50800" stAng="16200000" swAng="5400000"/>
                <a:lnTo>
                  <a:pt x="533400" y="482600"/>
                </a:lnTo>
                <a:arcTo hR="50800" wR="50800" stAng="0" swAng="5400000"/>
                <a:lnTo>
                  <a:pt x="50800" y="53340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close/>
              </a:path>
            </a:pathLst>
          </a:custGeom>
          <a:solidFill>
            <a:srgbClr val="DCE6F2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4160"/>
              </a:lnSpc>
              <a:buNone/>
            </a:pPr>
            <a:r>
              <a:rPr lang="en-US" sz="1300" b="1" dirty="0">
                <a:solidFill>
                  <a:srgbClr val="256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149600" y="2546152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50800" y="0"/>
                </a:moveTo>
                <a:lnTo>
                  <a:pt x="482600" y="0"/>
                </a:lnTo>
                <a:arcTo hR="50800" wR="50800" stAng="16200000" swAng="5400000"/>
                <a:lnTo>
                  <a:pt x="533400" y="482600"/>
                </a:lnTo>
                <a:arcTo hR="50800" wR="50800" stAng="0" swAng="5400000"/>
                <a:lnTo>
                  <a:pt x="50800" y="53340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close/>
              </a:path>
            </a:pathLst>
          </a:custGeom>
          <a:solidFill>
            <a:srgbClr val="2563A6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4160"/>
              </a:lnSpc>
              <a:buNone/>
            </a:pPr>
            <a:r>
              <a:rPr lang="en-US" sz="1300" b="1" dirty="0">
                <a:solidFill>
                  <a:srgbClr val="F6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198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733800" y="2546152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50800" y="0"/>
                </a:moveTo>
                <a:lnTo>
                  <a:pt x="482600" y="0"/>
                </a:lnTo>
                <a:arcTo hR="50800" wR="50800" stAng="16200000" swAng="5400000"/>
                <a:lnTo>
                  <a:pt x="533400" y="482600"/>
                </a:lnTo>
                <a:arcTo hR="50800" wR="50800" stAng="0" swAng="5400000"/>
                <a:lnTo>
                  <a:pt x="50800" y="53340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close/>
              </a:path>
            </a:pathLst>
          </a:custGeom>
          <a:solidFill>
            <a:srgbClr val="2563A6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4160"/>
              </a:lnSpc>
              <a:buNone/>
            </a:pPr>
            <a:r>
              <a:rPr lang="en-US" sz="1300" b="1" dirty="0">
                <a:solidFill>
                  <a:srgbClr val="F6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27525" y="2555677"/>
            <a:ext cx="514350" cy="514350"/>
          </a:xfrm>
          <a:custGeom>
            <a:avLst/>
            <a:gdLst/>
            <a:ahLst/>
            <a:cxnLst/>
            <a:rect l="l" t="t" r="r" b="b"/>
            <a:pathLst>
              <a:path w="514350" h="514350">
                <a:moveTo>
                  <a:pt x="41275" y="0"/>
                </a:moveTo>
                <a:lnTo>
                  <a:pt x="473075" y="0"/>
                </a:lnTo>
                <a:arcTo hR="41275" wR="41275" stAng="16200000" swAng="5400000"/>
                <a:lnTo>
                  <a:pt x="514350" y="473075"/>
                </a:lnTo>
                <a:arcTo hR="41275" wR="41275" stAng="0" swAng="5400000"/>
                <a:lnTo>
                  <a:pt x="41275" y="514350"/>
                </a:lnTo>
                <a:arcTo hR="41275" wR="41275" stAng="5400000" swAng="5400000"/>
                <a:lnTo>
                  <a:pt x="0" y="41275"/>
                </a:lnTo>
                <a:arcTo hR="41275" wR="41275" stAng="10800000" swAng="5400000"/>
                <a:close/>
              </a:path>
            </a:pathLst>
          </a:custGeom>
          <a:noFill/>
          <a:ln w="19050">
            <a:solidFill>
              <a:srgbClr val="D9661F"/>
            </a:solidFill>
            <a:prstDash val="dash"/>
          </a:ln>
        </p:spPr>
        <p:txBody>
          <a:bodyPr wrap="square" lIns="0" tIns="9525" rIns="0" bIns="0" rtlCol="0" anchor="t">
            <a:normAutofit/>
          </a:bodyPr>
          <a:lstStyle/>
          <a:p>
            <a:pPr algn="ctr" indent="0" marL="0">
              <a:lnSpc>
                <a:spcPts val="3900"/>
              </a:lnSpc>
              <a:buNone/>
            </a:pPr>
            <a:r>
              <a:rPr lang="en-US" sz="1300" b="1" dirty="0">
                <a:solidFill>
                  <a:srgbClr val="A8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11725" y="2555677"/>
            <a:ext cx="514350" cy="514350"/>
          </a:xfrm>
          <a:custGeom>
            <a:avLst/>
            <a:gdLst/>
            <a:ahLst/>
            <a:cxnLst/>
            <a:rect l="l" t="t" r="r" b="b"/>
            <a:pathLst>
              <a:path w="514350" h="514350">
                <a:moveTo>
                  <a:pt x="41275" y="0"/>
                </a:moveTo>
                <a:lnTo>
                  <a:pt x="473075" y="0"/>
                </a:lnTo>
                <a:arcTo hR="41275" wR="41275" stAng="16200000" swAng="5400000"/>
                <a:lnTo>
                  <a:pt x="514350" y="473075"/>
                </a:lnTo>
                <a:arcTo hR="41275" wR="41275" stAng="0" swAng="5400000"/>
                <a:lnTo>
                  <a:pt x="41275" y="514350"/>
                </a:lnTo>
                <a:arcTo hR="41275" wR="41275" stAng="5400000" swAng="5400000"/>
                <a:lnTo>
                  <a:pt x="0" y="41275"/>
                </a:lnTo>
                <a:arcTo hR="41275" wR="41275" stAng="10800000" swAng="5400000"/>
                <a:close/>
              </a:path>
            </a:pathLst>
          </a:custGeom>
          <a:noFill/>
          <a:ln w="19050">
            <a:solidFill>
              <a:srgbClr val="D9661F"/>
            </a:solidFill>
            <a:prstDash val="dash"/>
          </a:ln>
        </p:spPr>
        <p:txBody>
          <a:bodyPr wrap="square" lIns="0" tIns="9525" rIns="0" bIns="0" rtlCol="0" anchor="t">
            <a:normAutofit/>
          </a:bodyPr>
          <a:lstStyle/>
          <a:p>
            <a:pPr algn="ctr" indent="0" marL="0">
              <a:lnSpc>
                <a:spcPts val="3900"/>
              </a:lnSpc>
              <a:buNone/>
            </a:pPr>
            <a:r>
              <a:rPr lang="en-US" sz="1300" b="1" dirty="0">
                <a:solidFill>
                  <a:srgbClr val="A8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95925" y="2555677"/>
            <a:ext cx="514350" cy="514350"/>
          </a:xfrm>
          <a:custGeom>
            <a:avLst/>
            <a:gdLst/>
            <a:ahLst/>
            <a:cxnLst/>
            <a:rect l="l" t="t" r="r" b="b"/>
            <a:pathLst>
              <a:path w="514350" h="514350">
                <a:moveTo>
                  <a:pt x="41275" y="0"/>
                </a:moveTo>
                <a:lnTo>
                  <a:pt x="473075" y="0"/>
                </a:lnTo>
                <a:arcTo hR="41275" wR="41275" stAng="16200000" swAng="5400000"/>
                <a:lnTo>
                  <a:pt x="514350" y="473075"/>
                </a:lnTo>
                <a:arcTo hR="41275" wR="41275" stAng="0" swAng="5400000"/>
                <a:lnTo>
                  <a:pt x="41275" y="514350"/>
                </a:lnTo>
                <a:arcTo hR="41275" wR="41275" stAng="5400000" swAng="5400000"/>
                <a:lnTo>
                  <a:pt x="0" y="41275"/>
                </a:lnTo>
                <a:arcTo hR="41275" wR="41275" stAng="10800000" swAng="5400000"/>
                <a:close/>
              </a:path>
            </a:pathLst>
          </a:custGeom>
          <a:noFill/>
          <a:ln w="19050">
            <a:solidFill>
              <a:srgbClr val="D9661F"/>
            </a:solidFill>
            <a:prstDash val="dash"/>
          </a:ln>
        </p:spPr>
        <p:txBody>
          <a:bodyPr wrap="square" lIns="0" tIns="9525" rIns="0" bIns="0" rtlCol="0" anchor="t">
            <a:normAutofit/>
          </a:bodyPr>
          <a:lstStyle/>
          <a:p>
            <a:pPr algn="ctr" indent="0" marL="0">
              <a:lnSpc>
                <a:spcPts val="3900"/>
              </a:lnSpc>
              <a:buNone/>
            </a:pPr>
            <a:r>
              <a:rPr lang="en-US" sz="1300" b="1" dirty="0">
                <a:solidFill>
                  <a:srgbClr val="A8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</a:t>
            </a:r>
            <a:endParaRPr lang="en-US" sz="1300" dirty="0"/>
          </a:p>
        </p:txBody>
      </p:sp>
      <p:pic>
        <p:nvPicPr>
          <p:cNvPr id="14" name="Image 0" descr="connecto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70600" y="2749352"/>
            <a:ext cx="508000" cy="1270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6629400" y="2544961"/>
            <a:ext cx="4749800" cy="535880"/>
          </a:xfrm>
          <a:prstGeom prst="roundRect">
            <a:avLst>
              <a:gd name="adj" fmla="val 9480"/>
            </a:avLst>
          </a:prstGeom>
          <a:solidFill>
            <a:srgbClr val="EAE8E0"/>
          </a:solidFill>
          <a:ln/>
        </p:spPr>
        <p:txBody>
          <a:bodyPr wrap="square" lIns="137521" tIns="137521" rIns="4171" bIns="112121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otras variables de la memoria (se pisan)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12800" y="3411041"/>
            <a:ext cx="348823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pasaba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12800" y="3690441"/>
            <a:ext cx="3488233" cy="11808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la corrida no tocaba el corte antes del tiempo nominal, seguía escribiendo en 200, 201… A los ~6 intervalos μ quedaba en NaN, el while terminaba y la corrida figuraba como terminada.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402634" y="3411041"/>
            <a:ext cx="348833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Consecuencia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402634" y="3690441"/>
            <a:ext cx="3488335" cy="9497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acá salen todos los NaN y las filas basura del final (41 de 67 corridas revisadas). El lector ya las descarta. </a:t>
            </a:r>
            <a:r>
              <a:rPr lang="en-US" sz="1300" b="1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causa el SoC ≈ 0</a:t>
            </a: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ese ya era 0 antes.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992566" y="3411041"/>
            <a:ext cx="348823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A8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Arreglo: pendiente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992566" y="3690441"/>
            <a:ext cx="3488233" cy="718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Agrandar el arreglo y poner un tope, como el continuo, que corre hasta el corte sin límite de tiempo. No está en el binario actual.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E8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00" kern="0" dirty="0">
                <a:solidFill>
                  <a:srgbClr val="D96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DÓNDE ESTAMOS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008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 corre todo con los arreglos 1 y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869380"/>
            <a:ext cx="5130800" cy="853380"/>
          </a:xfrm>
          <a:prstGeom prst="roundRect">
            <a:avLst>
              <a:gd name="adj" fmla="val 10417"/>
            </a:avLst>
          </a:prstGeom>
          <a:solidFill>
            <a:srgbClr val="F6F5F0"/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2047180"/>
            <a:ext cx="491845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Crudo 64×64, g = −4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90600" y="2313880"/>
            <a:ext cx="4918456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~5 % terminado; faltan ~45 h (log ℓ ≥ −2.5).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12800" y="2849761"/>
            <a:ext cx="5130800" cy="1084461"/>
          </a:xfrm>
          <a:prstGeom prst="roundRect">
            <a:avLst>
              <a:gd name="adj" fmla="val 8198"/>
            </a:avLst>
          </a:prstGeom>
          <a:solidFill>
            <a:srgbClr val="F6F5F0"/>
          </a:solidFill>
          <a:ln/>
        </p:spPr>
      </p:sp>
      <p:sp>
        <p:nvSpPr>
          <p:cNvPr id="8" name="Text 6"/>
          <p:cNvSpPr/>
          <p:nvPr/>
        </p:nvSpPr>
        <p:spPr>
          <a:xfrm>
            <a:off x="990600" y="3027561"/>
            <a:ext cx="491845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Reconstrucción de los 13 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90600" y="3294261"/>
            <a:ext cx="4918456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Relanzada desde cero con el binario corregido (96 puntos por g). En cola: arranca cuando termine el crudo.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2800" y="4061222"/>
            <a:ext cx="5130800" cy="1084461"/>
          </a:xfrm>
          <a:prstGeom prst="roundRect">
            <a:avLst>
              <a:gd name="adj" fmla="val 8198"/>
            </a:avLst>
          </a:prstGeom>
          <a:solidFill>
            <a:srgbClr val="F6F5F0"/>
          </a:solidFill>
          <a:ln/>
        </p:spPr>
      </p:sp>
      <p:sp>
        <p:nvSpPr>
          <p:cNvPr id="11" name="Text 9"/>
          <p:cNvSpPr/>
          <p:nvPr/>
        </p:nvSpPr>
        <p:spPr>
          <a:xfrm>
            <a:off x="990600" y="4239022"/>
            <a:ext cx="491845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Mapas anteriores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90600" y="4505722"/>
            <a:ext cx="4918456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Siguen guardados, pero tienen los dos errores: sirven para comparar, no como resultado.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248400" y="1869380"/>
            <a:ext cx="5284724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Preguntas para hoy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304657" y="2255441"/>
            <a:ext cx="5220847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97743" indent="-197743">
              <a:lnSpc>
                <a:spcPts val="2100"/>
              </a:lnSpc>
              <a:buSzPct val="100000"/>
              <a:buFontTx/>
              <a:buAutoNum type="arabicPeriod" startAt="1"/>
            </a:pPr>
            <a:r>
              <a:rPr lang="en-US" sz="14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Corregido, el KMC queda más lejos del continuo en ℓ alto. ¿Es física del KMC o hay algo más?</a:t>
            </a:r>
            <a:endParaRPr lang="en-US" sz="1400" dirty="0"/>
          </a:p>
          <a:p>
            <a:pPr algn="l" marL="197743" indent="-197743">
              <a:lnSpc>
                <a:spcPts val="2100"/>
              </a:lnSpc>
              <a:buSzPct val="100000"/>
              <a:buFontTx/>
              <a:buAutoNum type="arabicPeriod" startAt="1"/>
            </a:pPr>
            <a:r>
              <a:rPr lang="en-US" sz="14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¿La descarga termina por potencial de corte o por tiempo nominal? (error 2)</a:t>
            </a:r>
            <a:endParaRPr lang="en-US" sz="1400" dirty="0"/>
          </a:p>
          <a:p>
            <a:pPr algn="l" marL="197743" indent="-197743">
              <a:lnSpc>
                <a:spcPts val="2100"/>
              </a:lnSpc>
              <a:buSzPct val="100000"/>
              <a:buFontTx/>
              <a:buAutoNum type="arabicPeriod" startAt="1"/>
            </a:pPr>
            <a:r>
              <a:rPr lang="en-US" sz="1400" dirty="0">
                <a:solidFill>
                  <a:srgbClr val="3E4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¿Vale la pena correr la zona de ℓ bajo (días por punto) con el binario corregido?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rrores del KMC">
  <a:themeElements>
    <a:clrScheme name="Errores del KMC">
      <a:dk1>
        <a:srgbClr val="15233B"/>
      </a:dk1>
      <a:lt1>
        <a:srgbClr val="F6F5F0"/>
      </a:lt1>
      <a:dk2>
        <a:srgbClr val="4D5868"/>
      </a:dk2>
      <a:lt2>
        <a:srgbClr val="E0E0DE"/>
      </a:lt2>
      <a:accent1>
        <a:srgbClr val="2563A6"/>
      </a:accent1>
      <a:accent2>
        <a:srgbClr val="D9661F"/>
      </a:accent2>
      <a:accent3>
        <a:srgbClr val="A8480E"/>
      </a:accent3>
      <a:accent4>
        <a:srgbClr val="5B6B82"/>
      </a:accent4>
      <a:accent5>
        <a:srgbClr val="F0A35E"/>
      </a:accent5>
      <a:accent6>
        <a:srgbClr val="2B4A72"/>
      </a:accent6>
      <a:hlink>
        <a:srgbClr val="0563C1"/>
      </a:hlink>
      <a:folHlink>
        <a:srgbClr val="954F72"/>
      </a:folHlink>
    </a:clrScheme>
    <a:fontScheme name="Errores del KMC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Errores del KMC</dc:title>
  <dc:subject/>
  <dc:creator/>
  <cp:lastModifiedBy/>
  <cp:revision>1</cp:revision>
  <dcterms:created xsi:type="dcterms:W3CDTF">2026-10-19T14:37:11Z</dcterms:created>
  <dcterms:modified xsi:type="dcterms:W3CDTF">2026-10-19T14:37:11Z</dcterms:modified>
</cp:coreProperties>
</file>