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26.xml" ContentType="application/vnd.openxmlformats-officedocument.presentationml.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4.xml" ContentType="application/vnd.openxmlformats-officedocument.presentationml.slide+xml"/>
  <Override PartName="/ppt/slides/slide25.xml" ContentType="application/vnd.openxmlformats-officedocument.presentationml.slide+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27.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3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12188952"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notesMaster" Target="notesMasters/notesMaster1.xml"/><Relationship Id="rId32" Type="http://schemas.openxmlformats.org/officeDocument/2006/relationships/presProps" Target="presProps.xml" /><Relationship Id="rId33" Type="http://schemas.openxmlformats.org/officeDocument/2006/relationships/tableStyles" Target="tableStyles.xml" /><Relationship Id="rId3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13223168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52434348"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2084779489"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73543736"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273178787"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008465125"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6628590" name="Slide Image Placeholder 1"/>
          <p:cNvSpPr>
            <a:spLocks noChangeAspect="1" noGrp="1" noRot="1"/>
          </p:cNvSpPr>
          <p:nvPr>
            <p:ph type="sldImg"/>
          </p:nvPr>
        </p:nvSpPr>
        <p:spPr bwMode="auto"/>
      </p:sp>
      <p:sp>
        <p:nvSpPr>
          <p:cNvPr id="886547218" name="Notes Placeholder 2"/>
          <p:cNvSpPr>
            <a:spLocks noGrp="1"/>
          </p:cNvSpPr>
          <p:nvPr>
            <p:ph type="body" idx="1"/>
          </p:nvPr>
        </p:nvSpPr>
        <p:spPr bwMode="auto"/>
        <p:txBody>
          <a:bodyPr/>
          <a:lstStyle/>
          <a:p>
            <a:pPr>
              <a:defRPr/>
            </a:pPr>
            <a:endParaRPr/>
          </a:p>
        </p:txBody>
      </p:sp>
      <p:sp>
        <p:nvSpPr>
          <p:cNvPr id="605122795" name="Slide Number Placeholder 3"/>
          <p:cNvSpPr>
            <a:spLocks noGrp="1"/>
          </p:cNvSpPr>
          <p:nvPr>
            <p:ph type="sldNum" sz="quarter" idx="10"/>
          </p:nvPr>
        </p:nvSpPr>
        <p:spPr bwMode="auto"/>
        <p:txBody>
          <a:bodyPr/>
          <a:lstStyle/>
          <a:p>
            <a:pPr>
              <a:defRPr/>
            </a:pPr>
            <a:fld id="{C8222F2C-E4AE-823B-FBEA-A6BB6F58193A}"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0245073" name="Slide Image Placeholder 1"/>
          <p:cNvSpPr>
            <a:spLocks noChangeAspect="1" noGrp="1" noRot="1"/>
          </p:cNvSpPr>
          <p:nvPr>
            <p:ph type="sldImg"/>
          </p:nvPr>
        </p:nvSpPr>
        <p:spPr bwMode="auto"/>
      </p:sp>
      <p:sp>
        <p:nvSpPr>
          <p:cNvPr id="1690610345" name="Notes Placeholder 2"/>
          <p:cNvSpPr>
            <a:spLocks noGrp="1"/>
          </p:cNvSpPr>
          <p:nvPr>
            <p:ph type="body" idx="1"/>
          </p:nvPr>
        </p:nvSpPr>
        <p:spPr bwMode="auto"/>
        <p:txBody>
          <a:bodyPr/>
          <a:lstStyle/>
          <a:p>
            <a:pPr>
              <a:defRPr/>
            </a:pPr>
            <a:endParaRPr/>
          </a:p>
        </p:txBody>
      </p:sp>
      <p:sp>
        <p:nvSpPr>
          <p:cNvPr id="186878682" name="Slide Number Placeholder 3"/>
          <p:cNvSpPr>
            <a:spLocks noGrp="1"/>
          </p:cNvSpPr>
          <p:nvPr>
            <p:ph type="sldNum" sz="quarter" idx="10"/>
          </p:nvPr>
        </p:nvSpPr>
        <p:spPr bwMode="auto"/>
        <p:txBody>
          <a:bodyPr/>
          <a:lstStyle/>
          <a:p>
            <a:pPr>
              <a:defRPr/>
            </a:pPr>
            <a:fld id="{5F02E4D4-33A7-8904-16EF-370952BD4C73}"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7544078" name="Slide Image Placeholder 1"/>
          <p:cNvSpPr>
            <a:spLocks noChangeAspect="1" noGrp="1" noRot="1"/>
          </p:cNvSpPr>
          <p:nvPr>
            <p:ph type="sldImg"/>
          </p:nvPr>
        </p:nvSpPr>
        <p:spPr bwMode="auto"/>
      </p:sp>
      <p:sp>
        <p:nvSpPr>
          <p:cNvPr id="1967938267" name="Notes Placeholder 2"/>
          <p:cNvSpPr>
            <a:spLocks noGrp="1"/>
          </p:cNvSpPr>
          <p:nvPr>
            <p:ph type="body" idx="1"/>
          </p:nvPr>
        </p:nvSpPr>
        <p:spPr bwMode="auto"/>
        <p:txBody>
          <a:bodyPr/>
          <a:lstStyle/>
          <a:p>
            <a:pPr>
              <a:defRPr/>
            </a:pPr>
            <a:endParaRPr/>
          </a:p>
        </p:txBody>
      </p:sp>
      <p:sp>
        <p:nvSpPr>
          <p:cNvPr id="1835765844" name="Slide Number Placeholder 3"/>
          <p:cNvSpPr>
            <a:spLocks noGrp="1"/>
          </p:cNvSpPr>
          <p:nvPr>
            <p:ph type="sldNum" sz="quarter" idx="10"/>
          </p:nvPr>
        </p:nvSpPr>
        <p:spPr bwMode="auto"/>
        <p:txBody>
          <a:bodyPr/>
          <a:lstStyle/>
          <a:p>
            <a:pPr>
              <a:defRPr/>
            </a:pPr>
            <a:fld id="{8C0E5A09-4ECC-7C2C-013A-DC7FEBA8F8BF}"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30700284" name="Slide Image Placeholder 1"/>
          <p:cNvSpPr>
            <a:spLocks noChangeAspect="1" noGrp="1" noRot="1"/>
          </p:cNvSpPr>
          <p:nvPr>
            <p:ph type="sldImg"/>
          </p:nvPr>
        </p:nvSpPr>
        <p:spPr bwMode="auto"/>
      </p:sp>
      <p:sp>
        <p:nvSpPr>
          <p:cNvPr id="1758035956" name="Notes Placeholder 2"/>
          <p:cNvSpPr>
            <a:spLocks noGrp="1"/>
          </p:cNvSpPr>
          <p:nvPr>
            <p:ph type="body" idx="1"/>
          </p:nvPr>
        </p:nvSpPr>
        <p:spPr bwMode="auto"/>
        <p:txBody>
          <a:bodyPr/>
          <a:lstStyle/>
          <a:p>
            <a:pPr>
              <a:defRPr/>
            </a:pPr>
            <a:endParaRPr/>
          </a:p>
        </p:txBody>
      </p:sp>
      <p:sp>
        <p:nvSpPr>
          <p:cNvPr id="438445712" name="Slide Number Placeholder 3"/>
          <p:cNvSpPr>
            <a:spLocks noGrp="1"/>
          </p:cNvSpPr>
          <p:nvPr>
            <p:ph type="sldNum" sz="quarter" idx="10"/>
          </p:nvPr>
        </p:nvSpPr>
        <p:spPr bwMode="auto"/>
        <p:txBody>
          <a:bodyPr/>
          <a:lstStyle/>
          <a:p>
            <a:pPr>
              <a:defRPr/>
            </a:pPr>
            <a:fld id="{88666809-C687-B5FD-39DE-08034C1BD6C1}"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3877031" name="Slide Image Placeholder 1"/>
          <p:cNvSpPr>
            <a:spLocks noChangeAspect="1" noGrp="1" noRot="1"/>
          </p:cNvSpPr>
          <p:nvPr>
            <p:ph type="sldImg"/>
          </p:nvPr>
        </p:nvSpPr>
        <p:spPr bwMode="auto"/>
      </p:sp>
      <p:sp>
        <p:nvSpPr>
          <p:cNvPr id="428766210" name="Notes Placeholder 2"/>
          <p:cNvSpPr>
            <a:spLocks noGrp="1"/>
          </p:cNvSpPr>
          <p:nvPr>
            <p:ph type="body" idx="1"/>
          </p:nvPr>
        </p:nvSpPr>
        <p:spPr bwMode="auto"/>
        <p:txBody>
          <a:bodyPr/>
          <a:lstStyle/>
          <a:p>
            <a:pPr>
              <a:defRPr/>
            </a:pPr>
            <a:endParaRPr/>
          </a:p>
        </p:txBody>
      </p:sp>
      <p:sp>
        <p:nvSpPr>
          <p:cNvPr id="11246522" name="Slide Number Placeholder 3"/>
          <p:cNvSpPr>
            <a:spLocks noGrp="1"/>
          </p:cNvSpPr>
          <p:nvPr>
            <p:ph type="sldNum" sz="quarter" idx="10"/>
          </p:nvPr>
        </p:nvSpPr>
        <p:spPr bwMode="auto"/>
        <p:txBody>
          <a:bodyPr/>
          <a:lstStyle/>
          <a:p>
            <a:pPr>
              <a:defRPr/>
            </a:pPr>
            <a:fld id="{B1DE0A4A-65D1-F1D4-7585-0831ACB5581E}"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4082523" name="Slide Image Placeholder 1"/>
          <p:cNvSpPr>
            <a:spLocks noChangeAspect="1" noGrp="1" noRot="1"/>
          </p:cNvSpPr>
          <p:nvPr>
            <p:ph type="sldImg"/>
          </p:nvPr>
        </p:nvSpPr>
        <p:spPr bwMode="auto"/>
      </p:sp>
      <p:sp>
        <p:nvSpPr>
          <p:cNvPr id="1892247997" name="Notes Placeholder 2"/>
          <p:cNvSpPr>
            <a:spLocks noGrp="1"/>
          </p:cNvSpPr>
          <p:nvPr>
            <p:ph type="body" idx="1"/>
          </p:nvPr>
        </p:nvSpPr>
        <p:spPr bwMode="auto"/>
        <p:txBody>
          <a:bodyPr/>
          <a:lstStyle/>
          <a:p>
            <a:pPr>
              <a:defRPr/>
            </a:pPr>
            <a:endParaRPr/>
          </a:p>
        </p:txBody>
      </p:sp>
      <p:sp>
        <p:nvSpPr>
          <p:cNvPr id="796876365" name="Slide Number Placeholder 3"/>
          <p:cNvSpPr>
            <a:spLocks noGrp="1"/>
          </p:cNvSpPr>
          <p:nvPr>
            <p:ph type="sldNum" sz="quarter" idx="10"/>
          </p:nvPr>
        </p:nvSpPr>
        <p:spPr bwMode="auto"/>
        <p:txBody>
          <a:bodyPr/>
          <a:lstStyle/>
          <a:p>
            <a:pPr>
              <a:defRPr/>
            </a:pPr>
            <a:fld id="{BF6DB2E9-AA06-7B8D-5CCC-56CE5FF979C9}"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4593515" name="Slide Image Placeholder 1"/>
          <p:cNvSpPr>
            <a:spLocks noChangeAspect="1" noGrp="1" noRot="1"/>
          </p:cNvSpPr>
          <p:nvPr>
            <p:ph type="sldImg"/>
          </p:nvPr>
        </p:nvSpPr>
        <p:spPr bwMode="auto"/>
      </p:sp>
      <p:sp>
        <p:nvSpPr>
          <p:cNvPr id="314777573" name="Notes Placeholder 2"/>
          <p:cNvSpPr>
            <a:spLocks noGrp="1"/>
          </p:cNvSpPr>
          <p:nvPr>
            <p:ph type="body" idx="1"/>
          </p:nvPr>
        </p:nvSpPr>
        <p:spPr bwMode="auto"/>
        <p:txBody>
          <a:bodyPr/>
          <a:lstStyle/>
          <a:p>
            <a:pPr>
              <a:defRPr/>
            </a:pPr>
            <a:endParaRPr/>
          </a:p>
        </p:txBody>
      </p:sp>
      <p:sp>
        <p:nvSpPr>
          <p:cNvPr id="1612454789" name="Slide Number Placeholder 3"/>
          <p:cNvSpPr>
            <a:spLocks noGrp="1"/>
          </p:cNvSpPr>
          <p:nvPr>
            <p:ph type="sldNum" sz="quarter" idx="10"/>
          </p:nvPr>
        </p:nvSpPr>
        <p:spPr bwMode="auto"/>
        <p:txBody>
          <a:bodyPr/>
          <a:lstStyle/>
          <a:p>
            <a:pPr>
              <a:defRPr/>
            </a:pPr>
            <a:fld id="{17B34C20-228B-A927-3FE5-071DC82040C3}"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5440712" name="Slide Image Placeholder 1"/>
          <p:cNvSpPr>
            <a:spLocks noChangeAspect="1" noGrp="1" noRot="1"/>
          </p:cNvSpPr>
          <p:nvPr>
            <p:ph type="sldImg"/>
          </p:nvPr>
        </p:nvSpPr>
        <p:spPr bwMode="auto"/>
      </p:sp>
      <p:sp>
        <p:nvSpPr>
          <p:cNvPr id="36341397" name="Notes Placeholder 2"/>
          <p:cNvSpPr>
            <a:spLocks noGrp="1"/>
          </p:cNvSpPr>
          <p:nvPr>
            <p:ph type="body" idx="1"/>
          </p:nvPr>
        </p:nvSpPr>
        <p:spPr bwMode="auto"/>
        <p:txBody>
          <a:bodyPr/>
          <a:lstStyle/>
          <a:p>
            <a:pPr>
              <a:defRPr/>
            </a:pPr>
            <a:endParaRPr/>
          </a:p>
        </p:txBody>
      </p:sp>
      <p:sp>
        <p:nvSpPr>
          <p:cNvPr id="1312718640" name="Slide Number Placeholder 3"/>
          <p:cNvSpPr>
            <a:spLocks noGrp="1"/>
          </p:cNvSpPr>
          <p:nvPr>
            <p:ph type="sldNum" sz="quarter" idx="10"/>
          </p:nvPr>
        </p:nvSpPr>
        <p:spPr bwMode="auto"/>
        <p:txBody>
          <a:bodyPr/>
          <a:lstStyle/>
          <a:p>
            <a:pPr>
              <a:defRPr/>
            </a:pPr>
            <a:fld id="{535E0693-BB07-A1A9-C644-8619BDD89892}"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2480690" name="Slide Image Placeholder 1"/>
          <p:cNvSpPr>
            <a:spLocks noChangeAspect="1" noGrp="1" noRot="1"/>
          </p:cNvSpPr>
          <p:nvPr>
            <p:ph type="sldImg"/>
          </p:nvPr>
        </p:nvSpPr>
        <p:spPr bwMode="auto"/>
      </p:sp>
      <p:sp>
        <p:nvSpPr>
          <p:cNvPr id="2146323515" name="Notes Placeholder 2"/>
          <p:cNvSpPr>
            <a:spLocks noGrp="1"/>
          </p:cNvSpPr>
          <p:nvPr>
            <p:ph type="body" idx="1"/>
          </p:nvPr>
        </p:nvSpPr>
        <p:spPr bwMode="auto"/>
        <p:txBody>
          <a:bodyPr/>
          <a:lstStyle/>
          <a:p>
            <a:pPr>
              <a:defRPr/>
            </a:pPr>
            <a:endParaRPr/>
          </a:p>
        </p:txBody>
      </p:sp>
      <p:sp>
        <p:nvSpPr>
          <p:cNvPr id="598289647" name="Slide Number Placeholder 3"/>
          <p:cNvSpPr>
            <a:spLocks noGrp="1"/>
          </p:cNvSpPr>
          <p:nvPr>
            <p:ph type="sldNum" sz="quarter" idx="10"/>
          </p:nvPr>
        </p:nvSpPr>
        <p:spPr bwMode="auto"/>
        <p:txBody>
          <a:bodyPr/>
          <a:lstStyle/>
          <a:p>
            <a:pPr>
              <a:defRPr/>
            </a:pPr>
            <a:fld id="{EDC09432-99B0-459D-C68D-3D5DA3AF5560}"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9734338" name="Slide Image Placeholder 1"/>
          <p:cNvSpPr>
            <a:spLocks noChangeAspect="1" noGrp="1" noRot="1"/>
          </p:cNvSpPr>
          <p:nvPr>
            <p:ph type="sldImg"/>
          </p:nvPr>
        </p:nvSpPr>
        <p:spPr bwMode="auto"/>
      </p:sp>
      <p:sp>
        <p:nvSpPr>
          <p:cNvPr id="683898390" name="Notes Placeholder 2"/>
          <p:cNvSpPr>
            <a:spLocks noGrp="1"/>
          </p:cNvSpPr>
          <p:nvPr>
            <p:ph type="body" idx="1"/>
          </p:nvPr>
        </p:nvSpPr>
        <p:spPr bwMode="auto"/>
        <p:txBody>
          <a:bodyPr/>
          <a:lstStyle/>
          <a:p>
            <a:pPr>
              <a:defRPr/>
            </a:pPr>
            <a:endParaRPr/>
          </a:p>
        </p:txBody>
      </p:sp>
      <p:sp>
        <p:nvSpPr>
          <p:cNvPr id="2138688612" name="Slide Number Placeholder 3"/>
          <p:cNvSpPr>
            <a:spLocks noGrp="1"/>
          </p:cNvSpPr>
          <p:nvPr>
            <p:ph type="sldNum" sz="quarter" idx="10"/>
          </p:nvPr>
        </p:nvSpPr>
        <p:spPr bwMode="auto"/>
        <p:txBody>
          <a:bodyPr/>
          <a:lstStyle/>
          <a:p>
            <a:pPr>
              <a:defRPr/>
            </a:pPr>
            <a:fld id="{0B3C3F24-6828-5F8A-1698-D1AD4987E9DB}"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0361945" name="Slide Image Placeholder 1"/>
          <p:cNvSpPr>
            <a:spLocks noChangeAspect="1" noGrp="1" noRot="1"/>
          </p:cNvSpPr>
          <p:nvPr>
            <p:ph type="sldImg"/>
          </p:nvPr>
        </p:nvSpPr>
        <p:spPr bwMode="auto"/>
      </p:sp>
      <p:sp>
        <p:nvSpPr>
          <p:cNvPr id="1571074495" name="Notes Placeholder 2"/>
          <p:cNvSpPr>
            <a:spLocks noGrp="1"/>
          </p:cNvSpPr>
          <p:nvPr>
            <p:ph type="body" idx="1"/>
          </p:nvPr>
        </p:nvSpPr>
        <p:spPr bwMode="auto"/>
        <p:txBody>
          <a:bodyPr/>
          <a:lstStyle/>
          <a:p>
            <a:pPr>
              <a:defRPr/>
            </a:pPr>
            <a:endParaRPr/>
          </a:p>
        </p:txBody>
      </p:sp>
      <p:sp>
        <p:nvSpPr>
          <p:cNvPr id="1878736570" name="Slide Number Placeholder 3"/>
          <p:cNvSpPr>
            <a:spLocks noGrp="1"/>
          </p:cNvSpPr>
          <p:nvPr>
            <p:ph type="sldNum" sz="quarter" idx="10"/>
          </p:nvPr>
        </p:nvSpPr>
        <p:spPr bwMode="auto"/>
        <p:txBody>
          <a:bodyPr/>
          <a:lstStyle/>
          <a:p>
            <a:pPr>
              <a:defRPr/>
            </a:pPr>
            <a:fld id="{335DA2D5-CF66-39B8-A495-FA76BEEC2594}"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8910665" name="Slide Image Placeholder 1"/>
          <p:cNvSpPr>
            <a:spLocks noChangeAspect="1" noGrp="1" noRot="1"/>
          </p:cNvSpPr>
          <p:nvPr>
            <p:ph type="sldImg"/>
          </p:nvPr>
        </p:nvSpPr>
        <p:spPr bwMode="auto"/>
      </p:sp>
      <p:sp>
        <p:nvSpPr>
          <p:cNvPr id="1765102597" name="Notes Placeholder 2"/>
          <p:cNvSpPr>
            <a:spLocks noGrp="1"/>
          </p:cNvSpPr>
          <p:nvPr>
            <p:ph type="body" idx="1"/>
          </p:nvPr>
        </p:nvSpPr>
        <p:spPr bwMode="auto"/>
        <p:txBody>
          <a:bodyPr/>
          <a:lstStyle/>
          <a:p>
            <a:pPr>
              <a:defRPr/>
            </a:pPr>
            <a:endParaRPr/>
          </a:p>
        </p:txBody>
      </p:sp>
      <p:sp>
        <p:nvSpPr>
          <p:cNvPr id="1399169244" name="Slide Number Placeholder 3"/>
          <p:cNvSpPr>
            <a:spLocks noGrp="1"/>
          </p:cNvSpPr>
          <p:nvPr>
            <p:ph type="sldNum" sz="quarter" idx="10"/>
          </p:nvPr>
        </p:nvSpPr>
        <p:spPr bwMode="auto"/>
        <p:txBody>
          <a:bodyPr/>
          <a:lstStyle/>
          <a:p>
            <a:pPr>
              <a:defRPr/>
            </a:pPr>
            <a:fld id="{71B93F31-42D9-EAC9-ADCF-EFE5B82ABA7C}"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96785898" name="Slide Image Placeholder 1"/>
          <p:cNvSpPr>
            <a:spLocks noChangeAspect="1" noGrp="1" noRot="1"/>
          </p:cNvSpPr>
          <p:nvPr>
            <p:ph type="sldImg"/>
          </p:nvPr>
        </p:nvSpPr>
        <p:spPr bwMode="auto"/>
      </p:sp>
      <p:sp>
        <p:nvSpPr>
          <p:cNvPr id="1207028916" name="Notes Placeholder 2"/>
          <p:cNvSpPr>
            <a:spLocks noGrp="1"/>
          </p:cNvSpPr>
          <p:nvPr>
            <p:ph type="body" idx="1"/>
          </p:nvPr>
        </p:nvSpPr>
        <p:spPr bwMode="auto"/>
        <p:txBody>
          <a:bodyPr/>
          <a:lstStyle/>
          <a:p>
            <a:pPr>
              <a:defRPr/>
            </a:pPr>
            <a:endParaRPr/>
          </a:p>
        </p:txBody>
      </p:sp>
      <p:sp>
        <p:nvSpPr>
          <p:cNvPr id="3628184" name="Slide Number Placeholder 3"/>
          <p:cNvSpPr>
            <a:spLocks noGrp="1"/>
          </p:cNvSpPr>
          <p:nvPr>
            <p:ph type="sldNum" sz="quarter" idx="10"/>
          </p:nvPr>
        </p:nvSpPr>
        <p:spPr bwMode="auto"/>
        <p:txBody>
          <a:bodyPr/>
          <a:lstStyle/>
          <a:p>
            <a:pPr>
              <a:defRPr/>
            </a:pPr>
            <a:fld id="{74851C4C-3A9D-20B8-88D9-C6873AA87FB8}"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8219527" name="Slide Image Placeholder 1"/>
          <p:cNvSpPr>
            <a:spLocks noChangeAspect="1" noGrp="1" noRot="1"/>
          </p:cNvSpPr>
          <p:nvPr>
            <p:ph type="sldImg"/>
          </p:nvPr>
        </p:nvSpPr>
        <p:spPr bwMode="auto"/>
      </p:sp>
      <p:sp>
        <p:nvSpPr>
          <p:cNvPr id="1450292169" name="Notes Placeholder 2"/>
          <p:cNvSpPr>
            <a:spLocks noGrp="1"/>
          </p:cNvSpPr>
          <p:nvPr>
            <p:ph type="body" idx="1"/>
          </p:nvPr>
        </p:nvSpPr>
        <p:spPr bwMode="auto"/>
        <p:txBody>
          <a:bodyPr/>
          <a:lstStyle/>
          <a:p>
            <a:pPr>
              <a:defRPr/>
            </a:pPr>
            <a:endParaRPr/>
          </a:p>
        </p:txBody>
      </p:sp>
      <p:sp>
        <p:nvSpPr>
          <p:cNvPr id="967851334" name="Slide Number Placeholder 3"/>
          <p:cNvSpPr>
            <a:spLocks noGrp="1"/>
          </p:cNvSpPr>
          <p:nvPr>
            <p:ph type="sldNum" sz="quarter" idx="10"/>
          </p:nvPr>
        </p:nvSpPr>
        <p:spPr bwMode="auto"/>
        <p:txBody>
          <a:bodyPr/>
          <a:lstStyle/>
          <a:p>
            <a:pPr>
              <a:defRPr/>
            </a:pPr>
            <a:fld id="{E87787B2-B54A-A929-260F-BD071498FC44}"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7090743" name="Slide Image Placeholder 1"/>
          <p:cNvSpPr>
            <a:spLocks noChangeAspect="1" noGrp="1" noRot="1"/>
          </p:cNvSpPr>
          <p:nvPr>
            <p:ph type="sldImg"/>
          </p:nvPr>
        </p:nvSpPr>
        <p:spPr bwMode="auto"/>
      </p:sp>
      <p:sp>
        <p:nvSpPr>
          <p:cNvPr id="2021799955" name="Notes Placeholder 2"/>
          <p:cNvSpPr>
            <a:spLocks noGrp="1"/>
          </p:cNvSpPr>
          <p:nvPr>
            <p:ph type="body" idx="1"/>
          </p:nvPr>
        </p:nvSpPr>
        <p:spPr bwMode="auto"/>
        <p:txBody>
          <a:bodyPr/>
          <a:lstStyle/>
          <a:p>
            <a:pPr>
              <a:defRPr/>
            </a:pPr>
            <a:endParaRPr/>
          </a:p>
        </p:txBody>
      </p:sp>
      <p:sp>
        <p:nvSpPr>
          <p:cNvPr id="91960140" name="Slide Number Placeholder 3"/>
          <p:cNvSpPr>
            <a:spLocks noGrp="1"/>
          </p:cNvSpPr>
          <p:nvPr>
            <p:ph type="sldNum" sz="quarter" idx="10"/>
          </p:nvPr>
        </p:nvSpPr>
        <p:spPr bwMode="auto"/>
        <p:txBody>
          <a:bodyPr/>
          <a:lstStyle/>
          <a:p>
            <a:pPr>
              <a:defRPr/>
            </a:pPr>
            <a:fld id="{36591AA0-DCA2-F6DB-EAF3-591323F798DF}"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60609235" name="Slide Image Placeholder 1"/>
          <p:cNvSpPr>
            <a:spLocks noChangeAspect="1" noGrp="1" noRot="1"/>
          </p:cNvSpPr>
          <p:nvPr>
            <p:ph type="sldImg"/>
          </p:nvPr>
        </p:nvSpPr>
        <p:spPr bwMode="auto"/>
      </p:sp>
      <p:sp>
        <p:nvSpPr>
          <p:cNvPr id="1700616796" name="Notes Placeholder 2"/>
          <p:cNvSpPr>
            <a:spLocks noGrp="1"/>
          </p:cNvSpPr>
          <p:nvPr>
            <p:ph type="body" idx="1"/>
          </p:nvPr>
        </p:nvSpPr>
        <p:spPr bwMode="auto"/>
        <p:txBody>
          <a:bodyPr/>
          <a:lstStyle/>
          <a:p>
            <a:pPr>
              <a:defRPr/>
            </a:pPr>
            <a:endParaRPr/>
          </a:p>
        </p:txBody>
      </p:sp>
      <p:sp>
        <p:nvSpPr>
          <p:cNvPr id="1880154655" name="Slide Number Placeholder 3"/>
          <p:cNvSpPr>
            <a:spLocks noGrp="1"/>
          </p:cNvSpPr>
          <p:nvPr>
            <p:ph type="sldNum" sz="quarter" idx="10"/>
          </p:nvPr>
        </p:nvSpPr>
        <p:spPr bwMode="auto"/>
        <p:txBody>
          <a:bodyPr/>
          <a:lstStyle/>
          <a:p>
            <a:pPr>
              <a:defRPr/>
            </a:pPr>
            <a:fld id="{2BC6BA02-D874-B478-2211-7D80435C9790}"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1634899" name="Slide Image Placeholder 1"/>
          <p:cNvSpPr>
            <a:spLocks noChangeAspect="1" noGrp="1" noRot="1"/>
          </p:cNvSpPr>
          <p:nvPr>
            <p:ph type="sldImg"/>
          </p:nvPr>
        </p:nvSpPr>
        <p:spPr bwMode="auto"/>
      </p:sp>
      <p:sp>
        <p:nvSpPr>
          <p:cNvPr id="1349986462" name="Notes Placeholder 2"/>
          <p:cNvSpPr>
            <a:spLocks noGrp="1"/>
          </p:cNvSpPr>
          <p:nvPr>
            <p:ph type="body" idx="1"/>
          </p:nvPr>
        </p:nvSpPr>
        <p:spPr bwMode="auto"/>
        <p:txBody>
          <a:bodyPr/>
          <a:lstStyle/>
          <a:p>
            <a:pPr>
              <a:defRPr/>
            </a:pPr>
            <a:endParaRPr/>
          </a:p>
        </p:txBody>
      </p:sp>
      <p:sp>
        <p:nvSpPr>
          <p:cNvPr id="1688437656" name="Slide Number Placeholder 3"/>
          <p:cNvSpPr>
            <a:spLocks noGrp="1"/>
          </p:cNvSpPr>
          <p:nvPr>
            <p:ph type="sldNum" sz="quarter" idx="10"/>
          </p:nvPr>
        </p:nvSpPr>
        <p:spPr bwMode="auto"/>
        <p:txBody>
          <a:bodyPr/>
          <a:lstStyle/>
          <a:p>
            <a:pPr>
              <a:defRPr/>
            </a:pPr>
            <a:fld id="{09F126A1-21FE-FFD1-B76D-BA4EC107C8BC}"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415960" name="Slide Image Placeholder 1"/>
          <p:cNvSpPr>
            <a:spLocks noChangeAspect="1" noGrp="1" noRot="1"/>
          </p:cNvSpPr>
          <p:nvPr>
            <p:ph type="sldImg"/>
          </p:nvPr>
        </p:nvSpPr>
        <p:spPr bwMode="auto"/>
      </p:sp>
      <p:sp>
        <p:nvSpPr>
          <p:cNvPr id="365456402" name="Notes Placeholder 2"/>
          <p:cNvSpPr>
            <a:spLocks noGrp="1"/>
          </p:cNvSpPr>
          <p:nvPr>
            <p:ph type="body" idx="1"/>
          </p:nvPr>
        </p:nvSpPr>
        <p:spPr bwMode="auto"/>
        <p:txBody>
          <a:bodyPr/>
          <a:lstStyle/>
          <a:p>
            <a:pPr>
              <a:defRPr/>
            </a:pPr>
            <a:endParaRPr/>
          </a:p>
        </p:txBody>
      </p:sp>
      <p:sp>
        <p:nvSpPr>
          <p:cNvPr id="1177957194" name="Slide Number Placeholder 3"/>
          <p:cNvSpPr>
            <a:spLocks noGrp="1"/>
          </p:cNvSpPr>
          <p:nvPr>
            <p:ph type="sldNum" sz="quarter" idx="10"/>
          </p:nvPr>
        </p:nvSpPr>
        <p:spPr bwMode="auto"/>
        <p:txBody>
          <a:bodyPr/>
          <a:lstStyle/>
          <a:p>
            <a:pPr>
              <a:defRPr/>
            </a:pPr>
            <a:fld id="{87467379-1A5B-FA0E-1023-D656871F8CD3}"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4587531" name="Slide Image Placeholder 1"/>
          <p:cNvSpPr>
            <a:spLocks noChangeAspect="1" noGrp="1" noRot="1"/>
          </p:cNvSpPr>
          <p:nvPr>
            <p:ph type="sldImg"/>
          </p:nvPr>
        </p:nvSpPr>
        <p:spPr bwMode="auto"/>
      </p:sp>
      <p:sp>
        <p:nvSpPr>
          <p:cNvPr id="1380507967" name="Notes Placeholder 2"/>
          <p:cNvSpPr>
            <a:spLocks noGrp="1"/>
          </p:cNvSpPr>
          <p:nvPr>
            <p:ph type="body" idx="1"/>
          </p:nvPr>
        </p:nvSpPr>
        <p:spPr bwMode="auto"/>
        <p:txBody>
          <a:bodyPr/>
          <a:lstStyle/>
          <a:p>
            <a:pPr>
              <a:defRPr/>
            </a:pPr>
            <a:endParaRPr/>
          </a:p>
        </p:txBody>
      </p:sp>
      <p:sp>
        <p:nvSpPr>
          <p:cNvPr id="939470235" name="Slide Number Placeholder 3"/>
          <p:cNvSpPr>
            <a:spLocks noGrp="1"/>
          </p:cNvSpPr>
          <p:nvPr>
            <p:ph type="sldNum" sz="quarter" idx="10"/>
          </p:nvPr>
        </p:nvSpPr>
        <p:spPr bwMode="auto"/>
        <p:txBody>
          <a:bodyPr/>
          <a:lstStyle/>
          <a:p>
            <a:pPr>
              <a:defRPr/>
            </a:pPr>
            <a:fld id="{95841514-F722-008B-5504-F6D082E484AF}"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2315048" name="Slide Image Placeholder 1"/>
          <p:cNvSpPr>
            <a:spLocks noChangeAspect="1" noGrp="1" noRot="1"/>
          </p:cNvSpPr>
          <p:nvPr>
            <p:ph type="sldImg"/>
          </p:nvPr>
        </p:nvSpPr>
        <p:spPr bwMode="auto"/>
      </p:sp>
      <p:sp>
        <p:nvSpPr>
          <p:cNvPr id="699853424" name="Notes Placeholder 2"/>
          <p:cNvSpPr>
            <a:spLocks noGrp="1"/>
          </p:cNvSpPr>
          <p:nvPr>
            <p:ph type="body" idx="1"/>
          </p:nvPr>
        </p:nvSpPr>
        <p:spPr bwMode="auto"/>
        <p:txBody>
          <a:bodyPr/>
          <a:lstStyle/>
          <a:p>
            <a:pPr>
              <a:defRPr/>
            </a:pPr>
            <a:endParaRPr/>
          </a:p>
        </p:txBody>
      </p:sp>
      <p:sp>
        <p:nvSpPr>
          <p:cNvPr id="1781561593" name="Slide Number Placeholder 3"/>
          <p:cNvSpPr>
            <a:spLocks noGrp="1"/>
          </p:cNvSpPr>
          <p:nvPr>
            <p:ph type="sldNum" sz="quarter" idx="10"/>
          </p:nvPr>
        </p:nvSpPr>
        <p:spPr bwMode="auto"/>
        <p:txBody>
          <a:bodyPr/>
          <a:lstStyle/>
          <a:p>
            <a:pPr>
              <a:defRPr/>
            </a:pPr>
            <a:fld id="{3CA92481-9DCB-6093-FD3D-BD73281DA6B4}"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59127263" name="Slide Image Placeholder 1"/>
          <p:cNvSpPr>
            <a:spLocks noChangeAspect="1" noGrp="1" noRot="1"/>
          </p:cNvSpPr>
          <p:nvPr>
            <p:ph type="sldImg"/>
          </p:nvPr>
        </p:nvSpPr>
        <p:spPr bwMode="auto"/>
      </p:sp>
      <p:sp>
        <p:nvSpPr>
          <p:cNvPr id="1687574441" name="Notes Placeholder 2"/>
          <p:cNvSpPr>
            <a:spLocks noGrp="1"/>
          </p:cNvSpPr>
          <p:nvPr>
            <p:ph type="body" idx="1"/>
          </p:nvPr>
        </p:nvSpPr>
        <p:spPr bwMode="auto"/>
        <p:txBody>
          <a:bodyPr/>
          <a:lstStyle/>
          <a:p>
            <a:pPr>
              <a:defRPr/>
            </a:pPr>
            <a:endParaRPr/>
          </a:p>
        </p:txBody>
      </p:sp>
      <p:sp>
        <p:nvSpPr>
          <p:cNvPr id="59165663" name="Slide Number Placeholder 3"/>
          <p:cNvSpPr>
            <a:spLocks noGrp="1"/>
          </p:cNvSpPr>
          <p:nvPr>
            <p:ph type="sldNum" sz="quarter" idx="10"/>
          </p:nvPr>
        </p:nvSpPr>
        <p:spPr bwMode="auto"/>
        <p:txBody>
          <a:bodyPr/>
          <a:lstStyle/>
          <a:p>
            <a:pPr>
              <a:defRPr/>
            </a:pPr>
            <a:fld id="{52288392-134C-14E9-87B8-490716891532}"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0168569" name="Slide Image Placeholder 1"/>
          <p:cNvSpPr>
            <a:spLocks noChangeAspect="1" noGrp="1" noRot="1"/>
          </p:cNvSpPr>
          <p:nvPr>
            <p:ph type="sldImg"/>
          </p:nvPr>
        </p:nvSpPr>
        <p:spPr bwMode="auto"/>
      </p:sp>
      <p:sp>
        <p:nvSpPr>
          <p:cNvPr id="692826654" name="Notes Placeholder 2"/>
          <p:cNvSpPr>
            <a:spLocks noGrp="1"/>
          </p:cNvSpPr>
          <p:nvPr>
            <p:ph type="body" idx="1"/>
          </p:nvPr>
        </p:nvSpPr>
        <p:spPr bwMode="auto"/>
        <p:txBody>
          <a:bodyPr/>
          <a:lstStyle/>
          <a:p>
            <a:pPr>
              <a:defRPr/>
            </a:pPr>
            <a:endParaRPr/>
          </a:p>
        </p:txBody>
      </p:sp>
      <p:sp>
        <p:nvSpPr>
          <p:cNvPr id="1546865298" name="Slide Number Placeholder 3"/>
          <p:cNvSpPr>
            <a:spLocks noGrp="1"/>
          </p:cNvSpPr>
          <p:nvPr>
            <p:ph type="sldNum" sz="quarter" idx="10"/>
          </p:nvPr>
        </p:nvSpPr>
        <p:spPr bwMode="auto"/>
        <p:txBody>
          <a:bodyPr/>
          <a:lstStyle/>
          <a:p>
            <a:pPr>
              <a:defRPr/>
            </a:pPr>
            <a:fld id="{E07FDB2E-547A-7311-55FD-B389C8D48BFE}"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122626" name="Slide Image Placeholder 1"/>
          <p:cNvSpPr>
            <a:spLocks noChangeAspect="1" noGrp="1" noRot="1"/>
          </p:cNvSpPr>
          <p:nvPr>
            <p:ph type="sldImg"/>
          </p:nvPr>
        </p:nvSpPr>
        <p:spPr bwMode="auto"/>
      </p:sp>
      <p:sp>
        <p:nvSpPr>
          <p:cNvPr id="145089380" name="Notes Placeholder 2"/>
          <p:cNvSpPr>
            <a:spLocks noGrp="1"/>
          </p:cNvSpPr>
          <p:nvPr>
            <p:ph type="body" idx="1"/>
          </p:nvPr>
        </p:nvSpPr>
        <p:spPr bwMode="auto"/>
        <p:txBody>
          <a:bodyPr/>
          <a:lstStyle/>
          <a:p>
            <a:pPr>
              <a:defRPr/>
            </a:pPr>
            <a:endParaRPr/>
          </a:p>
        </p:txBody>
      </p:sp>
      <p:sp>
        <p:nvSpPr>
          <p:cNvPr id="1054960609" name="Slide Number Placeholder 3"/>
          <p:cNvSpPr>
            <a:spLocks noGrp="1"/>
          </p:cNvSpPr>
          <p:nvPr>
            <p:ph type="sldNum" sz="quarter" idx="10"/>
          </p:nvPr>
        </p:nvSpPr>
        <p:spPr bwMode="auto"/>
        <p:txBody>
          <a:bodyPr/>
          <a:lstStyle/>
          <a:p>
            <a:pPr>
              <a:defRPr/>
            </a:pPr>
            <a:fld id="{AFEFEBA1-D9F1-05F8-2B9F-B5CBBC29E4D7}"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6267596" name="Slide Image Placeholder 1"/>
          <p:cNvSpPr>
            <a:spLocks noChangeAspect="1" noGrp="1" noRot="1"/>
          </p:cNvSpPr>
          <p:nvPr>
            <p:ph type="sldImg"/>
          </p:nvPr>
        </p:nvSpPr>
        <p:spPr bwMode="auto"/>
      </p:sp>
      <p:sp>
        <p:nvSpPr>
          <p:cNvPr id="892420565" name="Notes Placeholder 2"/>
          <p:cNvSpPr>
            <a:spLocks noGrp="1"/>
          </p:cNvSpPr>
          <p:nvPr>
            <p:ph type="body" idx="1"/>
          </p:nvPr>
        </p:nvSpPr>
        <p:spPr bwMode="auto"/>
        <p:txBody>
          <a:bodyPr/>
          <a:lstStyle/>
          <a:p>
            <a:pPr>
              <a:defRPr/>
            </a:pPr>
            <a:endParaRPr/>
          </a:p>
        </p:txBody>
      </p:sp>
      <p:sp>
        <p:nvSpPr>
          <p:cNvPr id="1054941054" name="Slide Number Placeholder 3"/>
          <p:cNvSpPr>
            <a:spLocks noGrp="1"/>
          </p:cNvSpPr>
          <p:nvPr>
            <p:ph type="sldNum" sz="quarter" idx="10"/>
          </p:nvPr>
        </p:nvSpPr>
        <p:spPr bwMode="auto"/>
        <p:txBody>
          <a:bodyPr/>
          <a:lstStyle/>
          <a:p>
            <a:pPr>
              <a:defRPr/>
            </a:pPr>
            <a:fld id="{486443AE-A513-1F72-0A18-412527FE6511}"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47739" name="Slide Image Placeholder 1"/>
          <p:cNvSpPr>
            <a:spLocks noChangeAspect="1" noGrp="1" noRot="1"/>
          </p:cNvSpPr>
          <p:nvPr>
            <p:ph type="sldImg"/>
          </p:nvPr>
        </p:nvSpPr>
        <p:spPr bwMode="auto"/>
      </p:sp>
      <p:sp>
        <p:nvSpPr>
          <p:cNvPr id="2045572928" name="Notes Placeholder 2"/>
          <p:cNvSpPr>
            <a:spLocks noGrp="1"/>
          </p:cNvSpPr>
          <p:nvPr>
            <p:ph type="body" idx="1"/>
          </p:nvPr>
        </p:nvSpPr>
        <p:spPr bwMode="auto"/>
        <p:txBody>
          <a:bodyPr/>
          <a:lstStyle/>
          <a:p>
            <a:pPr>
              <a:defRPr/>
            </a:pPr>
            <a:endParaRPr/>
          </a:p>
        </p:txBody>
      </p:sp>
      <p:sp>
        <p:nvSpPr>
          <p:cNvPr id="2034076812" name="Slide Number Placeholder 3"/>
          <p:cNvSpPr>
            <a:spLocks noGrp="1"/>
          </p:cNvSpPr>
          <p:nvPr>
            <p:ph type="sldNum" sz="quarter" idx="10"/>
          </p:nvPr>
        </p:nvSpPr>
        <p:spPr bwMode="auto"/>
        <p:txBody>
          <a:bodyPr/>
          <a:lstStyle/>
          <a:p>
            <a:pPr>
              <a:defRPr/>
            </a:pPr>
            <a:fld id="{1190AA56-25AA-AC61-594D-B8596F530EE4}"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5364641" name="Slide Image Placeholder 1"/>
          <p:cNvSpPr>
            <a:spLocks noChangeAspect="1" noGrp="1" noRot="1"/>
          </p:cNvSpPr>
          <p:nvPr>
            <p:ph type="sldImg"/>
          </p:nvPr>
        </p:nvSpPr>
        <p:spPr bwMode="auto"/>
      </p:sp>
      <p:sp>
        <p:nvSpPr>
          <p:cNvPr id="478712241" name="Notes Placeholder 2"/>
          <p:cNvSpPr>
            <a:spLocks noGrp="1"/>
          </p:cNvSpPr>
          <p:nvPr>
            <p:ph type="body" idx="1"/>
          </p:nvPr>
        </p:nvSpPr>
        <p:spPr bwMode="auto"/>
        <p:txBody>
          <a:bodyPr/>
          <a:lstStyle/>
          <a:p>
            <a:pPr>
              <a:defRPr/>
            </a:pPr>
            <a:endParaRPr/>
          </a:p>
        </p:txBody>
      </p:sp>
      <p:sp>
        <p:nvSpPr>
          <p:cNvPr id="449100619" name="Slide Number Placeholder 3"/>
          <p:cNvSpPr>
            <a:spLocks noGrp="1"/>
          </p:cNvSpPr>
          <p:nvPr>
            <p:ph type="sldNum" sz="quarter" idx="10"/>
          </p:nvPr>
        </p:nvSpPr>
        <p:spPr bwMode="auto"/>
        <p:txBody>
          <a:bodyPr/>
          <a:lstStyle/>
          <a:p>
            <a:pPr>
              <a:defRPr/>
            </a:pPr>
            <a:fld id="{DA183BE7-98A2-5AE4-178E-FBEB2C1DFC10}"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1573D49-0D61-2092-E4DD-A69FD06126DE}"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447895834"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48471063"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961360575"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34667689" name="Footer Placeholder 4"/>
          <p:cNvSpPr>
            <a:spLocks noGrp="1"/>
          </p:cNvSpPr>
          <p:nvPr>
            <p:ph type="ftr" sz="quarter" idx="11"/>
          </p:nvPr>
        </p:nvSpPr>
        <p:spPr bwMode="auto"/>
        <p:txBody>
          <a:bodyPr/>
          <a:lstStyle/>
          <a:p>
            <a:pPr>
              <a:defRPr/>
            </a:pPr>
            <a:endParaRPr lang="en-US"/>
          </a:p>
        </p:txBody>
      </p:sp>
      <p:sp>
        <p:nvSpPr>
          <p:cNvPr id="189968438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607800017" name="Title 1"/>
          <p:cNvSpPr>
            <a:spLocks noGrp="1"/>
          </p:cNvSpPr>
          <p:nvPr>
            <p:ph type="title"/>
          </p:nvPr>
        </p:nvSpPr>
        <p:spPr bwMode="auto"/>
        <p:txBody>
          <a:bodyPr/>
          <a:lstStyle/>
          <a:p>
            <a:pPr>
              <a:defRPr/>
            </a:pPr>
            <a:r>
              <a:rPr lang="en-US"/>
              <a:t>Click to edit Master title style</a:t>
            </a:r>
            <a:endParaRPr lang="en-US"/>
          </a:p>
        </p:txBody>
      </p:sp>
      <p:sp>
        <p:nvSpPr>
          <p:cNvPr id="574864951"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34678949"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895991720" name="Footer Placeholder 4"/>
          <p:cNvSpPr>
            <a:spLocks noGrp="1"/>
          </p:cNvSpPr>
          <p:nvPr>
            <p:ph type="ftr" sz="quarter" idx="11"/>
          </p:nvPr>
        </p:nvSpPr>
        <p:spPr bwMode="auto"/>
        <p:txBody>
          <a:bodyPr/>
          <a:lstStyle/>
          <a:p>
            <a:pPr>
              <a:defRPr/>
            </a:pPr>
            <a:endParaRPr lang="en-US"/>
          </a:p>
        </p:txBody>
      </p:sp>
      <p:sp>
        <p:nvSpPr>
          <p:cNvPr id="984865352"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285943195"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605801161"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752888645"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392140039" name="Footer Placeholder 4"/>
          <p:cNvSpPr>
            <a:spLocks noGrp="1"/>
          </p:cNvSpPr>
          <p:nvPr>
            <p:ph type="ftr" sz="quarter" idx="11"/>
          </p:nvPr>
        </p:nvSpPr>
        <p:spPr bwMode="auto"/>
        <p:txBody>
          <a:bodyPr/>
          <a:lstStyle/>
          <a:p>
            <a:pPr>
              <a:defRPr/>
            </a:pPr>
            <a:endParaRPr lang="en-US"/>
          </a:p>
        </p:txBody>
      </p:sp>
      <p:sp>
        <p:nvSpPr>
          <p:cNvPr id="189526897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658140160" name="Title 1"/>
          <p:cNvSpPr>
            <a:spLocks noGrp="1"/>
          </p:cNvSpPr>
          <p:nvPr>
            <p:ph type="title"/>
          </p:nvPr>
        </p:nvSpPr>
        <p:spPr bwMode="auto"/>
        <p:txBody>
          <a:bodyPr/>
          <a:lstStyle/>
          <a:p>
            <a:pPr>
              <a:defRPr/>
            </a:pPr>
            <a:r>
              <a:rPr lang="en-US"/>
              <a:t>Click to edit Master title style</a:t>
            </a:r>
            <a:endParaRPr lang="en-US"/>
          </a:p>
        </p:txBody>
      </p:sp>
      <p:sp>
        <p:nvSpPr>
          <p:cNvPr id="1772283672"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85842360"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81047605"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778518433" name="Footer Placeholder 5"/>
          <p:cNvSpPr>
            <a:spLocks noGrp="1"/>
          </p:cNvSpPr>
          <p:nvPr>
            <p:ph type="ftr" sz="quarter" idx="11"/>
          </p:nvPr>
        </p:nvSpPr>
        <p:spPr bwMode="auto"/>
        <p:txBody>
          <a:bodyPr/>
          <a:lstStyle/>
          <a:p>
            <a:pPr>
              <a:defRPr/>
            </a:pPr>
            <a:endParaRPr lang="en-US"/>
          </a:p>
        </p:txBody>
      </p:sp>
      <p:sp>
        <p:nvSpPr>
          <p:cNvPr id="851423951"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095276996"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94600247"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315794799"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98081129"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42813700"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42745203"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901841611" name="Footer Placeholder 7"/>
          <p:cNvSpPr>
            <a:spLocks noGrp="1"/>
          </p:cNvSpPr>
          <p:nvPr>
            <p:ph type="ftr" sz="quarter" idx="11"/>
          </p:nvPr>
        </p:nvSpPr>
        <p:spPr bwMode="auto"/>
        <p:txBody>
          <a:bodyPr/>
          <a:lstStyle/>
          <a:p>
            <a:pPr>
              <a:defRPr/>
            </a:pPr>
            <a:endParaRPr lang="en-US"/>
          </a:p>
        </p:txBody>
      </p:sp>
      <p:sp>
        <p:nvSpPr>
          <p:cNvPr id="738377282"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38428854" name="Title 1"/>
          <p:cNvSpPr>
            <a:spLocks noGrp="1"/>
          </p:cNvSpPr>
          <p:nvPr>
            <p:ph type="title"/>
          </p:nvPr>
        </p:nvSpPr>
        <p:spPr bwMode="auto"/>
        <p:txBody>
          <a:bodyPr/>
          <a:lstStyle/>
          <a:p>
            <a:pPr>
              <a:defRPr/>
            </a:pPr>
            <a:r>
              <a:rPr lang="en-US"/>
              <a:t>Click to edit Master title style</a:t>
            </a:r>
            <a:endParaRPr lang="en-US"/>
          </a:p>
        </p:txBody>
      </p:sp>
      <p:sp>
        <p:nvSpPr>
          <p:cNvPr id="617150951"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22634097" name="Footer Placeholder 3"/>
          <p:cNvSpPr>
            <a:spLocks noGrp="1"/>
          </p:cNvSpPr>
          <p:nvPr>
            <p:ph type="ftr" sz="quarter" idx="11"/>
          </p:nvPr>
        </p:nvSpPr>
        <p:spPr bwMode="auto"/>
        <p:txBody>
          <a:bodyPr/>
          <a:lstStyle/>
          <a:p>
            <a:pPr>
              <a:defRPr/>
            </a:pPr>
            <a:endParaRPr lang="en-US"/>
          </a:p>
        </p:txBody>
      </p:sp>
      <p:sp>
        <p:nvSpPr>
          <p:cNvPr id="806667970"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45322706"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07291636" name="Footer Placeholder 2"/>
          <p:cNvSpPr>
            <a:spLocks noGrp="1"/>
          </p:cNvSpPr>
          <p:nvPr>
            <p:ph type="ftr" sz="quarter" idx="11"/>
          </p:nvPr>
        </p:nvSpPr>
        <p:spPr bwMode="auto"/>
        <p:txBody>
          <a:bodyPr/>
          <a:lstStyle/>
          <a:p>
            <a:pPr>
              <a:defRPr/>
            </a:pPr>
            <a:endParaRPr lang="en-US"/>
          </a:p>
        </p:txBody>
      </p:sp>
      <p:sp>
        <p:nvSpPr>
          <p:cNvPr id="1111136220"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52175691"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913317897"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3371230"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44334567"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56887448" name="Footer Placeholder 5"/>
          <p:cNvSpPr>
            <a:spLocks noGrp="1"/>
          </p:cNvSpPr>
          <p:nvPr>
            <p:ph type="ftr" sz="quarter" idx="11"/>
          </p:nvPr>
        </p:nvSpPr>
        <p:spPr bwMode="auto"/>
        <p:txBody>
          <a:bodyPr/>
          <a:lstStyle/>
          <a:p>
            <a:pPr>
              <a:defRPr/>
            </a:pPr>
            <a:endParaRPr lang="en-US"/>
          </a:p>
        </p:txBody>
      </p:sp>
      <p:sp>
        <p:nvSpPr>
          <p:cNvPr id="1381636872"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771312170"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1308591578"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722439944"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010266884"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683053831" name="Footer Placeholder 5"/>
          <p:cNvSpPr>
            <a:spLocks noGrp="1"/>
          </p:cNvSpPr>
          <p:nvPr>
            <p:ph type="ftr" sz="quarter" idx="11"/>
          </p:nvPr>
        </p:nvSpPr>
        <p:spPr bwMode="auto"/>
        <p:txBody>
          <a:bodyPr/>
          <a:lstStyle/>
          <a:p>
            <a:pPr>
              <a:defRPr/>
            </a:pPr>
            <a:endParaRPr lang="en-US"/>
          </a:p>
        </p:txBody>
      </p:sp>
      <p:sp>
        <p:nvSpPr>
          <p:cNvPr id="93810198"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700448676" name="Title 1"/>
          <p:cNvSpPr>
            <a:spLocks noGrp="1"/>
          </p:cNvSpPr>
          <p:nvPr>
            <p:ph type="title"/>
          </p:nvPr>
        </p:nvSpPr>
        <p:spPr bwMode="auto"/>
        <p:txBody>
          <a:bodyPr/>
          <a:lstStyle/>
          <a:p>
            <a:pPr>
              <a:defRPr/>
            </a:pPr>
            <a:r>
              <a:rPr lang="en-US"/>
              <a:t>Click to edit Master title style</a:t>
            </a:r>
            <a:endParaRPr lang="en-US"/>
          </a:p>
        </p:txBody>
      </p:sp>
      <p:sp>
        <p:nvSpPr>
          <p:cNvPr id="1549392016"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59595536"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739046213" name="Footer Placeholder 4"/>
          <p:cNvSpPr>
            <a:spLocks noGrp="1"/>
          </p:cNvSpPr>
          <p:nvPr>
            <p:ph type="ftr" sz="quarter" idx="11"/>
          </p:nvPr>
        </p:nvSpPr>
        <p:spPr bwMode="auto"/>
        <p:txBody>
          <a:bodyPr/>
          <a:lstStyle/>
          <a:p>
            <a:pPr>
              <a:defRPr/>
            </a:pPr>
            <a:endParaRPr lang="en-US"/>
          </a:p>
        </p:txBody>
      </p:sp>
      <p:sp>
        <p:nvSpPr>
          <p:cNvPr id="171541952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585305446"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167376770"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56197018"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90092352" name="Footer Placeholder 4"/>
          <p:cNvSpPr>
            <a:spLocks noGrp="1"/>
          </p:cNvSpPr>
          <p:nvPr>
            <p:ph type="ftr" sz="quarter" idx="11"/>
          </p:nvPr>
        </p:nvSpPr>
        <p:spPr bwMode="auto"/>
        <p:txBody>
          <a:bodyPr/>
          <a:lstStyle/>
          <a:p>
            <a:pPr>
              <a:defRPr/>
            </a:pPr>
            <a:endParaRPr lang="en-US"/>
          </a:p>
        </p:txBody>
      </p:sp>
      <p:sp>
        <p:nvSpPr>
          <p:cNvPr id="98910794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250246280"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36219153"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28564427"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2127428746"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565712603"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18.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6637543" name="TextBox 1"/>
          <p:cNvSpPr txBox="1"/>
          <p:nvPr/>
        </p:nvSpPr>
        <p:spPr bwMode="auto">
          <a:xfrm>
            <a:off x="548640" y="320040"/>
            <a:ext cx="2610668" cy="503279"/>
          </a:xfrm>
          <a:prstGeom prst="rect">
            <a:avLst/>
          </a:prstGeom>
          <a:noFill/>
        </p:spPr>
        <p:txBody>
          <a:bodyPr wrap="none">
            <a:spAutoFit/>
          </a:bodyPr>
          <a:lstStyle/>
          <a:p>
            <a:pPr>
              <a:defRPr sz="2700" b="1">
                <a:solidFill>
                  <a:srgbClr val="1F3B73"/>
                </a:solidFill>
              </a:defRPr>
            </a:pPr>
            <a:r>
              <a:rPr lang="es-ES"/>
              <a:t>Presentacion 9/9</a:t>
            </a:r>
            <a:endParaRPr/>
          </a:p>
        </p:txBody>
      </p:sp>
      <p:sp>
        <p:nvSpPr>
          <p:cNvPr id="2068329906" name="TextBox 2"/>
          <p:cNvSpPr txBox="1"/>
          <p:nvPr/>
        </p:nvSpPr>
        <p:spPr bwMode="auto">
          <a:xfrm>
            <a:off x="548640" y="1280160"/>
            <a:ext cx="11024998" cy="2867892"/>
          </a:xfrm>
          <a:prstGeom prst="rect">
            <a:avLst/>
          </a:prstGeom>
          <a:noFill/>
        </p:spPr>
        <p:txBody>
          <a:bodyPr wrap="square">
            <a:spAutoFit/>
          </a:bodyPr>
          <a:lstStyle/>
          <a:p>
            <a:pPr>
              <a:spcAft>
                <a:spcPts val="500"/>
              </a:spcAft>
              <a:defRPr sz="1700">
                <a:solidFill>
                  <a:srgbClr val="404040"/>
                </a:solidFill>
              </a:defRPr>
            </a:pPr>
            <a:r>
              <a:rPr lang="es-ES"/>
              <a:t>Cinco cosas para ver durante la semana</a:t>
            </a:r>
            <a:r>
              <a:rPr/>
              <a:t>:</a:t>
            </a:r>
            <a:endParaRPr/>
          </a:p>
          <a:p>
            <a:pPr marL="0" marR="0" lvl="0" indent="0" algn="l" defTabSz="457200" rtl="0">
              <a:lnSpc>
                <a:spcPct val="100000"/>
              </a:lnSpc>
              <a:spcBef>
                <a:spcPts val="0"/>
              </a:spcBef>
              <a:spcAft>
                <a:spcPts val="499"/>
              </a:spcAft>
              <a:defRPr lang="en-US" sz="1700" b="0" i="0" u="none" strike="noStrike" cap="none" spc="0">
                <a:solidFill>
                  <a:srgbClr val="404040"/>
                </a:solidFill>
                <a:latin typeface="Calibri"/>
                <a:ea typeface="Arial"/>
                <a:cs typeface="Arial"/>
              </a:defRPr>
            </a:pPr>
            <a:r>
              <a:rPr lang="es-ES" sz="1700" b="0" i="0" u="none" strike="noStrike" cap="none" spc="0">
                <a:solidFill>
                  <a:srgbClr val="404040"/>
                </a:solidFill>
                <a:latin typeface="Calibri"/>
                <a:ea typeface="Arial"/>
                <a:cs typeface="Arial"/>
              </a:rPr>
              <a:t>1</a:t>
            </a:r>
            <a:r>
              <a:rPr lang="en-US" sz="1700" b="0" i="0" u="none" strike="noStrike" cap="none" spc="0">
                <a:solidFill>
                  <a:srgbClr val="404040"/>
                </a:solidFill>
                <a:latin typeface="Calibri"/>
                <a:ea typeface="Arial"/>
                <a:cs typeface="Arial"/>
              </a:rPr>
              <a:t>.  Ordenar el codigo, que venia como varios scripts sueltos.</a:t>
            </a:r>
            <a:endParaRPr/>
          </a:p>
          <a:p>
            <a:pPr>
              <a:spcAft>
                <a:spcPts val="500"/>
              </a:spcAft>
              <a:defRPr sz="1700">
                <a:solidFill>
                  <a:srgbClr val="404040"/>
                </a:solidFill>
              </a:defRPr>
            </a:pPr>
            <a:r>
              <a:rPr lang="es-ES"/>
              <a:t>2</a:t>
            </a:r>
            <a:r>
              <a:rPr/>
              <a:t>.  Mascaras con puntos sobre la frontera de fase y mascaras sin puntos en ella.</a:t>
            </a:r>
            <a:endParaRPr/>
          </a:p>
          <a:p>
            <a:pPr>
              <a:spcAft>
                <a:spcPts val="500"/>
              </a:spcAft>
              <a:defRPr sz="1700">
                <a:solidFill>
                  <a:srgbClr val="404040"/>
                </a:solidFill>
              </a:defRPr>
            </a:pPr>
            <a:r>
              <a:rPr/>
              <a:t>3.  Barrer el porcentaje de puntos ocultos hasta muy poco: 98, 99, 99.5, 99.7, 99.8 y 99.9 %.</a:t>
            </a:r>
            <a:endParaRPr/>
          </a:p>
          <a:p>
            <a:pPr>
              <a:spcAft>
                <a:spcPts val="500"/>
              </a:spcAft>
              <a:defRPr sz="1700">
                <a:solidFill>
                  <a:srgbClr val="404040"/>
                </a:solidFill>
              </a:defRPr>
            </a:pPr>
            <a:r>
              <a:rPr/>
              <a:t>4.  El error en funcion de la iteracion, para decidir en que momento conviene cortar.</a:t>
            </a:r>
            <a:endParaRPr/>
          </a:p>
          <a:p>
            <a:pPr>
              <a:spcAft>
                <a:spcPts val="500"/>
              </a:spcAft>
              <a:defRPr sz="1700">
                <a:solidFill>
                  <a:srgbClr val="404040"/>
                </a:solidFill>
              </a:defRPr>
            </a:pPr>
            <a:r>
              <a:rPr/>
              <a:t>5.  Repetir todo para varios g; </a:t>
            </a:r>
            <a:r>
              <a:rPr lang="es-ES"/>
              <a:t> </a:t>
            </a:r>
            <a:r>
              <a:rPr/>
              <a:t>los negativos son los que mas cuestan.</a:t>
            </a:r>
            <a:endParaRPr/>
          </a:p>
          <a:p>
            <a:pPr>
              <a:spcAft>
                <a:spcPts val="500"/>
              </a:spcAft>
              <a:defRPr sz="1700">
                <a:solidFill>
                  <a:srgbClr val="404040"/>
                </a:solidFill>
              </a:defRPr>
            </a:pPr>
            <a:endParaRPr/>
          </a:p>
          <a:p>
            <a:pPr>
              <a:spcAft>
                <a:spcPts val="500"/>
              </a:spcAft>
              <a:defRPr sz="1700">
                <a:solidFill>
                  <a:srgbClr val="404040"/>
                </a:solidFill>
              </a:defRPr>
            </a:pPr>
            <a:r>
              <a:rPr/>
              <a:t>Todo sobre el mapa del modelo del continuo</a:t>
            </a:r>
            <a:r>
              <a:rPr lang="es-ES"/>
              <a:t>,</a:t>
            </a:r>
            <a:r>
              <a:rPr/>
              <a:t> 128x128, con mascara Bernoulli salvo cuando se aclara otra cos</a:t>
            </a:r>
            <a:r>
              <a:rPr lang="es-ES"/>
              <a:t>a como veniamos haciendo antes.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706862" name="TextBox 1"/>
          <p:cNvSpPr txBox="1"/>
          <p:nvPr/>
        </p:nvSpPr>
        <p:spPr bwMode="auto">
          <a:xfrm>
            <a:off x="548640" y="320040"/>
            <a:ext cx="3426557" cy="503279"/>
          </a:xfrm>
          <a:prstGeom prst="rect">
            <a:avLst/>
          </a:prstGeom>
          <a:noFill/>
        </p:spPr>
        <p:txBody>
          <a:bodyPr wrap="none">
            <a:spAutoFit/>
          </a:bodyPr>
          <a:lstStyle/>
          <a:p>
            <a:pPr>
              <a:defRPr sz="2700" b="1">
                <a:solidFill>
                  <a:srgbClr val="1F3B73"/>
                </a:solidFill>
              </a:defRPr>
            </a:pPr>
            <a:r>
              <a:rPr lang="es-ES"/>
              <a:t>1</a:t>
            </a:r>
            <a:r>
              <a:rPr/>
              <a:t> · El codigo, ordenado</a:t>
            </a:r>
            <a:endParaRPr/>
          </a:p>
        </p:txBody>
      </p:sp>
      <p:sp>
        <p:nvSpPr>
          <p:cNvPr id="369951358" name="TextBox 2"/>
          <p:cNvSpPr txBox="1"/>
          <p:nvPr/>
        </p:nvSpPr>
        <p:spPr bwMode="auto">
          <a:xfrm>
            <a:off x="548640" y="1280160"/>
            <a:ext cx="10994399" cy="2194920"/>
          </a:xfrm>
          <a:prstGeom prst="rect">
            <a:avLst/>
          </a:prstGeom>
          <a:noFill/>
        </p:spPr>
        <p:txBody>
          <a:bodyPr wrap="square">
            <a:spAutoFit/>
          </a:bodyPr>
          <a:lstStyle/>
          <a:p>
            <a:pPr>
              <a:spcAft>
                <a:spcPts val="600"/>
              </a:spcAft>
              <a:defRPr sz="1600">
                <a:solidFill>
                  <a:srgbClr val="404040"/>
                </a:solidFill>
              </a:defRPr>
            </a:pPr>
            <a:r>
              <a:rPr/>
              <a:t>Antes: tres programas casi iguales dando vueltas en la carpeta, cada uno con las rutas escritas a mano y todo mezclado con los resultados.</a:t>
            </a:r>
            <a:endParaRPr/>
          </a:p>
          <a:p>
            <a:pPr>
              <a:defRPr sz="1600">
                <a:solidFill>
                  <a:srgbClr val="404040"/>
                </a:solidFill>
              </a:defRPr>
            </a:pPr>
            <a:endParaRPr/>
          </a:p>
          <a:p>
            <a:pPr>
              <a:spcAft>
                <a:spcPts val="600"/>
              </a:spcAft>
              <a:defRPr sz="1600">
                <a:solidFill>
                  <a:srgbClr val="404040"/>
                </a:solidFill>
              </a:defRPr>
            </a:pPr>
            <a:r>
              <a:rPr/>
              <a:t>Ahora: un solo programa hace la reconstruccion. Todo lo que cambia entre una corrida y otra </a:t>
            </a:r>
            <a:r>
              <a:rPr lang="es-ES"/>
              <a:t>,</a:t>
            </a:r>
            <a:r>
              <a:rPr/>
              <a:t>que imagen, cuantos puntos se tapan, cuantas iteraciones, la semilla</a:t>
            </a:r>
            <a:r>
              <a:rPr lang="es-ES"/>
              <a:t>,</a:t>
            </a:r>
            <a:r>
              <a:rPr/>
              <a:t>se le pasa como opcion, sin tocar el codigo. Un barrido es ese mismo programa llamado muchas veces.</a:t>
            </a:r>
            <a:endParaRPr/>
          </a:p>
          <a:p>
            <a:pPr>
              <a:defRPr sz="1600">
                <a:solidFill>
                  <a:srgbClr val="404040"/>
                </a:solidFill>
              </a:defRPr>
            </a:pPr>
            <a:endParaRPr/>
          </a:p>
          <a:p>
            <a:pPr>
              <a:spcAft>
                <a:spcPts val="600"/>
              </a:spcAft>
              <a:defRPr sz="1600">
                <a:solidFill>
                  <a:srgbClr val="404040"/>
                </a:solidFill>
              </a:defRPr>
            </a:pPr>
            <a:r>
              <a:rPr/>
              <a:t>Las corridas viejas quedaron guardadas aparte de las nuevas.</a:t>
            </a:r>
            <a:r>
              <a:rPr lang="es-ES"/>
              <a:t> (quedan guardadas como legacy)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98696388" name="TextBox 1"/>
          <p:cNvSpPr txBox="1"/>
          <p:nvPr/>
        </p:nvSpPr>
        <p:spPr bwMode="auto">
          <a:xfrm>
            <a:off x="548640" y="320040"/>
            <a:ext cx="11064240" cy="822960"/>
          </a:xfrm>
          <a:prstGeom prst="rect">
            <a:avLst/>
          </a:prstGeom>
          <a:noFill/>
        </p:spPr>
        <p:txBody>
          <a:bodyPr wrap="none">
            <a:spAutoFit/>
          </a:bodyPr>
          <a:lstStyle/>
          <a:p>
            <a:pPr>
              <a:defRPr sz="2700" b="1">
                <a:solidFill>
                  <a:srgbClr val="1F3B73"/>
                </a:solidFill>
              </a:defRPr>
            </a:pPr>
            <a:r>
              <a:rPr/>
              <a:t>2 · Como se define la frontera</a:t>
            </a:r>
            <a:endParaRPr/>
          </a:p>
        </p:txBody>
      </p:sp>
      <p:sp>
        <p:nvSpPr>
          <p:cNvPr id="2107131117" name="TextBox 2"/>
          <p:cNvSpPr txBox="1"/>
          <p:nvPr/>
        </p:nvSpPr>
        <p:spPr bwMode="auto">
          <a:xfrm>
            <a:off x="548640" y="1280160"/>
            <a:ext cx="10973160" cy="3063600"/>
          </a:xfrm>
          <a:prstGeom prst="rect">
            <a:avLst/>
          </a:prstGeom>
          <a:noFill/>
        </p:spPr>
        <p:txBody>
          <a:bodyPr wrap="square">
            <a:spAutoFit/>
          </a:bodyPr>
          <a:lstStyle/>
          <a:p>
            <a:pPr>
              <a:spcAft>
                <a:spcPts val="600"/>
              </a:spcAft>
              <a:defRPr sz="1500">
                <a:solidFill>
                  <a:srgbClr val="404040"/>
                </a:solidFill>
              </a:defRPr>
            </a:pPr>
            <a:r>
              <a:rPr/>
              <a:t>La "frontera" es la franja donde el mapa pasa rapido de lleno a vacio. La detecto buscando donde el mapa cambia mas brusco de un punto al siguiente, y suavizo un poco para que quede una franja y no puntos sueltos. La linea de las figuras marca el 10 % de lugares donde ese cambio es mas fuerte.</a:t>
            </a:r>
            <a:endParaRPr/>
          </a:p>
          <a:p>
            <a:pPr>
              <a:defRPr sz="1500">
                <a:solidFill>
                  <a:srgbClr val="404040"/>
                </a:solidFill>
              </a:defRPr>
            </a:pPr>
            <a:endParaRPr/>
          </a:p>
          <a:p>
            <a:pPr>
              <a:spcAft>
                <a:spcPts val="600"/>
              </a:spcAft>
              <a:defRPr sz="1500">
                <a:solidFill>
                  <a:srgbClr val="404040"/>
                </a:solidFill>
              </a:defRPr>
            </a:pPr>
            <a:r>
              <a:rPr/>
              <a:t>Con eso pruebo cuatro formas de elegir los puntos observados, todas con la misma cantidad:</a:t>
            </a:r>
            <a:endParaRPr/>
          </a:p>
          <a:p>
            <a:pPr>
              <a:spcAft>
                <a:spcPts val="600"/>
              </a:spcAft>
              <a:defRPr sz="1500">
                <a:solidFill>
                  <a:srgbClr val="404040"/>
                </a:solidFill>
              </a:defRPr>
            </a:pPr>
            <a:r>
              <a:rPr/>
              <a:t>uniform: al azar, parejo por todo el mapa (es la referencia).</a:t>
            </a:r>
            <a:endParaRPr/>
          </a:p>
          <a:p>
            <a:pPr>
              <a:spcAft>
                <a:spcPts val="600"/>
              </a:spcAft>
              <a:defRPr sz="1500">
                <a:solidFill>
                  <a:srgbClr val="404040"/>
                </a:solidFill>
              </a:defRPr>
            </a:pPr>
            <a:r>
              <a:rPr/>
              <a:t>frontier: casi todos sobre la frontera.</a:t>
            </a:r>
            <a:endParaRPr/>
          </a:p>
          <a:p>
            <a:pPr>
              <a:spcAft>
                <a:spcPts val="600"/>
              </a:spcAft>
              <a:defRPr sz="1500">
                <a:solidFill>
                  <a:srgbClr val="404040"/>
                </a:solidFill>
              </a:defRPr>
            </a:pPr>
            <a:r>
              <a:rPr/>
              <a:t>frontier_mix: la mayoria sobre la frontera y una parte repartida.</a:t>
            </a:r>
            <a:endParaRPr/>
          </a:p>
          <a:p>
            <a:pPr>
              <a:spcAft>
                <a:spcPts val="600"/>
              </a:spcAft>
              <a:defRPr sz="1500">
                <a:solidFill>
                  <a:srgbClr val="404040"/>
                </a:solidFill>
              </a:defRPr>
            </a:pPr>
            <a:r>
              <a:rPr/>
              <a:t>spread: los puntos esquivan la frontera y se van a las zonas planas.</a:t>
            </a:r>
            <a:endParaRPr/>
          </a:p>
          <a:p>
            <a:pPr>
              <a:defRPr sz="1500">
                <a:solidFill>
                  <a:srgbClr val="404040"/>
                </a:solidFill>
              </a:defRPr>
            </a:pPr>
            <a:endParaRPr/>
          </a:p>
          <a:p>
            <a:pPr>
              <a:spcAft>
                <a:spcPts val="600"/>
              </a:spcAft>
              <a:defRPr sz="1500">
                <a:solidFill>
                  <a:srgbClr val="404040"/>
                </a:solidFill>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2448440" name="TextBox 1"/>
          <p:cNvSpPr txBox="1"/>
          <p:nvPr/>
        </p:nvSpPr>
        <p:spPr bwMode="auto">
          <a:xfrm>
            <a:off x="548640" y="320040"/>
            <a:ext cx="6163908" cy="488039"/>
          </a:xfrm>
          <a:prstGeom prst="rect">
            <a:avLst/>
          </a:prstGeom>
          <a:noFill/>
        </p:spPr>
        <p:txBody>
          <a:bodyPr wrap="none">
            <a:spAutoFit/>
          </a:bodyPr>
          <a:lstStyle/>
          <a:p>
            <a:pPr>
              <a:defRPr sz="2600" b="1">
                <a:solidFill>
                  <a:srgbClr val="1F3B73"/>
                </a:solidFill>
              </a:defRPr>
            </a:pPr>
            <a:r>
              <a:rPr/>
              <a:t>2 · El campo de frontera, </a:t>
            </a:r>
            <a:r>
              <a:rPr lang="es-ES"/>
              <a:t>vamos a explicarlo</a:t>
            </a:r>
            <a:endParaRPr/>
          </a:p>
        </p:txBody>
      </p:sp>
      <p:pic>
        <p:nvPicPr>
          <p:cNvPr id="1984084603" name="Picture 2" descr="frontier_method.png"/>
          <p:cNvPicPr>
            <a:picLocks noChangeAspect="1"/>
          </p:cNvPicPr>
          <p:nvPr/>
        </p:nvPicPr>
        <p:blipFill rotWithShape="1">
          <a:blip r:embed="rId3"/>
          <a:stretch/>
        </p:blipFill>
        <p:spPr bwMode="auto">
          <a:xfrm>
            <a:off x="333756" y="1559533"/>
            <a:ext cx="11521440" cy="4424731"/>
          </a:xfrm>
          <a:prstGeom prst="rect">
            <a:avLst/>
          </a:prstGeom>
        </p:spPr>
      </p:pic>
      <p:sp>
        <p:nvSpPr>
          <p:cNvPr id="1882075016" name="TextBox 3"/>
          <p:cNvSpPr txBox="1"/>
          <p:nvPr/>
        </p:nvSpPr>
        <p:spPr bwMode="auto">
          <a:xfrm>
            <a:off x="548640" y="6217920"/>
            <a:ext cx="11064240" cy="548640"/>
          </a:xfrm>
          <a:prstGeom prst="rect">
            <a:avLst/>
          </a:prstGeom>
          <a:noFill/>
        </p:spPr>
        <p:txBody>
          <a:bodyPr wrap="square">
            <a:spAutoFit/>
          </a:bodyPr>
          <a:lstStyle/>
          <a:p>
            <a:pPr algn="ctr">
              <a:defRPr sz="1200" i="1">
                <a:solidFill>
                  <a:srgbClr val="404040"/>
                </a:solidFill>
              </a:defRPr>
            </a:pPr>
            <a:r>
              <a:rPr/>
              <a:t>De izquierda a derecha: el mapa, despues donde mas cambia de un punto al siguiente (ahi esta la frontera, en celeste), y por ultimo donde caerian los puntos si los concentro sobre la frontera.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6609353" name="TextBox 1"/>
          <p:cNvSpPr txBox="1"/>
          <p:nvPr/>
        </p:nvSpPr>
        <p:spPr bwMode="auto">
          <a:xfrm>
            <a:off x="237245" y="265086"/>
            <a:ext cx="11064240" cy="822960"/>
          </a:xfrm>
          <a:prstGeom prst="rect">
            <a:avLst/>
          </a:prstGeom>
          <a:noFill/>
        </p:spPr>
        <p:txBody>
          <a:bodyPr wrap="none">
            <a:spAutoFit/>
          </a:bodyPr>
          <a:lstStyle/>
          <a:p>
            <a:pPr>
              <a:defRPr sz="2600" b="1">
                <a:solidFill>
                  <a:srgbClr val="1F3B73"/>
                </a:solidFill>
              </a:defRPr>
            </a:pPr>
            <a:r>
              <a:rPr/>
              <a:t>2 · Puntos sobre la frontera y puntos repartidos  -  misma cantidad, distinta ubicacion</a:t>
            </a:r>
            <a:endParaRPr/>
          </a:p>
        </p:txBody>
      </p:sp>
      <p:pic>
        <p:nvPicPr>
          <p:cNvPr id="539770939" name="Picture 2" descr="frontier_grid.png"/>
          <p:cNvPicPr>
            <a:picLocks noChangeAspect="1"/>
          </p:cNvPicPr>
          <p:nvPr/>
        </p:nvPicPr>
        <p:blipFill rotWithShape="1">
          <a:blip r:embed="rId3"/>
          <a:stretch/>
        </p:blipFill>
        <p:spPr bwMode="auto">
          <a:xfrm>
            <a:off x="1002930" y="1371600"/>
            <a:ext cx="10183089" cy="4800600"/>
          </a:xfrm>
          <a:prstGeom prst="rect">
            <a:avLst/>
          </a:prstGeom>
        </p:spPr>
      </p:pic>
      <p:sp>
        <p:nvSpPr>
          <p:cNvPr id="959504781" name="TextBox 3"/>
          <p:cNvSpPr txBox="1"/>
          <p:nvPr/>
        </p:nvSpPr>
        <p:spPr bwMode="auto">
          <a:xfrm>
            <a:off x="548640" y="6217920"/>
            <a:ext cx="11064240" cy="548640"/>
          </a:xfrm>
          <a:prstGeom prst="rect">
            <a:avLst/>
          </a:prstGeom>
          <a:noFill/>
        </p:spPr>
        <p:txBody>
          <a:bodyPr wrap="square">
            <a:spAutoFit/>
          </a:bodyPr>
          <a:lstStyle/>
          <a:p>
            <a:pPr algn="ctr">
              <a:defRPr sz="1200" i="1">
                <a:solidFill>
                  <a:srgbClr val="404040"/>
                </a:solidFill>
              </a:defRPr>
            </a:pPr>
            <a:r>
              <a:rPr/>
              <a:t>Cuatro formas de repartir los puntos: al azar parejo, casi todos sobre la frontera, mayormente sobre la frontera, y esquivando la frontera. Arriba con 2 % de los puntos, abajo con 0.3 %. El detalle uno por uno esta en las filminas siguientes.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4745205" name="TextBox 1"/>
          <p:cNvSpPr txBox="1"/>
          <p:nvPr/>
        </p:nvSpPr>
        <p:spPr bwMode="auto">
          <a:xfrm>
            <a:off x="548640" y="320040"/>
            <a:ext cx="11064240" cy="822960"/>
          </a:xfrm>
          <a:prstGeom prst="rect">
            <a:avLst/>
          </a:prstGeom>
          <a:noFill/>
        </p:spPr>
        <p:txBody>
          <a:bodyPr wrap="none">
            <a:spAutoFit/>
          </a:bodyPr>
          <a:lstStyle/>
          <a:p>
            <a:pPr>
              <a:defRPr sz="2600" b="1">
                <a:solidFill>
                  <a:srgbClr val="1F3B73"/>
                </a:solidFill>
              </a:defRPr>
            </a:pPr>
            <a:r>
              <a:rPr/>
              <a:t>2 · Puntos observados y reconstruccion  -  N = 328 puntos  (2% observado)</a:t>
            </a:r>
            <a:endParaRPr/>
          </a:p>
        </p:txBody>
      </p:sp>
      <p:pic>
        <p:nvPicPr>
          <p:cNvPr id="950208804" name="Picture 2" descr="frontier_detail_mf0.980.png"/>
          <p:cNvPicPr>
            <a:picLocks noChangeAspect="1"/>
          </p:cNvPicPr>
          <p:nvPr/>
        </p:nvPicPr>
        <p:blipFill rotWithShape="1">
          <a:blip r:embed="rId3"/>
          <a:stretch/>
        </p:blipFill>
        <p:spPr bwMode="auto">
          <a:xfrm>
            <a:off x="1152681" y="1371600"/>
            <a:ext cx="9883588" cy="4800600"/>
          </a:xfrm>
          <a:prstGeom prst="rect">
            <a:avLst/>
          </a:prstGeom>
        </p:spPr>
      </p:pic>
      <p:sp>
        <p:nvSpPr>
          <p:cNvPr id="292795894" name="TextBox 3"/>
          <p:cNvSpPr txBox="1"/>
          <p:nvPr/>
        </p:nvSpPr>
        <p:spPr bwMode="auto">
          <a:xfrm>
            <a:off x="548640" y="6217920"/>
            <a:ext cx="11064240" cy="548640"/>
          </a:xfrm>
          <a:prstGeom prst="rect">
            <a:avLst/>
          </a:prstGeom>
          <a:noFill/>
        </p:spPr>
        <p:txBody>
          <a:bodyPr wrap="none">
            <a:spAutoFit/>
          </a:bodyPr>
          <a:lstStyle/>
          <a:p>
            <a:pPr algn="ctr">
              <a:defRPr sz="1200" i="1">
                <a:solidFill>
                  <a:srgbClr val="404040"/>
                </a:solidFill>
              </a:defRPr>
            </a:pPr>
            <a:r>
              <a:rPr/>
              <a:t>Arriba, donde caen los puntos observados (en rojo) sobre el mapa real.  Abajo, lo que reconstruye DIP a partir de solo esos puntos.  Misma cantidad en las cuatro columnas, cambia la distribucion.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0553527" name="TextBox 1"/>
          <p:cNvSpPr txBox="1"/>
          <p:nvPr/>
        </p:nvSpPr>
        <p:spPr bwMode="auto">
          <a:xfrm>
            <a:off x="548640" y="320040"/>
            <a:ext cx="11064240" cy="822960"/>
          </a:xfrm>
          <a:prstGeom prst="rect">
            <a:avLst/>
          </a:prstGeom>
          <a:noFill/>
        </p:spPr>
        <p:txBody>
          <a:bodyPr wrap="none">
            <a:spAutoFit/>
          </a:bodyPr>
          <a:lstStyle/>
          <a:p>
            <a:pPr>
              <a:defRPr sz="2600" b="1">
                <a:solidFill>
                  <a:srgbClr val="1F3B73"/>
                </a:solidFill>
              </a:defRPr>
            </a:pPr>
            <a:r>
              <a:rPr/>
              <a:t>2 · Puntos observados y reconstruccion  -  N = 164 puntos  (1% observado)</a:t>
            </a:r>
            <a:endParaRPr/>
          </a:p>
        </p:txBody>
      </p:sp>
      <p:pic>
        <p:nvPicPr>
          <p:cNvPr id="1273218065" name="Picture 2" descr="frontier_detail_mf0.990.png"/>
          <p:cNvPicPr>
            <a:picLocks noChangeAspect="1"/>
          </p:cNvPicPr>
          <p:nvPr/>
        </p:nvPicPr>
        <p:blipFill rotWithShape="1">
          <a:blip r:embed="rId3"/>
          <a:stretch/>
        </p:blipFill>
        <p:spPr bwMode="auto">
          <a:xfrm>
            <a:off x="1152681" y="1371600"/>
            <a:ext cx="9883588" cy="4800600"/>
          </a:xfrm>
          <a:prstGeom prst="rect">
            <a:avLst/>
          </a:prstGeom>
        </p:spPr>
      </p:pic>
      <p:sp>
        <p:nvSpPr>
          <p:cNvPr id="689150575" name="TextBox 3"/>
          <p:cNvSpPr txBox="1"/>
          <p:nvPr/>
        </p:nvSpPr>
        <p:spPr bwMode="auto">
          <a:xfrm>
            <a:off x="548640" y="6217920"/>
            <a:ext cx="11064240" cy="548640"/>
          </a:xfrm>
          <a:prstGeom prst="rect">
            <a:avLst/>
          </a:prstGeom>
          <a:noFill/>
        </p:spPr>
        <p:txBody>
          <a:bodyPr wrap="none">
            <a:spAutoFit/>
          </a:bodyPr>
          <a:lstStyle/>
          <a:p>
            <a:pPr algn="ctr">
              <a:defRPr sz="1200" i="1">
                <a:solidFill>
                  <a:srgbClr val="404040"/>
                </a:solidFill>
              </a:defRPr>
            </a:pPr>
            <a:r>
              <a:rPr/>
              <a:t>Arriba, donde caen los puntos observados (en rojo) sobre el mapa real.  Abajo, lo que reconstruye DIP a partir de solo esos puntos.  Misma cantidad en las cuatro columnas, cambia la distribucion.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5908532" name="TextBox 1"/>
          <p:cNvSpPr txBox="1"/>
          <p:nvPr/>
        </p:nvSpPr>
        <p:spPr bwMode="auto">
          <a:xfrm>
            <a:off x="548640" y="320040"/>
            <a:ext cx="11064240" cy="822960"/>
          </a:xfrm>
          <a:prstGeom prst="rect">
            <a:avLst/>
          </a:prstGeom>
          <a:noFill/>
        </p:spPr>
        <p:txBody>
          <a:bodyPr wrap="none">
            <a:spAutoFit/>
          </a:bodyPr>
          <a:lstStyle/>
          <a:p>
            <a:pPr>
              <a:defRPr sz="2600" b="1">
                <a:solidFill>
                  <a:srgbClr val="1F3B73"/>
                </a:solidFill>
              </a:defRPr>
            </a:pPr>
            <a:r>
              <a:rPr/>
              <a:t>2 · Puntos observados y reconstruccion  -  N = 82 puntos  (0.5% observado)</a:t>
            </a:r>
            <a:endParaRPr/>
          </a:p>
        </p:txBody>
      </p:sp>
      <p:pic>
        <p:nvPicPr>
          <p:cNvPr id="1447172995" name="Picture 2" descr="frontier_detail_mf0.995.png"/>
          <p:cNvPicPr>
            <a:picLocks noChangeAspect="1"/>
          </p:cNvPicPr>
          <p:nvPr/>
        </p:nvPicPr>
        <p:blipFill rotWithShape="1">
          <a:blip r:embed="rId3"/>
          <a:stretch/>
        </p:blipFill>
        <p:spPr bwMode="auto">
          <a:xfrm>
            <a:off x="1152681" y="1371600"/>
            <a:ext cx="9883588" cy="4800600"/>
          </a:xfrm>
          <a:prstGeom prst="rect">
            <a:avLst/>
          </a:prstGeom>
        </p:spPr>
      </p:pic>
      <p:sp>
        <p:nvSpPr>
          <p:cNvPr id="24604894" name="TextBox 3"/>
          <p:cNvSpPr txBox="1"/>
          <p:nvPr/>
        </p:nvSpPr>
        <p:spPr bwMode="auto">
          <a:xfrm>
            <a:off x="548640" y="6217920"/>
            <a:ext cx="11064240" cy="548640"/>
          </a:xfrm>
          <a:prstGeom prst="rect">
            <a:avLst/>
          </a:prstGeom>
          <a:noFill/>
        </p:spPr>
        <p:txBody>
          <a:bodyPr wrap="none">
            <a:spAutoFit/>
          </a:bodyPr>
          <a:lstStyle/>
          <a:p>
            <a:pPr algn="ctr">
              <a:defRPr sz="1200" i="1">
                <a:solidFill>
                  <a:srgbClr val="404040"/>
                </a:solidFill>
              </a:defRPr>
            </a:pPr>
            <a:r>
              <a:rPr/>
              <a:t>Arriba, donde caen los puntos observados (en rojo) sobre el mapa real.  Abajo, lo que reconstruye DIP a partir de solo esos puntos.  Misma cantidad en las cuatro columnas, cambia la distribucion.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2915356" name="TextBox 1"/>
          <p:cNvSpPr txBox="1"/>
          <p:nvPr/>
        </p:nvSpPr>
        <p:spPr bwMode="auto">
          <a:xfrm>
            <a:off x="548640" y="320040"/>
            <a:ext cx="11064240" cy="822960"/>
          </a:xfrm>
          <a:prstGeom prst="rect">
            <a:avLst/>
          </a:prstGeom>
          <a:noFill/>
        </p:spPr>
        <p:txBody>
          <a:bodyPr wrap="none">
            <a:spAutoFit/>
          </a:bodyPr>
          <a:lstStyle/>
          <a:p>
            <a:pPr>
              <a:defRPr sz="2600" b="1">
                <a:solidFill>
                  <a:srgbClr val="1F3B73"/>
                </a:solidFill>
              </a:defRPr>
            </a:pPr>
            <a:r>
              <a:rPr/>
              <a:t>2 · Puntos observados y reconstruccion  -  N = 49 puntos  (0.3% observado)</a:t>
            </a:r>
            <a:endParaRPr/>
          </a:p>
        </p:txBody>
      </p:sp>
      <p:pic>
        <p:nvPicPr>
          <p:cNvPr id="1429402828" name="Picture 2" descr="frontier_detail_mf0.997.png"/>
          <p:cNvPicPr>
            <a:picLocks noChangeAspect="1"/>
          </p:cNvPicPr>
          <p:nvPr/>
        </p:nvPicPr>
        <p:blipFill rotWithShape="1">
          <a:blip r:embed="rId3"/>
          <a:stretch/>
        </p:blipFill>
        <p:spPr bwMode="auto">
          <a:xfrm>
            <a:off x="1152681" y="1371600"/>
            <a:ext cx="9883588" cy="4800600"/>
          </a:xfrm>
          <a:prstGeom prst="rect">
            <a:avLst/>
          </a:prstGeom>
        </p:spPr>
      </p:pic>
      <p:sp>
        <p:nvSpPr>
          <p:cNvPr id="12248535" name="TextBox 3"/>
          <p:cNvSpPr txBox="1"/>
          <p:nvPr/>
        </p:nvSpPr>
        <p:spPr bwMode="auto">
          <a:xfrm>
            <a:off x="548640" y="6217920"/>
            <a:ext cx="11064240" cy="548640"/>
          </a:xfrm>
          <a:prstGeom prst="rect">
            <a:avLst/>
          </a:prstGeom>
          <a:noFill/>
        </p:spPr>
        <p:txBody>
          <a:bodyPr wrap="none">
            <a:spAutoFit/>
          </a:bodyPr>
          <a:lstStyle/>
          <a:p>
            <a:pPr algn="ctr">
              <a:defRPr sz="1200" i="1">
                <a:solidFill>
                  <a:srgbClr val="404040"/>
                </a:solidFill>
              </a:defRPr>
            </a:pPr>
            <a:r>
              <a:rPr/>
              <a:t>Arriba, donde caen los puntos observados (en rojo) sobre el mapa real.  Abajo, lo que reconstruye DIP a partir de solo esos puntos.  Misma cantidad en las cuatro columnas, cambia la distribucion.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9509112" name="TextBox 1"/>
          <p:cNvSpPr txBox="1"/>
          <p:nvPr/>
        </p:nvSpPr>
        <p:spPr bwMode="auto">
          <a:xfrm>
            <a:off x="548640" y="320040"/>
            <a:ext cx="11064240" cy="822960"/>
          </a:xfrm>
          <a:prstGeom prst="rect">
            <a:avLst/>
          </a:prstGeom>
          <a:noFill/>
        </p:spPr>
        <p:txBody>
          <a:bodyPr wrap="none">
            <a:spAutoFit/>
          </a:bodyPr>
          <a:lstStyle/>
          <a:p>
            <a:pPr>
              <a:defRPr sz="2600" b="1">
                <a:solidFill>
                  <a:srgbClr val="1F3B73"/>
                </a:solidFill>
              </a:defRPr>
            </a:pPr>
            <a:r>
              <a:rPr/>
              <a:t>2 · Puntos observados y reconstruccion  -  N = 33 puntos  (0.2% observado)</a:t>
            </a:r>
            <a:endParaRPr/>
          </a:p>
        </p:txBody>
      </p:sp>
      <p:pic>
        <p:nvPicPr>
          <p:cNvPr id="1803896168" name="Picture 2" descr="frontier_detail_mf0.998.png"/>
          <p:cNvPicPr>
            <a:picLocks noChangeAspect="1"/>
          </p:cNvPicPr>
          <p:nvPr/>
        </p:nvPicPr>
        <p:blipFill rotWithShape="1">
          <a:blip r:embed="rId3"/>
          <a:stretch/>
        </p:blipFill>
        <p:spPr bwMode="auto">
          <a:xfrm>
            <a:off x="1152681" y="1371600"/>
            <a:ext cx="9883588" cy="4800600"/>
          </a:xfrm>
          <a:prstGeom prst="rect">
            <a:avLst/>
          </a:prstGeom>
        </p:spPr>
      </p:pic>
      <p:sp>
        <p:nvSpPr>
          <p:cNvPr id="544498266" name="TextBox 3"/>
          <p:cNvSpPr txBox="1"/>
          <p:nvPr/>
        </p:nvSpPr>
        <p:spPr bwMode="auto">
          <a:xfrm>
            <a:off x="548640" y="6217920"/>
            <a:ext cx="11064240" cy="548640"/>
          </a:xfrm>
          <a:prstGeom prst="rect">
            <a:avLst/>
          </a:prstGeom>
          <a:noFill/>
        </p:spPr>
        <p:txBody>
          <a:bodyPr wrap="none">
            <a:spAutoFit/>
          </a:bodyPr>
          <a:lstStyle/>
          <a:p>
            <a:pPr algn="ctr">
              <a:defRPr sz="1200" i="1">
                <a:solidFill>
                  <a:srgbClr val="404040"/>
                </a:solidFill>
              </a:defRPr>
            </a:pPr>
            <a:r>
              <a:rPr/>
              <a:t>Arriba, donde caen los puntos observados (en rojo) sobre el mapa real.  Abajo, lo que reconstruye DIP a partir de solo esos puntos.  Misma cantidad en las cuatro columnas, cambia la distribucion.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1294571" name="TextBox 1"/>
          <p:cNvSpPr txBox="1"/>
          <p:nvPr/>
        </p:nvSpPr>
        <p:spPr bwMode="auto">
          <a:xfrm>
            <a:off x="548640" y="320040"/>
            <a:ext cx="11064240" cy="822960"/>
          </a:xfrm>
          <a:prstGeom prst="rect">
            <a:avLst/>
          </a:prstGeom>
          <a:noFill/>
        </p:spPr>
        <p:txBody>
          <a:bodyPr wrap="none">
            <a:spAutoFit/>
          </a:bodyPr>
          <a:lstStyle/>
          <a:p>
            <a:pPr>
              <a:defRPr sz="2600" b="1">
                <a:solidFill>
                  <a:srgbClr val="1F3B73"/>
                </a:solidFill>
              </a:defRPr>
            </a:pPr>
            <a:r>
              <a:rPr/>
              <a:t>2 · Puntos observados y reconstruccion  -  N = 16 puntos  (0.1% observado)</a:t>
            </a:r>
            <a:endParaRPr/>
          </a:p>
        </p:txBody>
      </p:sp>
      <p:pic>
        <p:nvPicPr>
          <p:cNvPr id="1321104225" name="Picture 2" descr="frontier_detail_mf0.999.png"/>
          <p:cNvPicPr>
            <a:picLocks noChangeAspect="1"/>
          </p:cNvPicPr>
          <p:nvPr/>
        </p:nvPicPr>
        <p:blipFill rotWithShape="1">
          <a:blip r:embed="rId3"/>
          <a:stretch/>
        </p:blipFill>
        <p:spPr bwMode="auto">
          <a:xfrm>
            <a:off x="1152681" y="1371600"/>
            <a:ext cx="9883588" cy="4800600"/>
          </a:xfrm>
          <a:prstGeom prst="rect">
            <a:avLst/>
          </a:prstGeom>
        </p:spPr>
      </p:pic>
      <p:sp>
        <p:nvSpPr>
          <p:cNvPr id="1298116083" name="TextBox 3"/>
          <p:cNvSpPr txBox="1"/>
          <p:nvPr/>
        </p:nvSpPr>
        <p:spPr bwMode="auto">
          <a:xfrm>
            <a:off x="548640" y="6217920"/>
            <a:ext cx="11064240" cy="548640"/>
          </a:xfrm>
          <a:prstGeom prst="rect">
            <a:avLst/>
          </a:prstGeom>
          <a:noFill/>
        </p:spPr>
        <p:txBody>
          <a:bodyPr wrap="none">
            <a:spAutoFit/>
          </a:bodyPr>
          <a:lstStyle/>
          <a:p>
            <a:pPr algn="ctr">
              <a:defRPr sz="1200" i="1">
                <a:solidFill>
                  <a:srgbClr val="404040"/>
                </a:solidFill>
              </a:defRPr>
            </a:pPr>
            <a:r>
              <a:rPr/>
              <a:t>Arriba, donde caen los puntos observados (en rojo) sobre el mapa real.  Abajo, lo que reconstruye DIP a partir de solo esos puntos.  Misma cantidad en las cuatro columnas, cambia la distribucion.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1212672" name="TextBox 1"/>
          <p:cNvSpPr txBox="1"/>
          <p:nvPr/>
        </p:nvSpPr>
        <p:spPr bwMode="auto">
          <a:xfrm>
            <a:off x="548640" y="320040"/>
            <a:ext cx="9717884" cy="884279"/>
          </a:xfrm>
          <a:prstGeom prst="rect">
            <a:avLst/>
          </a:prstGeom>
          <a:noFill/>
        </p:spPr>
        <p:txBody>
          <a:bodyPr wrap="none">
            <a:spAutoFit/>
          </a:bodyPr>
          <a:lstStyle/>
          <a:p>
            <a:pPr>
              <a:defRPr sz="2600" b="1">
                <a:solidFill>
                  <a:srgbClr val="1F3B73"/>
                </a:solidFill>
              </a:defRPr>
            </a:pPr>
            <a:r>
              <a:rPr/>
              <a:t>2 · Concentrar los puntos en la frontera es lo peor que se puede hacer</a:t>
            </a:r>
            <a:r>
              <a:rPr lang="es-ES"/>
              <a:t> </a:t>
            </a:r>
            <a:endParaRPr lang="es-ES"/>
          </a:p>
          <a:p>
            <a:pPr>
              <a:defRPr sz="2600" b="1">
                <a:solidFill>
                  <a:srgbClr val="1F3B73"/>
                </a:solidFill>
              </a:defRPr>
            </a:pPr>
            <a:r>
              <a:rPr lang="es-ES"/>
              <a:t>    (sorprendentemente)</a:t>
            </a:r>
            <a:endParaRPr/>
          </a:p>
        </p:txBody>
      </p:sp>
      <p:graphicFrame>
        <p:nvGraphicFramePr>
          <p:cNvPr id="2022346854" name="Table 2"/>
          <p:cNvGraphicFramePr>
            <a:graphicFrameLocks xmlns:a="http://schemas.openxmlformats.org/drawingml/2006/main" noGrp="1"/>
          </p:cNvGraphicFramePr>
          <p:nvPr/>
        </p:nvGraphicFramePr>
        <p:xfrm rot="0">
          <a:off x="914400" y="1813413"/>
          <a:ext cx="10332720" cy="1920240"/>
        </p:xfrm>
        <a:graphic>
          <a:graphicData uri="http://schemas.openxmlformats.org/drawingml/2006/table">
            <a:tbl>
              <a:tblPr firstRow="1" firstCol="0" lastRow="0" lastCol="0" bandRow="1" bandCol="0">
                <a:tableStyleId>{5C22544A-7EE6-4342-B048-85BDC9FD1C3A}</a:tableStyleId>
              </a:tblPr>
              <a:tblGrid>
                <a:gridCol w="2743200"/>
                <a:gridCol w="1463040"/>
                <a:gridCol w="1188720"/>
                <a:gridCol w="4937760"/>
              </a:tblGrid>
              <a:tr h="515141">
                <a:tc>
                  <a:txBody>
                    <a:bodyPr/>
                    <a:p>
                      <a:pPr>
                        <a:defRPr sz="1400" b="1"/>
                      </a:pPr>
                      <a:r>
                        <a:rPr/>
                        <a:t>distribucion</a:t>
                      </a:r>
                      <a:endParaRPr/>
                    </a:p>
                  </a:txBody>
                  <a:tcPr/>
                </a:tc>
                <a:tc>
                  <a:txBody>
                    <a:bodyPr/>
                    <a:p>
                      <a:pPr>
                        <a:defRPr sz="1400" b="1"/>
                      </a:pPr>
                      <a:r>
                        <a:rPr/>
                        <a:t>PSNR [dB]</a:t>
                      </a:r>
                      <a:endParaRPr/>
                    </a:p>
                  </a:txBody>
                  <a:tcPr/>
                </a:tc>
                <a:tc>
                  <a:txBody>
                    <a:bodyPr/>
                    <a:p>
                      <a:pPr>
                        <a:defRPr sz="1400" b="1"/>
                      </a:pPr>
                      <a:r>
                        <a:rPr/>
                        <a:t>SSIM</a:t>
                      </a:r>
                      <a:endParaRPr/>
                    </a:p>
                  </a:txBody>
                  <a:tcPr/>
                </a:tc>
                <a:tc>
                  <a:txBody>
                    <a:bodyPr/>
                    <a:p>
                      <a:pPr>
                        <a:defRPr sz="1400" b="1"/>
                      </a:pPr>
                      <a:r>
                        <a:rPr/>
                        <a:t>lectura  (con 2 % de puntos observados, N = 328)</a:t>
                      </a:r>
                      <a:endParaRPr/>
                    </a:p>
                  </a:txBody>
                  <a:tcPr/>
                </a:tc>
              </a:tr>
              <a:tr h="515141">
                <a:tc>
                  <a:txBody>
                    <a:bodyPr/>
                    <a:p>
                      <a:pPr>
                        <a:defRPr sz="1300" b="1"/>
                      </a:pPr>
                      <a:r>
                        <a:rPr/>
                        <a:t>uniform</a:t>
                      </a:r>
                      <a:endParaRPr/>
                    </a:p>
                  </a:txBody>
                  <a:tcPr/>
                </a:tc>
                <a:tc>
                  <a:txBody>
                    <a:bodyPr/>
                    <a:p>
                      <a:pPr>
                        <a:defRPr sz="1300" b="0"/>
                      </a:pPr>
                      <a:r>
                        <a:rPr/>
                        <a:t>34.4</a:t>
                      </a:r>
                      <a:endParaRPr/>
                    </a:p>
                  </a:txBody>
                  <a:tcPr/>
                </a:tc>
                <a:tc>
                  <a:txBody>
                    <a:bodyPr/>
                    <a:p>
                      <a:pPr>
                        <a:defRPr sz="1300" b="0"/>
                      </a:pPr>
                      <a:r>
                        <a:rPr/>
                        <a:t>0.984</a:t>
                      </a:r>
                      <a:endParaRPr/>
                    </a:p>
                  </a:txBody>
                  <a:tcPr/>
                </a:tc>
                <a:tc>
                  <a:txBody>
                    <a:bodyPr/>
                    <a:p>
                      <a:pPr>
                        <a:defRPr sz="1300" b="0"/>
                      </a:pPr>
                      <a:r>
                        <a:rPr/>
                        <a:t>la mejor</a:t>
                      </a:r>
                      <a:endParaRPr/>
                    </a:p>
                  </a:txBody>
                  <a:tcPr/>
                </a:tc>
              </a:tr>
              <a:tr h="515141">
                <a:tc>
                  <a:txBody>
                    <a:bodyPr/>
                    <a:p>
                      <a:pPr>
                        <a:defRPr sz="1300" b="1"/>
                      </a:pPr>
                      <a:r>
                        <a:rPr/>
                        <a:t>spread (evita la frontera)</a:t>
                      </a:r>
                      <a:endParaRPr/>
                    </a:p>
                  </a:txBody>
                  <a:tcPr/>
                </a:tc>
                <a:tc>
                  <a:txBody>
                    <a:bodyPr/>
                    <a:p>
                      <a:pPr>
                        <a:defRPr sz="1300" b="0"/>
                      </a:pPr>
                      <a:r>
                        <a:rPr/>
                        <a:t>29.2</a:t>
                      </a:r>
                      <a:endParaRPr/>
                    </a:p>
                  </a:txBody>
                  <a:tcPr/>
                </a:tc>
                <a:tc>
                  <a:txBody>
                    <a:bodyPr/>
                    <a:p>
                      <a:pPr>
                        <a:defRPr sz="1300" b="0"/>
                      </a:pPr>
                      <a:r>
                        <a:rPr/>
                        <a:t>0.974</a:t>
                      </a:r>
                      <a:endParaRPr/>
                    </a:p>
                  </a:txBody>
                  <a:tcPr/>
                </a:tc>
                <a:tc>
                  <a:txBody>
                    <a:bodyPr/>
                    <a:p>
                      <a:pPr>
                        <a:defRPr sz="1300" b="0"/>
                      </a:pPr>
                      <a:r>
                        <a:rPr/>
                        <a:t>casi igual; un poco mejor cuando hay muy pocos puntos</a:t>
                      </a:r>
                      <a:endParaRPr/>
                    </a:p>
                  </a:txBody>
                  <a:tcPr/>
                </a:tc>
              </a:tr>
              <a:tr h="515141">
                <a:tc>
                  <a:txBody>
                    <a:bodyPr/>
                    <a:p>
                      <a:pPr>
                        <a:defRPr sz="1300" b="1"/>
                      </a:pPr>
                      <a:r>
                        <a:rPr/>
                        <a:t>frontier_mix</a:t>
                      </a:r>
                      <a:endParaRPr/>
                    </a:p>
                  </a:txBody>
                  <a:tcPr/>
                </a:tc>
                <a:tc>
                  <a:txBody>
                    <a:bodyPr/>
                    <a:p>
                      <a:pPr>
                        <a:defRPr sz="1300" b="0"/>
                      </a:pPr>
                      <a:r>
                        <a:rPr/>
                        <a:t>22.5</a:t>
                      </a:r>
                      <a:endParaRPr/>
                    </a:p>
                  </a:txBody>
                  <a:tcPr/>
                </a:tc>
                <a:tc>
                  <a:txBody>
                    <a:bodyPr/>
                    <a:p>
                      <a:pPr>
                        <a:defRPr sz="1300" b="0"/>
                      </a:pPr>
                      <a:r>
                        <a:rPr/>
                        <a:t>0.749</a:t>
                      </a:r>
                      <a:endParaRPr/>
                    </a:p>
                  </a:txBody>
                  <a:tcPr/>
                </a:tc>
                <a:tc>
                  <a:txBody>
                    <a:bodyPr/>
                    <a:p>
                      <a:pPr>
                        <a:defRPr sz="1300" b="0"/>
                      </a:pPr>
                      <a:r>
                        <a:rPr/>
                        <a:t>se cae rapido en cuanto bajan los puntos</a:t>
                      </a:r>
                      <a:endParaRPr/>
                    </a:p>
                  </a:txBody>
                  <a:tcPr/>
                </a:tc>
              </a:tr>
              <a:tr h="515141">
                <a:tc>
                  <a:txBody>
                    <a:bodyPr/>
                    <a:p>
                      <a:pPr>
                        <a:defRPr sz="1300" b="1"/>
                      </a:pPr>
                      <a:r>
                        <a:rPr/>
                        <a:t>frontier (todo en la frontera)</a:t>
                      </a:r>
                      <a:endParaRPr/>
                    </a:p>
                  </a:txBody>
                  <a:tcPr/>
                </a:tc>
                <a:tc>
                  <a:txBody>
                    <a:bodyPr/>
                    <a:p>
                      <a:pPr>
                        <a:defRPr sz="1300" b="0"/>
                      </a:pPr>
                      <a:r>
                        <a:rPr/>
                        <a:t>9.8</a:t>
                      </a:r>
                      <a:endParaRPr/>
                    </a:p>
                  </a:txBody>
                  <a:tcPr/>
                </a:tc>
                <a:tc>
                  <a:txBody>
                    <a:bodyPr/>
                    <a:p>
                      <a:pPr>
                        <a:defRPr sz="1300" b="0"/>
                      </a:pPr>
                      <a:r>
                        <a:rPr/>
                        <a:t>0.359</a:t>
                      </a:r>
                      <a:endParaRPr/>
                    </a:p>
                  </a:txBody>
                  <a:tcPr/>
                </a:tc>
                <a:tc>
                  <a:txBody>
                    <a:bodyPr/>
                    <a:p>
                      <a:pPr>
                        <a:defRPr sz="1300" b="0"/>
                      </a:pPr>
                      <a:r>
                        <a:rPr/>
                        <a:t>se queda plano en ~9 dB para cualquier N</a:t>
                      </a:r>
                      <a:endParaRPr/>
                    </a:p>
                  </a:txBody>
                  <a:tcPr/>
                </a:tc>
              </a:tr>
            </a:tbl>
          </a:graphicData>
        </a:graphic>
      </p:graphicFrame>
      <p:sp>
        <p:nvSpPr>
          <p:cNvPr id="909210947" name="TextBox 3"/>
          <p:cNvSpPr txBox="1"/>
          <p:nvPr/>
        </p:nvSpPr>
        <p:spPr bwMode="auto">
          <a:xfrm>
            <a:off x="912240" y="5141594"/>
            <a:ext cx="10334879" cy="640440"/>
          </a:xfrm>
          <a:prstGeom prst="rect">
            <a:avLst/>
          </a:prstGeom>
          <a:noFill/>
        </p:spPr>
        <p:txBody>
          <a:bodyPr wrap="square">
            <a:spAutoFit/>
          </a:bodyPr>
          <a:lstStyle/>
          <a:p>
            <a:pPr>
              <a:defRPr sz="1100" i="1">
                <a:solidFill>
                  <a:srgbClr val="404040"/>
                </a:solidFill>
              </a:defRPr>
            </a:pPr>
            <a:r>
              <a:rPr sz="1800"/>
              <a:t>La razon: DIP no puede fijar las dos mesetas  si no tiene puntos ahi.</a:t>
            </a:r>
            <a:endParaRPr sz="1800"/>
          </a:p>
          <a:p>
            <a:pPr>
              <a:defRPr sz="1100" i="1">
                <a:solidFill>
                  <a:srgbClr val="404040"/>
                </a:solidFill>
              </a:defRPr>
            </a:pPr>
            <a:endParaRPr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690726" name="TextBox 1"/>
          <p:cNvSpPr txBox="1"/>
          <p:nvPr/>
        </p:nvSpPr>
        <p:spPr bwMode="auto">
          <a:xfrm>
            <a:off x="548640" y="320040"/>
            <a:ext cx="11064240" cy="822960"/>
          </a:xfrm>
          <a:prstGeom prst="rect">
            <a:avLst/>
          </a:prstGeom>
          <a:noFill/>
        </p:spPr>
        <p:txBody>
          <a:bodyPr wrap="none">
            <a:spAutoFit/>
          </a:bodyPr>
          <a:lstStyle/>
          <a:p>
            <a:pPr>
              <a:defRPr sz="2600" b="1">
                <a:solidFill>
                  <a:srgbClr val="1F3B73"/>
                </a:solidFill>
              </a:defRPr>
            </a:pPr>
            <a:r>
              <a:rPr/>
              <a:t>3 · Cuantos puntos hacen falta  -  barrido de mf 0.80 a 0.999 (104 corridas)</a:t>
            </a:r>
            <a:endParaRPr/>
          </a:p>
        </p:txBody>
      </p:sp>
      <p:pic>
        <p:nvPicPr>
          <p:cNvPr id="1326945552" name="Picture 2" descr="plateau_vs_N.png"/>
          <p:cNvPicPr>
            <a:picLocks noChangeAspect="1"/>
          </p:cNvPicPr>
          <p:nvPr/>
        </p:nvPicPr>
        <p:blipFill rotWithShape="1">
          <a:blip r:embed="rId3"/>
          <a:stretch/>
        </p:blipFill>
        <p:spPr bwMode="auto">
          <a:xfrm>
            <a:off x="196594" y="1694329"/>
            <a:ext cx="11795760" cy="3469341"/>
          </a:xfrm>
          <a:prstGeom prst="rect">
            <a:avLst/>
          </a:prstGeom>
        </p:spPr>
      </p:pic>
      <p:sp>
        <p:nvSpPr>
          <p:cNvPr id="45853066" name="TextBox 3"/>
          <p:cNvSpPr txBox="1"/>
          <p:nvPr/>
        </p:nvSpPr>
        <p:spPr bwMode="auto">
          <a:xfrm>
            <a:off x="548640" y="5669279"/>
            <a:ext cx="11064240" cy="548640"/>
          </a:xfrm>
          <a:prstGeom prst="rect">
            <a:avLst/>
          </a:prstGeom>
          <a:noFill/>
        </p:spPr>
        <p:txBody>
          <a:bodyPr wrap="square">
            <a:spAutoFit/>
          </a:bodyPr>
          <a:lstStyle/>
          <a:p>
            <a:pPr algn="ctr">
              <a:defRPr sz="1200" i="1">
                <a:solidFill>
                  <a:srgbClr val="404040"/>
                </a:solidFill>
              </a:defRPr>
            </a:pPr>
            <a:r>
              <a:rPr/>
              <a:t>Calidad de la reconstruccion segun cuantos puntos se le dan, una linea por forma de repartirlos. La punteada es el minimo que tomamos como aceptable. Con menos de ~0.5 % de puntos se cae todo.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90777934" name="TextBox 1"/>
          <p:cNvSpPr txBox="1"/>
          <p:nvPr/>
        </p:nvSpPr>
        <p:spPr bwMode="auto">
          <a:xfrm>
            <a:off x="548640" y="320040"/>
            <a:ext cx="11064240" cy="822960"/>
          </a:xfrm>
          <a:prstGeom prst="rect">
            <a:avLst/>
          </a:prstGeom>
          <a:noFill/>
        </p:spPr>
        <p:txBody>
          <a:bodyPr wrap="none">
            <a:spAutoFit/>
          </a:bodyPr>
          <a:lstStyle/>
          <a:p>
            <a:pPr>
              <a:defRPr sz="2600" b="1">
                <a:solidFill>
                  <a:srgbClr val="1F3B73"/>
                </a:solidFill>
              </a:defRPr>
            </a:pPr>
            <a:r>
              <a:rPr/>
              <a:t>3 · Un valor estandar para dejar de barrer N</a:t>
            </a:r>
            <a:endParaRPr/>
          </a:p>
        </p:txBody>
      </p:sp>
      <p:graphicFrame>
        <p:nvGraphicFramePr>
          <p:cNvPr id="1956317225" name="Table 2"/>
          <p:cNvGraphicFramePr>
            <a:graphicFrameLocks xmlns:a="http://schemas.openxmlformats.org/drawingml/2006/main" noGrp="1"/>
          </p:cNvGraphicFramePr>
          <p:nvPr/>
        </p:nvGraphicFramePr>
        <p:xfrm rot="0">
          <a:off x="914400" y="1829532"/>
          <a:ext cx="9966960" cy="2218592"/>
        </p:xfrm>
        <a:graphic>
          <a:graphicData uri="http://schemas.openxmlformats.org/drawingml/2006/table">
            <a:tbl>
              <a:tblPr firstRow="1" firstCol="0" lastRow="0" lastCol="0" bandRow="1" bandCol="0">
                <a:tableStyleId>{5C22544A-7EE6-4342-B048-85BDC9FD1C3A}</a:tableStyleId>
              </a:tblPr>
              <a:tblGrid>
                <a:gridCol w="5486400"/>
                <a:gridCol w="1463040"/>
                <a:gridCol w="1828800"/>
                <a:gridCol w="1188720"/>
              </a:tblGrid>
              <a:tr h="554648">
                <a:tc>
                  <a:txBody>
                    <a:bodyPr/>
                    <a:p>
                      <a:pPr>
                        <a:defRPr sz="1400" b="1"/>
                      </a:pPr>
                      <a:r>
                        <a:rPr/>
                        <a:t>criterio (distribucion uniform)</a:t>
                      </a:r>
                      <a:endParaRPr/>
                    </a:p>
                  </a:txBody>
                  <a:tcPr/>
                </a:tc>
                <a:tc>
                  <a:txBody>
                    <a:bodyPr/>
                    <a:p>
                      <a:pPr>
                        <a:defRPr sz="1400" b="1"/>
                      </a:pPr>
                      <a:r>
                        <a:rPr/>
                        <a:t>N minimo</a:t>
                      </a:r>
                      <a:endParaRPr/>
                    </a:p>
                  </a:txBody>
                  <a:tcPr/>
                </a:tc>
                <a:tc>
                  <a:txBody>
                    <a:bodyPr/>
                    <a:p>
                      <a:pPr>
                        <a:defRPr sz="1400" b="1"/>
                      </a:pPr>
                      <a:r>
                        <a:rPr/>
                        <a:t>% observado</a:t>
                      </a:r>
                      <a:endParaRPr/>
                    </a:p>
                  </a:txBody>
                  <a:tcPr/>
                </a:tc>
                <a:tc>
                  <a:txBody>
                    <a:bodyPr/>
                    <a:p>
                      <a:pPr>
                        <a:defRPr sz="1400" b="1"/>
                      </a:pPr>
                      <a:r>
                        <a:rPr/>
                        <a:t>mf</a:t>
                      </a:r>
                      <a:endParaRPr/>
                    </a:p>
                  </a:txBody>
                  <a:tcPr/>
                </a:tc>
              </a:tr>
              <a:tr h="554648">
                <a:tc>
                  <a:txBody>
                    <a:bodyPr/>
                    <a:p>
                      <a:pPr>
                        <a:defRPr sz="1300" b="1"/>
                      </a:pPr>
                      <a:r>
                        <a:rPr/>
                        <a:t>reconstruccion confiable  (SSIM &gt;= 0.97 y PSNR &gt;= 30)</a:t>
                      </a:r>
                      <a:endParaRPr/>
                    </a:p>
                  </a:txBody>
                  <a:tcPr/>
                </a:tc>
                <a:tc>
                  <a:txBody>
                    <a:bodyPr/>
                    <a:p>
                      <a:pPr>
                        <a:defRPr sz="1300" b="0"/>
                      </a:pPr>
                      <a:r>
                        <a:rPr/>
                        <a:t>~164</a:t>
                      </a:r>
                      <a:endParaRPr/>
                    </a:p>
                  </a:txBody>
                  <a:tcPr/>
                </a:tc>
                <a:tc>
                  <a:txBody>
                    <a:bodyPr/>
                    <a:p>
                      <a:pPr>
                        <a:defRPr sz="1300" b="0"/>
                      </a:pPr>
                      <a:r>
                        <a:rPr/>
                        <a:t>1 %</a:t>
                      </a:r>
                      <a:endParaRPr/>
                    </a:p>
                  </a:txBody>
                  <a:tcPr/>
                </a:tc>
                <a:tc>
                  <a:txBody>
                    <a:bodyPr/>
                    <a:p>
                      <a:pPr>
                        <a:defRPr sz="1300" b="0"/>
                      </a:pPr>
                      <a:r>
                        <a:rPr/>
                        <a:t>0.99</a:t>
                      </a:r>
                      <a:endParaRPr/>
                    </a:p>
                  </a:txBody>
                  <a:tcPr/>
                </a:tc>
              </a:tr>
              <a:tr h="554648">
                <a:tc>
                  <a:txBody>
                    <a:bodyPr/>
                    <a:p>
                      <a:pPr>
                        <a:defRPr sz="1300" b="1"/>
                      </a:pPr>
                      <a:r>
                        <a:rPr/>
                        <a:t>casi perfecta  (SSIM &gt;= 0.99)</a:t>
                      </a:r>
                      <a:endParaRPr/>
                    </a:p>
                  </a:txBody>
                  <a:tcPr/>
                </a:tc>
                <a:tc>
                  <a:txBody>
                    <a:bodyPr/>
                    <a:p>
                      <a:pPr>
                        <a:defRPr sz="1300" b="0"/>
                      </a:pPr>
                      <a:r>
                        <a:rPr/>
                        <a:t>~492</a:t>
                      </a:r>
                      <a:endParaRPr/>
                    </a:p>
                  </a:txBody>
                  <a:tcPr/>
                </a:tc>
                <a:tc>
                  <a:txBody>
                    <a:bodyPr/>
                    <a:p>
                      <a:pPr>
                        <a:defRPr sz="1300" b="0"/>
                      </a:pPr>
                      <a:r>
                        <a:rPr/>
                        <a:t>3 %</a:t>
                      </a:r>
                      <a:endParaRPr/>
                    </a:p>
                  </a:txBody>
                  <a:tcPr/>
                </a:tc>
                <a:tc>
                  <a:txBody>
                    <a:bodyPr/>
                    <a:p>
                      <a:pPr>
                        <a:defRPr sz="1300" b="0"/>
                      </a:pPr>
                      <a:r>
                        <a:rPr/>
                        <a:t>0.97</a:t>
                      </a:r>
                      <a:endParaRPr/>
                    </a:p>
                  </a:txBody>
                  <a:tcPr/>
                </a:tc>
              </a:tr>
              <a:tr h="554648">
                <a:tc>
                  <a:txBody>
                    <a:bodyPr/>
                    <a:p>
                      <a:pPr>
                        <a:defRPr sz="1300" b="1"/>
                      </a:pPr>
                      <a:r>
                        <a:rPr/>
                        <a:t>codo de la curva  (sumar puntos ya no aporta)</a:t>
                      </a:r>
                      <a:endParaRPr/>
                    </a:p>
                  </a:txBody>
                  <a:tcPr/>
                </a:tc>
                <a:tc>
                  <a:txBody>
                    <a:bodyPr/>
                    <a:p>
                      <a:pPr>
                        <a:defRPr sz="1300" b="0"/>
                      </a:pPr>
                      <a:r>
                        <a:rPr/>
                        <a:t>~819</a:t>
                      </a:r>
                      <a:endParaRPr/>
                    </a:p>
                  </a:txBody>
                  <a:tcPr/>
                </a:tc>
                <a:tc>
                  <a:txBody>
                    <a:bodyPr/>
                    <a:p>
                      <a:pPr>
                        <a:defRPr sz="1300" b="0"/>
                      </a:pPr>
                      <a:r>
                        <a:rPr/>
                        <a:t>5 %</a:t>
                      </a:r>
                      <a:endParaRPr/>
                    </a:p>
                  </a:txBody>
                  <a:tcPr/>
                </a:tc>
                <a:tc>
                  <a:txBody>
                    <a:bodyPr/>
                    <a:p>
                      <a:pPr>
                        <a:defRPr sz="1300" b="0"/>
                      </a:pPr>
                      <a:r>
                        <a:rPr/>
                        <a:t>0.95</a:t>
                      </a:r>
                      <a:endParaRPr/>
                    </a:p>
                  </a:txBody>
                  <a:tcPr/>
                </a:tc>
              </a:tr>
            </a:tbl>
          </a:graphicData>
        </a:graphic>
      </p:graphicFrame>
      <p:sp>
        <p:nvSpPr>
          <p:cNvPr id="490641528" name="TextBox 3"/>
          <p:cNvSpPr txBox="1"/>
          <p:nvPr/>
        </p:nvSpPr>
        <p:spPr bwMode="auto">
          <a:xfrm flipH="0" flipV="0">
            <a:off x="914399" y="4615961"/>
            <a:ext cx="10396798" cy="1067159"/>
          </a:xfrm>
          <a:prstGeom prst="rect">
            <a:avLst/>
          </a:prstGeom>
          <a:noFill/>
        </p:spPr>
        <p:txBody>
          <a:bodyPr wrap="square">
            <a:spAutoFit/>
          </a:bodyPr>
          <a:lstStyle/>
          <a:p>
            <a:pPr>
              <a:defRPr sz="1100" i="1">
                <a:solidFill>
                  <a:srgbClr val="404040"/>
                </a:solidFill>
              </a:defRPr>
            </a:pPr>
            <a:r>
              <a:rPr sz="1600"/>
              <a:t>Propuesta: usar siempre 2 % de puntos (unos 330 en una imagen de 128x128). Da buena calidad con margen y evita seguir barriendo este numero en cada experimento.</a:t>
            </a:r>
            <a:endParaRPr sz="2400"/>
          </a:p>
          <a:p>
            <a:pPr>
              <a:defRPr sz="1100" i="1">
                <a:solidFill>
                  <a:srgbClr val="404040"/>
                </a:solidFill>
              </a:defRPr>
            </a:pPr>
            <a:r>
              <a:rPr sz="1600"/>
              <a:t>Queda la duda de si ese 2 % va a alcanzar cuando los puntos vengan de KMC real y no del mapa liso.</a:t>
            </a:r>
            <a:endParaRPr sz="1600"/>
          </a:p>
          <a:p>
            <a:pPr>
              <a:defRPr sz="1100" i="1">
                <a:solidFill>
                  <a:srgbClr val="404040"/>
                </a:solidFill>
              </a:defRPr>
            </a:pPr>
            <a:r>
              <a:rPr sz="1600"/>
              <a:t>De lo que se habia pedido (98 a 99.9 %): de 99.5 % para arriba ya no reconstruye.</a:t>
            </a:r>
            <a:endParaRPr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0072387" name="TextBox 1"/>
          <p:cNvSpPr txBox="1"/>
          <p:nvPr/>
        </p:nvSpPr>
        <p:spPr bwMode="auto">
          <a:xfrm>
            <a:off x="548640" y="320040"/>
            <a:ext cx="11064240" cy="822960"/>
          </a:xfrm>
          <a:prstGeom prst="rect">
            <a:avLst/>
          </a:prstGeom>
          <a:noFill/>
        </p:spPr>
        <p:txBody>
          <a:bodyPr wrap="none">
            <a:spAutoFit/>
          </a:bodyPr>
          <a:lstStyle/>
          <a:p>
            <a:pPr>
              <a:defRPr sz="2600" b="1">
                <a:solidFill>
                  <a:srgbClr val="1F3B73"/>
                </a:solidFill>
              </a:defRPr>
            </a:pPr>
            <a:r>
              <a:rPr/>
              <a:t>4 · El error en funcion de la iteracion</a:t>
            </a:r>
            <a:endParaRPr/>
          </a:p>
        </p:txBody>
      </p:sp>
      <p:pic>
        <p:nvPicPr>
          <p:cNvPr id="298446918" name="Picture 2" descr="iter_curves.png"/>
          <p:cNvPicPr>
            <a:picLocks noChangeAspect="1"/>
          </p:cNvPicPr>
          <p:nvPr/>
        </p:nvPicPr>
        <p:blipFill rotWithShape="1">
          <a:blip r:embed="rId3"/>
          <a:stretch/>
        </p:blipFill>
        <p:spPr bwMode="auto">
          <a:xfrm>
            <a:off x="251546" y="1142999"/>
            <a:ext cx="11795760" cy="4173884"/>
          </a:xfrm>
          <a:prstGeom prst="rect">
            <a:avLst/>
          </a:prstGeom>
        </p:spPr>
      </p:pic>
      <p:sp>
        <p:nvSpPr>
          <p:cNvPr id="487860093" name="TextBox 3"/>
          <p:cNvSpPr txBox="1"/>
          <p:nvPr/>
        </p:nvSpPr>
        <p:spPr bwMode="auto">
          <a:xfrm>
            <a:off x="548640" y="5760720"/>
            <a:ext cx="11064240" cy="1005840"/>
          </a:xfrm>
          <a:prstGeom prst="rect">
            <a:avLst/>
          </a:prstGeom>
          <a:noFill/>
        </p:spPr>
        <p:txBody>
          <a:bodyPr wrap="square">
            <a:spAutoFit/>
          </a:bodyPr>
          <a:lstStyle/>
          <a:p>
            <a:pPr algn="ctr">
              <a:defRPr sz="1200" i="1">
                <a:solidFill>
                  <a:srgbClr val="404040"/>
                </a:solidFill>
              </a:defRPr>
            </a:pPr>
            <a:r>
              <a:rPr/>
              <a:t>Que se hizo: en corridas faciles y dificiles guardamos, iteracion por iteracion, el error contra el mapa verdadero y el error sobre los puntos que ve el algoritmo. En los casos dificiles el verdadero toca fondo temprano y despues empeora, aunque el otro siga bajando. El circulo marca el mejor momento.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1472360" name="TextBox 1"/>
          <p:cNvSpPr txBox="1"/>
          <p:nvPr/>
        </p:nvSpPr>
        <p:spPr bwMode="auto">
          <a:xfrm>
            <a:off x="548640" y="320040"/>
            <a:ext cx="11064240" cy="822960"/>
          </a:xfrm>
          <a:prstGeom prst="rect">
            <a:avLst/>
          </a:prstGeom>
          <a:noFill/>
        </p:spPr>
        <p:txBody>
          <a:bodyPr wrap="none">
            <a:spAutoFit/>
          </a:bodyPr>
          <a:lstStyle/>
          <a:p>
            <a:pPr>
              <a:defRPr sz="2700" b="1">
                <a:solidFill>
                  <a:srgbClr val="1F3B73"/>
                </a:solidFill>
              </a:defRPr>
            </a:pPr>
            <a:r>
              <a:rPr/>
              <a:t>4 · En que momento conviene cortar</a:t>
            </a:r>
            <a:endParaRPr/>
          </a:p>
        </p:txBody>
      </p:sp>
      <p:sp>
        <p:nvSpPr>
          <p:cNvPr id="2014873575" name="TextBox 2"/>
          <p:cNvSpPr txBox="1"/>
          <p:nvPr/>
        </p:nvSpPr>
        <p:spPr bwMode="auto">
          <a:xfrm>
            <a:off x="548640" y="1280160"/>
            <a:ext cx="10972800" cy="4937760"/>
          </a:xfrm>
          <a:prstGeom prst="rect">
            <a:avLst/>
          </a:prstGeom>
          <a:noFill/>
        </p:spPr>
        <p:txBody>
          <a:bodyPr wrap="square">
            <a:spAutoFit/>
          </a:bodyPr>
          <a:lstStyle/>
          <a:p>
            <a:pPr>
              <a:spcAft>
                <a:spcPts val="600"/>
              </a:spcAft>
              <a:defRPr sz="1600">
                <a:solidFill>
                  <a:srgbClr val="404040"/>
                </a:solidFill>
              </a:defRPr>
            </a:pPr>
            <a:r>
              <a:rPr/>
              <a:t>Caso facil (g &gt;= 0 y muchos puntos): dejar correr todo, ~11000 iteraciones, no hace falta cuidarlo.</a:t>
            </a:r>
            <a:endParaRPr/>
          </a:p>
          <a:p>
            <a:pPr>
              <a:defRPr sz="1600">
                <a:solidFill>
                  <a:srgbClr val="404040"/>
                </a:solidFill>
              </a:defRPr>
            </a:pPr>
            <a:endParaRPr/>
          </a:p>
          <a:p>
            <a:pPr>
              <a:spcAft>
                <a:spcPts val="600"/>
              </a:spcAft>
              <a:defRPr sz="1600">
                <a:solidFill>
                  <a:srgbClr val="404040"/>
                </a:solidFill>
              </a:defRPr>
            </a:pPr>
            <a:r>
              <a:rPr/>
              <a:t>Caso dificil (pocos puntos, o g muy negativo): el mejor resultado esta temprano, entre unos cientos y pocos miles de iteraciones; despues empeora.</a:t>
            </a:r>
            <a:endParaRPr/>
          </a:p>
          <a:p>
            <a:pPr>
              <a:defRPr sz="1600">
                <a:solidFill>
                  <a:srgbClr val="404040"/>
                </a:solidFill>
              </a:defRPr>
            </a:pPr>
            <a:endParaRPr/>
          </a:p>
          <a:p>
            <a:pPr>
              <a:spcAft>
                <a:spcPts val="600"/>
              </a:spcAft>
              <a:defRPr sz="1600">
                <a:solidFill>
                  <a:srgbClr val="404040"/>
                </a:solidFill>
              </a:defRPr>
            </a:pPr>
            <a:r>
              <a:rPr/>
              <a:t>No podemos ver ese momento mirando solo lo que ve el algoritmo, porque ese numero sigue mejorando igual. El freno automatico que ya tiene ayuda, pero no alcanza en los peores casos.</a:t>
            </a:r>
            <a:endParaRPr/>
          </a:p>
          <a:p>
            <a:pPr>
              <a:defRPr sz="1600">
                <a:solidFill>
                  <a:srgbClr val="404040"/>
                </a:solidFill>
              </a:defRPr>
            </a:pPr>
            <a:endParaRPr/>
          </a:p>
          <a:p>
            <a:pPr>
              <a:spcAft>
                <a:spcPts val="600"/>
              </a:spcAft>
              <a:defRPr sz="1600">
                <a:solidFill>
                  <a:srgbClr val="404040"/>
                </a:solidFill>
              </a:defRPr>
            </a:pPr>
            <a:r>
              <a:rPr/>
              <a:t>Lo que hay que hacer: apartar algunos puntos KMC y usarlos como control para decidir cuando frenar.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95542225" name="TextBox 1"/>
          <p:cNvSpPr txBox="1"/>
          <p:nvPr/>
        </p:nvSpPr>
        <p:spPr bwMode="auto">
          <a:xfrm>
            <a:off x="548640" y="320040"/>
            <a:ext cx="1685769" cy="488039"/>
          </a:xfrm>
          <a:prstGeom prst="rect">
            <a:avLst/>
          </a:prstGeom>
          <a:noFill/>
        </p:spPr>
        <p:txBody>
          <a:bodyPr wrap="none">
            <a:spAutoFit/>
          </a:bodyPr>
          <a:lstStyle/>
          <a:p>
            <a:pPr>
              <a:defRPr sz="2600" b="1">
                <a:solidFill>
                  <a:srgbClr val="1F3B73"/>
                </a:solidFill>
              </a:defRPr>
            </a:pPr>
            <a:r>
              <a:rPr/>
              <a:t>5 · Varios g  </a:t>
            </a:r>
            <a:endParaRPr/>
          </a:p>
        </p:txBody>
      </p:sp>
      <p:pic>
        <p:nvPicPr>
          <p:cNvPr id="1287744282" name="Picture 2" descr="gmaps_montage.png"/>
          <p:cNvPicPr>
            <a:picLocks noChangeAspect="1"/>
          </p:cNvPicPr>
          <p:nvPr/>
        </p:nvPicPr>
        <p:blipFill rotWithShape="1">
          <a:blip r:embed="rId3"/>
          <a:stretch/>
        </p:blipFill>
        <p:spPr bwMode="auto">
          <a:xfrm>
            <a:off x="333756" y="1541943"/>
            <a:ext cx="11521440" cy="4459912"/>
          </a:xfrm>
          <a:prstGeom prst="rect">
            <a:avLst/>
          </a:prstGeom>
        </p:spPr>
      </p:pic>
      <p:sp>
        <p:nvSpPr>
          <p:cNvPr id="2142006907" name="TextBox 3"/>
          <p:cNvSpPr txBox="1"/>
          <p:nvPr/>
        </p:nvSpPr>
        <p:spPr bwMode="auto">
          <a:xfrm>
            <a:off x="548640" y="6217920"/>
            <a:ext cx="11064240" cy="548640"/>
          </a:xfrm>
          <a:prstGeom prst="rect">
            <a:avLst/>
          </a:prstGeom>
          <a:noFill/>
        </p:spPr>
        <p:txBody>
          <a:bodyPr wrap="square">
            <a:spAutoFit/>
          </a:bodyPr>
          <a:lstStyle/>
          <a:p>
            <a:pPr algn="ctr">
              <a:defRPr sz="1200" i="1">
                <a:solidFill>
                  <a:srgbClr val="404040"/>
                </a:solidFill>
              </a:defRPr>
            </a:pPr>
            <a:r>
              <a:rPr/>
              <a:t>g es un parametro del modelo. Con g negativo el paso de lleno a vacio es un escalon; con g positivo es una rampa suave. El resto del mapa no cambia.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7164963" name="TextBox 1"/>
          <p:cNvSpPr txBox="1"/>
          <p:nvPr/>
        </p:nvSpPr>
        <p:spPr bwMode="auto">
          <a:xfrm>
            <a:off x="548640" y="320040"/>
            <a:ext cx="10382955" cy="884279"/>
          </a:xfrm>
          <a:prstGeom prst="rect">
            <a:avLst/>
          </a:prstGeom>
          <a:noFill/>
        </p:spPr>
        <p:txBody>
          <a:bodyPr wrap="none">
            <a:spAutoFit/>
          </a:bodyPr>
          <a:lstStyle/>
          <a:p>
            <a:pPr>
              <a:defRPr sz="2600" b="1">
                <a:solidFill>
                  <a:srgbClr val="1F3B73"/>
                </a:solidFill>
              </a:defRPr>
            </a:pPr>
            <a:r>
              <a:rPr/>
              <a:t>5 · Reconstruccion con mascara uniforme sobre los 11 mapas  (55 corridas)</a:t>
            </a:r>
            <a:br>
              <a:rPr/>
            </a:br>
            <a:r>
              <a:rPr lang="es-ES"/>
              <a:t>ya probamos que con distintas distribuciones la mejor es la uniforme</a:t>
            </a:r>
            <a:endParaRPr/>
          </a:p>
        </p:txBody>
      </p:sp>
      <p:pic>
        <p:nvPicPr>
          <p:cNvPr id="1683582564" name="Picture 2" descr="gsweep_heatmaps.png"/>
          <p:cNvPicPr>
            <a:picLocks noChangeAspect="1"/>
          </p:cNvPicPr>
          <p:nvPr/>
        </p:nvPicPr>
        <p:blipFill rotWithShape="1">
          <a:blip r:embed="rId3"/>
          <a:stretch/>
        </p:blipFill>
        <p:spPr bwMode="auto">
          <a:xfrm>
            <a:off x="150876" y="1848970"/>
            <a:ext cx="11887200" cy="3845858"/>
          </a:xfrm>
          <a:prstGeom prst="rect">
            <a:avLst/>
          </a:prstGeom>
        </p:spPr>
      </p:pic>
      <p:sp>
        <p:nvSpPr>
          <p:cNvPr id="543031276" name="TextBox 3"/>
          <p:cNvSpPr txBox="1"/>
          <p:nvPr/>
        </p:nvSpPr>
        <p:spPr bwMode="auto">
          <a:xfrm>
            <a:off x="548640" y="6217920"/>
            <a:ext cx="11064240" cy="548640"/>
          </a:xfrm>
          <a:prstGeom prst="rect">
            <a:avLst/>
          </a:prstGeom>
          <a:noFill/>
        </p:spPr>
        <p:txBody>
          <a:bodyPr wrap="square">
            <a:spAutoFit/>
          </a:bodyPr>
          <a:lstStyle/>
          <a:p>
            <a:pPr algn="ctr">
              <a:defRPr sz="1200" i="1">
                <a:solidFill>
                  <a:srgbClr val="404040"/>
                </a:solidFill>
              </a:defRPr>
            </a:pPr>
            <a:r>
              <a:rPr/>
              <a:t>Cuanto mas negativo el g, peor la reconstruccion, con cualquier cantidad de puntos. El error se junta todo en el escalon.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7096204" name="TextBox 1"/>
          <p:cNvSpPr txBox="1"/>
          <p:nvPr/>
        </p:nvSpPr>
        <p:spPr bwMode="auto">
          <a:xfrm>
            <a:off x="548640" y="320040"/>
            <a:ext cx="11064240" cy="822960"/>
          </a:xfrm>
          <a:prstGeom prst="rect">
            <a:avLst/>
          </a:prstGeom>
          <a:noFill/>
        </p:spPr>
        <p:txBody>
          <a:bodyPr wrap="none">
            <a:spAutoFit/>
          </a:bodyPr>
          <a:lstStyle/>
          <a:p>
            <a:pPr>
              <a:defRPr sz="2600" b="1">
                <a:solidFill>
                  <a:srgbClr val="1F3B73"/>
                </a:solidFill>
              </a:defRPr>
            </a:pPr>
            <a:r>
              <a:rPr/>
              <a:t>5 · Reconstruccion segun g  -  10% observado</a:t>
            </a:r>
            <a:endParaRPr/>
          </a:p>
        </p:txBody>
      </p:sp>
      <p:pic>
        <p:nvPicPr>
          <p:cNvPr id="741085890" name="Picture 2" descr="gsweep_detail_mf0.90.png"/>
          <p:cNvPicPr>
            <a:picLocks noChangeAspect="1"/>
          </p:cNvPicPr>
          <p:nvPr/>
        </p:nvPicPr>
        <p:blipFill rotWithShape="1">
          <a:blip r:embed="rId3"/>
          <a:stretch/>
        </p:blipFill>
        <p:spPr bwMode="auto">
          <a:xfrm>
            <a:off x="333756" y="1876437"/>
            <a:ext cx="11521440" cy="3790925"/>
          </a:xfrm>
          <a:prstGeom prst="rect">
            <a:avLst/>
          </a:prstGeom>
        </p:spPr>
      </p:pic>
      <p:sp>
        <p:nvSpPr>
          <p:cNvPr id="1812250739" name="TextBox 3"/>
          <p:cNvSpPr txBox="1"/>
          <p:nvPr/>
        </p:nvSpPr>
        <p:spPr bwMode="auto">
          <a:xfrm>
            <a:off x="548640" y="6217920"/>
            <a:ext cx="11064240" cy="548640"/>
          </a:xfrm>
          <a:prstGeom prst="rect">
            <a:avLst/>
          </a:prstGeom>
          <a:noFill/>
        </p:spPr>
        <p:txBody>
          <a:bodyPr wrap="square">
            <a:spAutoFit/>
          </a:bodyPr>
          <a:lstStyle/>
          <a:p>
            <a:pPr algn="ctr">
              <a:defRPr sz="1200" i="1">
                <a:solidFill>
                  <a:srgbClr val="404040"/>
                </a:solidFill>
              </a:defRPr>
            </a:pPr>
            <a:r>
              <a:rPr/>
              <a:t>Arriba el mapa verdadero (la linea blanca es la frontera), abajo la reconstruccion. Con g negativo el escalon se lava.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0064491" name="TextBox 1"/>
          <p:cNvSpPr txBox="1"/>
          <p:nvPr/>
        </p:nvSpPr>
        <p:spPr bwMode="auto">
          <a:xfrm>
            <a:off x="548640" y="320040"/>
            <a:ext cx="11064240" cy="822960"/>
          </a:xfrm>
          <a:prstGeom prst="rect">
            <a:avLst/>
          </a:prstGeom>
          <a:noFill/>
        </p:spPr>
        <p:txBody>
          <a:bodyPr wrap="none">
            <a:spAutoFit/>
          </a:bodyPr>
          <a:lstStyle/>
          <a:p>
            <a:pPr>
              <a:defRPr sz="2600" b="1">
                <a:solidFill>
                  <a:srgbClr val="1F3B73"/>
                </a:solidFill>
              </a:defRPr>
            </a:pPr>
            <a:r>
              <a:rPr/>
              <a:t>5 · Reconstruccion segun g  -  2% observado</a:t>
            </a:r>
            <a:endParaRPr/>
          </a:p>
        </p:txBody>
      </p:sp>
      <p:pic>
        <p:nvPicPr>
          <p:cNvPr id="320155161" name="Picture 2" descr="gsweep_detail_mf0.98.png"/>
          <p:cNvPicPr>
            <a:picLocks noChangeAspect="1"/>
          </p:cNvPicPr>
          <p:nvPr/>
        </p:nvPicPr>
        <p:blipFill rotWithShape="1">
          <a:blip r:embed="rId3"/>
          <a:stretch/>
        </p:blipFill>
        <p:spPr bwMode="auto">
          <a:xfrm>
            <a:off x="333756" y="1876437"/>
            <a:ext cx="11521440" cy="3790925"/>
          </a:xfrm>
          <a:prstGeom prst="rect">
            <a:avLst/>
          </a:prstGeom>
        </p:spPr>
      </p:pic>
      <p:sp>
        <p:nvSpPr>
          <p:cNvPr id="2006967915" name="TextBox 3"/>
          <p:cNvSpPr txBox="1"/>
          <p:nvPr/>
        </p:nvSpPr>
        <p:spPr bwMode="auto">
          <a:xfrm>
            <a:off x="548640" y="6217920"/>
            <a:ext cx="11064240" cy="548640"/>
          </a:xfrm>
          <a:prstGeom prst="rect">
            <a:avLst/>
          </a:prstGeom>
          <a:noFill/>
        </p:spPr>
        <p:txBody>
          <a:bodyPr wrap="square">
            <a:spAutoFit/>
          </a:bodyPr>
          <a:lstStyle/>
          <a:p>
            <a:pPr algn="ctr">
              <a:defRPr sz="1200" i="1">
                <a:solidFill>
                  <a:srgbClr val="404040"/>
                </a:solidFill>
              </a:defRPr>
            </a:pPr>
            <a:r>
              <a:rPr/>
              <a:t>Arriba el mapa verdadero (la linea blanca es la frontera), abajo la reconstruccion. Con g negativo el escalon se lava.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2250993" name="TextBox 1"/>
          <p:cNvSpPr txBox="1"/>
          <p:nvPr/>
        </p:nvSpPr>
        <p:spPr bwMode="auto">
          <a:xfrm>
            <a:off x="548640" y="320040"/>
            <a:ext cx="11064240" cy="822960"/>
          </a:xfrm>
          <a:prstGeom prst="rect">
            <a:avLst/>
          </a:prstGeom>
          <a:noFill/>
        </p:spPr>
        <p:txBody>
          <a:bodyPr wrap="none">
            <a:spAutoFit/>
          </a:bodyPr>
          <a:lstStyle/>
          <a:p>
            <a:pPr>
              <a:defRPr sz="2600" b="1">
                <a:solidFill>
                  <a:srgbClr val="1F3B73"/>
                </a:solidFill>
              </a:defRPr>
            </a:pPr>
            <a:r>
              <a:rPr/>
              <a:t>5 · Reconstruccion segun g  -  0.5% observado</a:t>
            </a:r>
            <a:endParaRPr/>
          </a:p>
        </p:txBody>
      </p:sp>
      <p:pic>
        <p:nvPicPr>
          <p:cNvPr id="1973743453" name="Picture 2" descr="gsweep_detail_mf0.995.png"/>
          <p:cNvPicPr>
            <a:picLocks noChangeAspect="1"/>
          </p:cNvPicPr>
          <p:nvPr/>
        </p:nvPicPr>
        <p:blipFill rotWithShape="1">
          <a:blip r:embed="rId3"/>
          <a:stretch/>
        </p:blipFill>
        <p:spPr bwMode="auto">
          <a:xfrm>
            <a:off x="333756" y="1876437"/>
            <a:ext cx="11521440" cy="3790925"/>
          </a:xfrm>
          <a:prstGeom prst="rect">
            <a:avLst/>
          </a:prstGeom>
        </p:spPr>
      </p:pic>
      <p:sp>
        <p:nvSpPr>
          <p:cNvPr id="1591457217" name="TextBox 3"/>
          <p:cNvSpPr txBox="1"/>
          <p:nvPr/>
        </p:nvSpPr>
        <p:spPr bwMode="auto">
          <a:xfrm>
            <a:off x="548640" y="6217920"/>
            <a:ext cx="11064240" cy="548640"/>
          </a:xfrm>
          <a:prstGeom prst="rect">
            <a:avLst/>
          </a:prstGeom>
          <a:noFill/>
        </p:spPr>
        <p:txBody>
          <a:bodyPr wrap="square">
            <a:spAutoFit/>
          </a:bodyPr>
          <a:lstStyle/>
          <a:p>
            <a:pPr algn="ctr">
              <a:defRPr sz="1200" i="1">
                <a:solidFill>
                  <a:srgbClr val="404040"/>
                </a:solidFill>
              </a:defRPr>
            </a:pPr>
            <a:r>
              <a:rPr/>
              <a:t>Arriba el mapa verdadero (la linea blanca es la frontera), abajo la reconstruccion. Con g negativo el escalon se lava.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7769270" name="TextBox 1"/>
          <p:cNvSpPr txBox="1"/>
          <p:nvPr/>
        </p:nvSpPr>
        <p:spPr bwMode="auto">
          <a:xfrm>
            <a:off x="548640" y="320040"/>
            <a:ext cx="11064240" cy="822960"/>
          </a:xfrm>
          <a:prstGeom prst="rect">
            <a:avLst/>
          </a:prstGeom>
          <a:noFill/>
        </p:spPr>
        <p:txBody>
          <a:bodyPr wrap="none">
            <a:spAutoFit/>
          </a:bodyPr>
          <a:lstStyle/>
          <a:p>
            <a:pPr>
              <a:defRPr sz="2600" b="1">
                <a:solidFill>
                  <a:srgbClr val="1F3B73"/>
                </a:solidFill>
              </a:defRPr>
            </a:pPr>
            <a:r>
              <a:rPr/>
              <a:t>5 · Minimo de puntos para una reconstruccion confiable, por g</a:t>
            </a:r>
            <a:endParaRPr/>
          </a:p>
        </p:txBody>
      </p:sp>
      <p:graphicFrame>
        <p:nvGraphicFramePr>
          <p:cNvPr id="874167642" name="Table 2"/>
          <p:cNvGraphicFramePr>
            <a:graphicFrameLocks xmlns:a="http://schemas.openxmlformats.org/drawingml/2006/main" noGrp="1"/>
          </p:cNvGraphicFramePr>
          <p:nvPr/>
        </p:nvGraphicFramePr>
        <p:xfrm rot="0">
          <a:off x="914400" y="1371600"/>
          <a:ext cx="10058400" cy="4608576"/>
        </p:xfrm>
        <a:graphic>
          <a:graphicData uri="http://schemas.openxmlformats.org/drawingml/2006/table">
            <a:tbl>
              <a:tblPr firstRow="1" firstCol="0" lastRow="0" lastCol="0" bandRow="1" bandCol="0">
                <a:tableStyleId>{5C22544A-7EE6-4342-B048-85BDC9FD1C3A}</a:tableStyleId>
              </a:tblPr>
              <a:tblGrid>
                <a:gridCol w="914400"/>
                <a:gridCol w="1828800"/>
                <a:gridCol w="2377440"/>
                <a:gridCol w="2377440"/>
                <a:gridCol w="2560320"/>
              </a:tblGrid>
              <a:tr h="384048">
                <a:tc>
                  <a:txBody>
                    <a:bodyPr/>
                    <a:p>
                      <a:pPr>
                        <a:defRPr sz="1300" b="1"/>
                      </a:pPr>
                      <a:r>
                        <a:rPr/>
                        <a:t>g</a:t>
                      </a:r>
                      <a:endParaRPr/>
                    </a:p>
                  </a:txBody>
                  <a:tcPr/>
                </a:tc>
                <a:tc>
                  <a:txBody>
                    <a:bodyPr/>
                    <a:p>
                      <a:pPr>
                        <a:defRPr sz="1300" b="1"/>
                      </a:pPr>
                      <a:r>
                        <a:rPr/>
                        <a:t>banda de frontera</a:t>
                      </a:r>
                      <a:endParaRPr/>
                    </a:p>
                  </a:txBody>
                  <a:tcPr/>
                </a:tc>
                <a:tc>
                  <a:txBody>
                    <a:bodyPr/>
                    <a:p>
                      <a:pPr>
                        <a:defRPr sz="1300" b="1"/>
                      </a:pPr>
                      <a:r>
                        <a:rPr/>
                        <a:t>PSNR/SSIM con 2 %</a:t>
                      </a:r>
                      <a:endParaRPr/>
                    </a:p>
                  </a:txBody>
                  <a:tcPr/>
                </a:tc>
                <a:tc>
                  <a:txBody>
                    <a:bodyPr/>
                    <a:p>
                      <a:pPr>
                        <a:defRPr sz="1300" b="1"/>
                      </a:pPr>
                      <a:r>
                        <a:rPr/>
                        <a:t>PSNR/SSIM con 1 %</a:t>
                      </a:r>
                      <a:endParaRPr/>
                    </a:p>
                  </a:txBody>
                  <a:tcPr/>
                </a:tc>
                <a:tc>
                  <a:txBody>
                    <a:bodyPr/>
                    <a:p>
                      <a:pPr>
                        <a:defRPr sz="1300" b="1"/>
                      </a:pPr>
                      <a:r>
                        <a:rPr/>
                        <a:t>minimo que funciona</a:t>
                      </a:r>
                      <a:endParaRPr/>
                    </a:p>
                  </a:txBody>
                  <a:tcPr/>
                </a:tc>
              </a:tr>
              <a:tr h="384048">
                <a:tc>
                  <a:txBody>
                    <a:bodyPr/>
                    <a:p>
                      <a:pPr>
                        <a:defRPr sz="1200" b="1"/>
                      </a:pPr>
                      <a:r>
                        <a:rPr/>
                        <a:t>-4.0</a:t>
                      </a:r>
                      <a:endParaRPr/>
                    </a:p>
                  </a:txBody>
                  <a:tcPr/>
                </a:tc>
                <a:tc>
                  <a:txBody>
                    <a:bodyPr/>
                    <a:p>
                      <a:pPr>
                        <a:defRPr sz="1200" b="0"/>
                      </a:pPr>
                      <a:r>
                        <a:rPr/>
                        <a:t>19.9%</a:t>
                      </a:r>
                      <a:endParaRPr/>
                    </a:p>
                  </a:txBody>
                  <a:tcPr/>
                </a:tc>
                <a:tc>
                  <a:txBody>
                    <a:bodyPr/>
                    <a:p>
                      <a:pPr>
                        <a:defRPr sz="1200" b="0"/>
                      </a:pPr>
                      <a:r>
                        <a:rPr/>
                        <a:t>21.8 / 0.94</a:t>
                      </a:r>
                      <a:endParaRPr/>
                    </a:p>
                  </a:txBody>
                  <a:tcPr/>
                </a:tc>
                <a:tc>
                  <a:txBody>
                    <a:bodyPr/>
                    <a:p>
                      <a:pPr>
                        <a:defRPr sz="1200" b="0"/>
                      </a:pPr>
                      <a:r>
                        <a:rPr/>
                        <a:t>19.9 / 0.93</a:t>
                      </a:r>
                      <a:endParaRPr/>
                    </a:p>
                  </a:txBody>
                  <a:tcPr/>
                </a:tc>
                <a:tc>
                  <a:txBody>
                    <a:bodyPr/>
                    <a:p>
                      <a:pPr>
                        <a:defRPr sz="1200" b="0"/>
                      </a:pPr>
                      <a:r>
                        <a:rPr/>
                        <a:t>ninguno</a:t>
                      </a:r>
                      <a:endParaRPr/>
                    </a:p>
                  </a:txBody>
                  <a:tcPr/>
                </a:tc>
              </a:tr>
              <a:tr h="384048">
                <a:tc>
                  <a:txBody>
                    <a:bodyPr/>
                    <a:p>
                      <a:pPr>
                        <a:defRPr sz="1200" b="1"/>
                      </a:pPr>
                      <a:r>
                        <a:rPr/>
                        <a:t>-3.5</a:t>
                      </a:r>
                      <a:endParaRPr/>
                    </a:p>
                  </a:txBody>
                  <a:tcPr/>
                </a:tc>
                <a:tc>
                  <a:txBody>
                    <a:bodyPr/>
                    <a:p>
                      <a:pPr>
                        <a:defRPr sz="1200" b="0"/>
                      </a:pPr>
                      <a:r>
                        <a:rPr/>
                        <a:t>21.0%</a:t>
                      </a:r>
                      <a:endParaRPr/>
                    </a:p>
                  </a:txBody>
                  <a:tcPr/>
                </a:tc>
                <a:tc>
                  <a:txBody>
                    <a:bodyPr/>
                    <a:p>
                      <a:pPr>
                        <a:defRPr sz="1200" b="0"/>
                      </a:pPr>
                      <a:r>
                        <a:rPr/>
                        <a:t>24.2 / 0.96</a:t>
                      </a:r>
                      <a:endParaRPr/>
                    </a:p>
                  </a:txBody>
                  <a:tcPr/>
                </a:tc>
                <a:tc>
                  <a:txBody>
                    <a:bodyPr/>
                    <a:p>
                      <a:pPr>
                        <a:defRPr sz="1200" b="0"/>
                      </a:pPr>
                      <a:r>
                        <a:rPr/>
                        <a:t>19.2 / 0.89</a:t>
                      </a:r>
                      <a:endParaRPr/>
                    </a:p>
                  </a:txBody>
                  <a:tcPr/>
                </a:tc>
                <a:tc>
                  <a:txBody>
                    <a:bodyPr/>
                    <a:p>
                      <a:pPr>
                        <a:defRPr sz="1200" b="0"/>
                      </a:pPr>
                      <a:r>
                        <a:rPr/>
                        <a:t>ninguno</a:t>
                      </a:r>
                      <a:endParaRPr/>
                    </a:p>
                  </a:txBody>
                  <a:tcPr/>
                </a:tc>
              </a:tr>
              <a:tr h="384048">
                <a:tc>
                  <a:txBody>
                    <a:bodyPr/>
                    <a:p>
                      <a:pPr>
                        <a:defRPr sz="1200" b="1"/>
                      </a:pPr>
                      <a:r>
                        <a:rPr/>
                        <a:t>-3.0</a:t>
                      </a:r>
                      <a:endParaRPr/>
                    </a:p>
                  </a:txBody>
                  <a:tcPr/>
                </a:tc>
                <a:tc>
                  <a:txBody>
                    <a:bodyPr/>
                    <a:p>
                      <a:pPr>
                        <a:defRPr sz="1200" b="0"/>
                      </a:pPr>
                      <a:r>
                        <a:rPr/>
                        <a:t>22.4%</a:t>
                      </a:r>
                      <a:endParaRPr/>
                    </a:p>
                  </a:txBody>
                  <a:tcPr/>
                </a:tc>
                <a:tc>
                  <a:txBody>
                    <a:bodyPr/>
                    <a:p>
                      <a:pPr>
                        <a:defRPr sz="1200" b="0"/>
                      </a:pPr>
                      <a:r>
                        <a:rPr/>
                        <a:t>31.0 / 0.98</a:t>
                      </a:r>
                      <a:endParaRPr/>
                    </a:p>
                  </a:txBody>
                  <a:tcPr/>
                </a:tc>
                <a:tc>
                  <a:txBody>
                    <a:bodyPr/>
                    <a:p>
                      <a:pPr>
                        <a:defRPr sz="1200" b="0"/>
                      </a:pPr>
                      <a:r>
                        <a:rPr/>
                        <a:t>21.1 / 0.91</a:t>
                      </a:r>
                      <a:endParaRPr/>
                    </a:p>
                  </a:txBody>
                  <a:tcPr/>
                </a:tc>
                <a:tc>
                  <a:txBody>
                    <a:bodyPr/>
                    <a:p>
                      <a:pPr>
                        <a:defRPr sz="1200" b="0"/>
                      </a:pPr>
                      <a:r>
                        <a:rPr/>
                        <a:t>mf 0.98</a:t>
                      </a:r>
                      <a:endParaRPr/>
                    </a:p>
                  </a:txBody>
                  <a:tcPr/>
                </a:tc>
              </a:tr>
              <a:tr h="384048">
                <a:tc>
                  <a:txBody>
                    <a:bodyPr/>
                    <a:p>
                      <a:pPr>
                        <a:defRPr sz="1200" b="1"/>
                      </a:pPr>
                      <a:r>
                        <a:rPr/>
                        <a:t>-2.5</a:t>
                      </a:r>
                      <a:endParaRPr/>
                    </a:p>
                  </a:txBody>
                  <a:tcPr/>
                </a:tc>
                <a:tc>
                  <a:txBody>
                    <a:bodyPr/>
                    <a:p>
                      <a:pPr>
                        <a:defRPr sz="1200" b="0"/>
                      </a:pPr>
                      <a:r>
                        <a:rPr/>
                        <a:t>23.5%</a:t>
                      </a:r>
                      <a:endParaRPr/>
                    </a:p>
                  </a:txBody>
                  <a:tcPr/>
                </a:tc>
                <a:tc>
                  <a:txBody>
                    <a:bodyPr/>
                    <a:p>
                      <a:pPr>
                        <a:defRPr sz="1200" b="0"/>
                      </a:pPr>
                      <a:r>
                        <a:rPr/>
                        <a:t>33.9 / 0.98</a:t>
                      </a:r>
                      <a:endParaRPr/>
                    </a:p>
                  </a:txBody>
                  <a:tcPr/>
                </a:tc>
                <a:tc>
                  <a:txBody>
                    <a:bodyPr/>
                    <a:p>
                      <a:pPr>
                        <a:defRPr sz="1200" b="0"/>
                      </a:pPr>
                      <a:r>
                        <a:rPr/>
                        <a:t>25.9 / 0.95</a:t>
                      </a:r>
                      <a:endParaRPr/>
                    </a:p>
                  </a:txBody>
                  <a:tcPr/>
                </a:tc>
                <a:tc>
                  <a:txBody>
                    <a:bodyPr/>
                    <a:p>
                      <a:pPr>
                        <a:defRPr sz="1200" b="0"/>
                      </a:pPr>
                      <a:r>
                        <a:rPr/>
                        <a:t>mf 0.98</a:t>
                      </a:r>
                      <a:endParaRPr/>
                    </a:p>
                  </a:txBody>
                  <a:tcPr/>
                </a:tc>
              </a:tr>
              <a:tr h="384048">
                <a:tc>
                  <a:txBody>
                    <a:bodyPr/>
                    <a:p>
                      <a:pPr>
                        <a:defRPr sz="1200" b="1"/>
                      </a:pPr>
                      <a:r>
                        <a:rPr/>
                        <a:t>-2.0</a:t>
                      </a:r>
                      <a:endParaRPr/>
                    </a:p>
                  </a:txBody>
                  <a:tcPr/>
                </a:tc>
                <a:tc>
                  <a:txBody>
                    <a:bodyPr/>
                    <a:p>
                      <a:pPr>
                        <a:defRPr sz="1200" b="0"/>
                      </a:pPr>
                      <a:r>
                        <a:rPr/>
                        <a:t>24.5%</a:t>
                      </a:r>
                      <a:endParaRPr/>
                    </a:p>
                  </a:txBody>
                  <a:tcPr/>
                </a:tc>
                <a:tc>
                  <a:txBody>
                    <a:bodyPr/>
                    <a:p>
                      <a:pPr>
                        <a:defRPr sz="1200" b="0"/>
                      </a:pPr>
                      <a:r>
                        <a:rPr/>
                        <a:t>32.1 / 0.98</a:t>
                      </a:r>
                      <a:endParaRPr/>
                    </a:p>
                  </a:txBody>
                  <a:tcPr/>
                </a:tc>
                <a:tc>
                  <a:txBody>
                    <a:bodyPr/>
                    <a:p>
                      <a:pPr>
                        <a:defRPr sz="1200" b="0"/>
                      </a:pPr>
                      <a:r>
                        <a:rPr/>
                        <a:t>25.9 / 0.95</a:t>
                      </a:r>
                      <a:endParaRPr/>
                    </a:p>
                  </a:txBody>
                  <a:tcPr/>
                </a:tc>
                <a:tc>
                  <a:txBody>
                    <a:bodyPr/>
                    <a:p>
                      <a:pPr>
                        <a:defRPr sz="1200" b="0"/>
                      </a:pPr>
                      <a:r>
                        <a:rPr/>
                        <a:t>mf 0.98</a:t>
                      </a:r>
                      <a:endParaRPr/>
                    </a:p>
                  </a:txBody>
                  <a:tcPr/>
                </a:tc>
              </a:tr>
              <a:tr h="384048">
                <a:tc>
                  <a:txBody>
                    <a:bodyPr/>
                    <a:p>
                      <a:pPr>
                        <a:defRPr sz="1200" b="1"/>
                      </a:pPr>
                      <a:r>
                        <a:rPr/>
                        <a:t>-1.5</a:t>
                      </a:r>
                      <a:endParaRPr/>
                    </a:p>
                  </a:txBody>
                  <a:tcPr/>
                </a:tc>
                <a:tc>
                  <a:txBody>
                    <a:bodyPr/>
                    <a:p>
                      <a:pPr>
                        <a:defRPr sz="1200" b="0"/>
                      </a:pPr>
                      <a:r>
                        <a:rPr/>
                        <a:t>25.4%</a:t>
                      </a:r>
                      <a:endParaRPr/>
                    </a:p>
                  </a:txBody>
                  <a:tcPr/>
                </a:tc>
                <a:tc>
                  <a:txBody>
                    <a:bodyPr/>
                    <a:p>
                      <a:pPr>
                        <a:defRPr sz="1200" b="0"/>
                      </a:pPr>
                      <a:r>
                        <a:rPr/>
                        <a:t>36.0 / 0.99</a:t>
                      </a:r>
                      <a:endParaRPr/>
                    </a:p>
                  </a:txBody>
                  <a:tcPr/>
                </a:tc>
                <a:tc>
                  <a:txBody>
                    <a:bodyPr/>
                    <a:p>
                      <a:pPr>
                        <a:defRPr sz="1200" b="0"/>
                      </a:pPr>
                      <a:r>
                        <a:rPr/>
                        <a:t>28.7 / 0.97</a:t>
                      </a:r>
                      <a:endParaRPr/>
                    </a:p>
                  </a:txBody>
                  <a:tcPr/>
                </a:tc>
                <a:tc>
                  <a:txBody>
                    <a:bodyPr/>
                    <a:p>
                      <a:pPr>
                        <a:defRPr sz="1200" b="0"/>
                      </a:pPr>
                      <a:r>
                        <a:rPr/>
                        <a:t>mf 0.98</a:t>
                      </a:r>
                      <a:endParaRPr/>
                    </a:p>
                  </a:txBody>
                  <a:tcPr/>
                </a:tc>
              </a:tr>
              <a:tr h="384048">
                <a:tc>
                  <a:txBody>
                    <a:bodyPr/>
                    <a:p>
                      <a:pPr>
                        <a:defRPr sz="1200" b="1"/>
                      </a:pPr>
                      <a:r>
                        <a:rPr/>
                        <a:t>-1.0</a:t>
                      </a:r>
                      <a:endParaRPr/>
                    </a:p>
                  </a:txBody>
                  <a:tcPr/>
                </a:tc>
                <a:tc>
                  <a:txBody>
                    <a:bodyPr/>
                    <a:p>
                      <a:pPr>
                        <a:defRPr sz="1200" b="0"/>
                      </a:pPr>
                      <a:r>
                        <a:rPr/>
                        <a:t>26.4%</a:t>
                      </a:r>
                      <a:endParaRPr/>
                    </a:p>
                  </a:txBody>
                  <a:tcPr/>
                </a:tc>
                <a:tc>
                  <a:txBody>
                    <a:bodyPr/>
                    <a:p>
                      <a:pPr>
                        <a:defRPr sz="1200" b="0"/>
                      </a:pPr>
                      <a:r>
                        <a:rPr/>
                        <a:t>34.8 / 0.98</a:t>
                      </a:r>
                      <a:endParaRPr/>
                    </a:p>
                  </a:txBody>
                  <a:tcPr/>
                </a:tc>
                <a:tc>
                  <a:txBody>
                    <a:bodyPr/>
                    <a:p>
                      <a:pPr>
                        <a:defRPr sz="1200" b="0"/>
                      </a:pPr>
                      <a:r>
                        <a:rPr/>
                        <a:t>27.1 / 0.96</a:t>
                      </a:r>
                      <a:endParaRPr/>
                    </a:p>
                  </a:txBody>
                  <a:tcPr/>
                </a:tc>
                <a:tc>
                  <a:txBody>
                    <a:bodyPr/>
                    <a:p>
                      <a:pPr>
                        <a:defRPr sz="1200" b="0"/>
                      </a:pPr>
                      <a:r>
                        <a:rPr/>
                        <a:t>mf 0.98</a:t>
                      </a:r>
                      <a:endParaRPr/>
                    </a:p>
                  </a:txBody>
                  <a:tcPr/>
                </a:tc>
              </a:tr>
              <a:tr h="384048">
                <a:tc>
                  <a:txBody>
                    <a:bodyPr/>
                    <a:p>
                      <a:pPr>
                        <a:defRPr sz="1200" b="1"/>
                      </a:pPr>
                      <a:r>
                        <a:rPr/>
                        <a:t>-0.5</a:t>
                      </a:r>
                      <a:endParaRPr/>
                    </a:p>
                  </a:txBody>
                  <a:tcPr/>
                </a:tc>
                <a:tc>
                  <a:txBody>
                    <a:bodyPr/>
                    <a:p>
                      <a:pPr>
                        <a:defRPr sz="1200" b="0"/>
                      </a:pPr>
                      <a:r>
                        <a:rPr/>
                        <a:t>27.4%</a:t>
                      </a:r>
                      <a:endParaRPr/>
                    </a:p>
                  </a:txBody>
                  <a:tcPr/>
                </a:tc>
                <a:tc>
                  <a:txBody>
                    <a:bodyPr/>
                    <a:p>
                      <a:pPr>
                        <a:defRPr sz="1200" b="0"/>
                      </a:pPr>
                      <a:r>
                        <a:rPr/>
                        <a:t>41.7 / 0.99</a:t>
                      </a:r>
                      <a:endParaRPr/>
                    </a:p>
                  </a:txBody>
                  <a:tcPr/>
                </a:tc>
                <a:tc>
                  <a:txBody>
                    <a:bodyPr/>
                    <a:p>
                      <a:pPr>
                        <a:defRPr sz="1200" b="0"/>
                      </a:pPr>
                      <a:r>
                        <a:rPr/>
                        <a:t>33.1 / 0.98</a:t>
                      </a:r>
                      <a:endParaRPr/>
                    </a:p>
                  </a:txBody>
                  <a:tcPr/>
                </a:tc>
                <a:tc>
                  <a:txBody>
                    <a:bodyPr/>
                    <a:p>
                      <a:pPr>
                        <a:defRPr sz="1200" b="0"/>
                      </a:pPr>
                      <a:r>
                        <a:rPr/>
                        <a:t>mf 0.99</a:t>
                      </a:r>
                      <a:endParaRPr/>
                    </a:p>
                  </a:txBody>
                  <a:tcPr/>
                </a:tc>
              </a:tr>
              <a:tr h="384048">
                <a:tc>
                  <a:txBody>
                    <a:bodyPr/>
                    <a:p>
                      <a:pPr>
                        <a:defRPr sz="1200" b="1"/>
                      </a:pPr>
                      <a:r>
                        <a:rPr/>
                        <a:t>+0.0</a:t>
                      </a:r>
                      <a:endParaRPr/>
                    </a:p>
                  </a:txBody>
                  <a:tcPr/>
                </a:tc>
                <a:tc>
                  <a:txBody>
                    <a:bodyPr/>
                    <a:p>
                      <a:pPr>
                        <a:defRPr sz="1200" b="0"/>
                      </a:pPr>
                      <a:r>
                        <a:rPr/>
                        <a:t>28.5%</a:t>
                      </a:r>
                      <a:endParaRPr/>
                    </a:p>
                  </a:txBody>
                  <a:tcPr/>
                </a:tc>
                <a:tc>
                  <a:txBody>
                    <a:bodyPr/>
                    <a:p>
                      <a:pPr>
                        <a:defRPr sz="1200" b="0"/>
                      </a:pPr>
                      <a:r>
                        <a:rPr/>
                        <a:t>44.9 / 0.99</a:t>
                      </a:r>
                      <a:endParaRPr/>
                    </a:p>
                  </a:txBody>
                  <a:tcPr/>
                </a:tc>
                <a:tc>
                  <a:txBody>
                    <a:bodyPr/>
                    <a:p>
                      <a:pPr>
                        <a:defRPr sz="1200" b="0"/>
                      </a:pPr>
                      <a:r>
                        <a:rPr/>
                        <a:t>35.5 / 0.98</a:t>
                      </a:r>
                      <a:endParaRPr/>
                    </a:p>
                  </a:txBody>
                  <a:tcPr/>
                </a:tc>
                <a:tc>
                  <a:txBody>
                    <a:bodyPr/>
                    <a:p>
                      <a:pPr>
                        <a:defRPr sz="1200" b="0"/>
                      </a:pPr>
                      <a:r>
                        <a:rPr/>
                        <a:t>mf 0.99</a:t>
                      </a:r>
                      <a:endParaRPr/>
                    </a:p>
                  </a:txBody>
                  <a:tcPr/>
                </a:tc>
              </a:tr>
              <a:tr h="384048">
                <a:tc>
                  <a:txBody>
                    <a:bodyPr/>
                    <a:p>
                      <a:pPr>
                        <a:defRPr sz="1200" b="1"/>
                      </a:pPr>
                      <a:r>
                        <a:rPr/>
                        <a:t>+2.0</a:t>
                      </a:r>
                      <a:endParaRPr/>
                    </a:p>
                  </a:txBody>
                  <a:tcPr/>
                </a:tc>
                <a:tc>
                  <a:txBody>
                    <a:bodyPr/>
                    <a:p>
                      <a:pPr>
                        <a:defRPr sz="1200" b="0"/>
                      </a:pPr>
                      <a:r>
                        <a:rPr/>
                        <a:t>32.8%</a:t>
                      </a:r>
                      <a:endParaRPr/>
                    </a:p>
                  </a:txBody>
                  <a:tcPr/>
                </a:tc>
                <a:tc>
                  <a:txBody>
                    <a:bodyPr/>
                    <a:p>
                      <a:pPr>
                        <a:defRPr sz="1200" b="0"/>
                      </a:pPr>
                      <a:r>
                        <a:rPr/>
                        <a:t>43.6 / 0.99</a:t>
                      </a:r>
                      <a:endParaRPr/>
                    </a:p>
                  </a:txBody>
                  <a:tcPr/>
                </a:tc>
                <a:tc>
                  <a:txBody>
                    <a:bodyPr/>
                    <a:p>
                      <a:pPr>
                        <a:defRPr sz="1200" b="0"/>
                      </a:pPr>
                      <a:r>
                        <a:rPr/>
                        <a:t>35.5 / 0.98</a:t>
                      </a:r>
                      <a:endParaRPr/>
                    </a:p>
                  </a:txBody>
                  <a:tcPr/>
                </a:tc>
                <a:tc>
                  <a:txBody>
                    <a:bodyPr/>
                    <a:p>
                      <a:pPr>
                        <a:defRPr sz="1200" b="0"/>
                      </a:pPr>
                      <a:r>
                        <a:rPr/>
                        <a:t>mf 0.99</a:t>
                      </a:r>
                      <a:endParaRPr/>
                    </a:p>
                  </a:txBody>
                  <a:tcPr/>
                </a:tc>
              </a:tr>
              <a:tr h="384048">
                <a:tc>
                  <a:txBody>
                    <a:bodyPr/>
                    <a:p>
                      <a:pPr>
                        <a:defRPr sz="1200" b="1"/>
                      </a:pPr>
                      <a:r>
                        <a:rPr/>
                        <a:t>+4.0</a:t>
                      </a:r>
                      <a:endParaRPr/>
                    </a:p>
                  </a:txBody>
                  <a:tcPr/>
                </a:tc>
                <a:tc>
                  <a:txBody>
                    <a:bodyPr/>
                    <a:p>
                      <a:pPr>
                        <a:defRPr sz="1200" b="0"/>
                      </a:pPr>
                      <a:r>
                        <a:rPr/>
                        <a:t>38.0%</a:t>
                      </a:r>
                      <a:endParaRPr/>
                    </a:p>
                  </a:txBody>
                  <a:tcPr/>
                </a:tc>
                <a:tc>
                  <a:txBody>
                    <a:bodyPr/>
                    <a:p>
                      <a:pPr>
                        <a:defRPr sz="1200" b="0"/>
                      </a:pPr>
                      <a:r>
                        <a:rPr/>
                        <a:t>47.4 / 1.00</a:t>
                      </a:r>
                      <a:endParaRPr/>
                    </a:p>
                  </a:txBody>
                  <a:tcPr/>
                </a:tc>
                <a:tc>
                  <a:txBody>
                    <a:bodyPr/>
                    <a:p>
                      <a:pPr>
                        <a:defRPr sz="1200" b="0"/>
                      </a:pPr>
                      <a:r>
                        <a:rPr/>
                        <a:t>38.9 / 0.99</a:t>
                      </a:r>
                      <a:endParaRPr/>
                    </a:p>
                  </a:txBody>
                  <a:tcPr/>
                </a:tc>
                <a:tc>
                  <a:txBody>
                    <a:bodyPr/>
                    <a:p>
                      <a:pPr>
                        <a:defRPr sz="1200" b="0"/>
                      </a:pPr>
                      <a:r>
                        <a:rPr/>
                        <a:t>mf 0.99</a:t>
                      </a:r>
                      <a:endParaRPr/>
                    </a:p>
                  </a:txBody>
                  <a:tcPr/>
                </a:tc>
              </a:tr>
            </a:tbl>
          </a:graphicData>
        </a:graphic>
      </p:graphicFrame>
      <p:sp>
        <p:nvSpPr>
          <p:cNvPr id="381147408" name="TextBox 3"/>
          <p:cNvSpPr txBox="1"/>
          <p:nvPr/>
        </p:nvSpPr>
        <p:spPr bwMode="auto">
          <a:xfrm>
            <a:off x="914400" y="6163056"/>
            <a:ext cx="10341359" cy="427079"/>
          </a:xfrm>
          <a:prstGeom prst="rect">
            <a:avLst/>
          </a:prstGeom>
          <a:noFill/>
        </p:spPr>
        <p:txBody>
          <a:bodyPr wrap="square">
            <a:spAutoFit/>
          </a:bodyPr>
          <a:lstStyle/>
          <a:p>
            <a:pPr>
              <a:defRPr sz="1100" i="1">
                <a:solidFill>
                  <a:srgbClr val="404040"/>
                </a:solidFill>
              </a:defRPr>
            </a:pPr>
            <a:r>
              <a:rPr/>
              <a:t>"minimo que funciona" = la menor cantidad de puntos que todavia da una reconstruccion aceptable. Con g = -4 y -3.5 no alcanza ni con 10 % de puntos.</a:t>
            </a:r>
            <a:endParaRPr/>
          </a:p>
          <a:p>
            <a:pPr>
              <a:defRPr sz="1100" i="1">
                <a:solidFill>
                  <a:srgbClr val="404040"/>
                </a:solidFill>
              </a:defRPr>
            </a:pPr>
            <a:r>
              <a:rPr lang="es-ES"/>
              <a:t>mf = cantidad de puntos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7555469" name="TextBox 1"/>
          <p:cNvSpPr txBox="1"/>
          <p:nvPr/>
        </p:nvSpPr>
        <p:spPr bwMode="auto">
          <a:xfrm>
            <a:off x="548640" y="320040"/>
            <a:ext cx="10238004" cy="884279"/>
          </a:xfrm>
          <a:prstGeom prst="rect">
            <a:avLst/>
          </a:prstGeom>
          <a:noFill/>
        </p:spPr>
        <p:txBody>
          <a:bodyPr wrap="none">
            <a:spAutoFit/>
          </a:bodyPr>
          <a:lstStyle/>
          <a:p>
            <a:pPr>
              <a:defRPr sz="2600" b="1">
                <a:solidFill>
                  <a:srgbClr val="1F3B73"/>
                </a:solidFill>
              </a:defRPr>
            </a:pPr>
            <a:r>
              <a:rPr/>
              <a:t>5 · Un intento de arreglo para g negativo: cargar la mascara en la frontera</a:t>
            </a:r>
            <a:endParaRPr/>
          </a:p>
          <a:p>
            <a:pPr>
              <a:defRPr sz="2600" b="1">
                <a:solidFill>
                  <a:srgbClr val="1F3B73"/>
                </a:solidFill>
              </a:defRPr>
            </a:pPr>
            <a:r>
              <a:rPr lang="es-ES"/>
              <a:t>ya que en la frontera al ser tan chica y drastica se intentara arreglar ahi</a:t>
            </a:r>
            <a:endParaRPr/>
          </a:p>
        </p:txBody>
      </p:sp>
      <p:pic>
        <p:nvPicPr>
          <p:cNvPr id="1978593679" name="Picture 2" descr="gfix_delta.png"/>
          <p:cNvPicPr>
            <a:picLocks noChangeAspect="1"/>
          </p:cNvPicPr>
          <p:nvPr/>
        </p:nvPicPr>
        <p:blipFill rotWithShape="1">
          <a:blip r:embed="rId3"/>
          <a:stretch/>
        </p:blipFill>
        <p:spPr bwMode="auto">
          <a:xfrm>
            <a:off x="196595" y="1503484"/>
            <a:ext cx="11795760" cy="4536830"/>
          </a:xfrm>
          <a:prstGeom prst="rect">
            <a:avLst/>
          </a:prstGeom>
        </p:spPr>
      </p:pic>
      <p:sp>
        <p:nvSpPr>
          <p:cNvPr id="1428063640" name="TextBox 3"/>
          <p:cNvSpPr txBox="1"/>
          <p:nvPr/>
        </p:nvSpPr>
        <p:spPr bwMode="auto">
          <a:xfrm>
            <a:off x="548640" y="6217920"/>
            <a:ext cx="11064240" cy="548640"/>
          </a:xfrm>
          <a:prstGeom prst="rect">
            <a:avLst/>
          </a:prstGeom>
          <a:noFill/>
        </p:spPr>
        <p:txBody>
          <a:bodyPr wrap="square">
            <a:spAutoFit/>
          </a:bodyPr>
          <a:lstStyle/>
          <a:p>
            <a:pPr algn="ctr">
              <a:defRPr sz="1200" i="1">
                <a:solidFill>
                  <a:srgbClr val="404040"/>
                </a:solidFill>
              </a:defRPr>
            </a:pPr>
            <a:r>
              <a:rPr/>
              <a:t>Idea: en vez de repartir los puntos parejo, poner la mayoria sobre la frontera. Azul = mejora respecto de repartir parejo, rojo = empeora.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2226159" name="TextBox 1"/>
          <p:cNvSpPr txBox="1"/>
          <p:nvPr/>
        </p:nvSpPr>
        <p:spPr bwMode="auto">
          <a:xfrm>
            <a:off x="548640" y="320040"/>
            <a:ext cx="11064240" cy="822960"/>
          </a:xfrm>
          <a:prstGeom prst="rect">
            <a:avLst/>
          </a:prstGeom>
          <a:noFill/>
        </p:spPr>
        <p:txBody>
          <a:bodyPr wrap="none">
            <a:spAutoFit/>
          </a:bodyPr>
          <a:lstStyle/>
          <a:p>
            <a:pPr>
              <a:defRPr sz="2600" b="1">
                <a:solidFill>
                  <a:srgbClr val="1F3B73"/>
                </a:solidFill>
              </a:defRPr>
            </a:pPr>
            <a:r>
              <a:rPr/>
              <a:t>5 · Ejemplo:  g = -4,  con 10 % de puntos  (mf 0.90)</a:t>
            </a:r>
            <a:endParaRPr/>
          </a:p>
        </p:txBody>
      </p:sp>
      <p:pic>
        <p:nvPicPr>
          <p:cNvPr id="1602935253" name="Picture 2" descr="comparison_annotated.png"/>
          <p:cNvPicPr>
            <a:picLocks noChangeAspect="1"/>
          </p:cNvPicPr>
          <p:nvPr/>
        </p:nvPicPr>
        <p:blipFill rotWithShape="1">
          <a:blip r:embed="rId3"/>
          <a:stretch/>
        </p:blipFill>
        <p:spPr bwMode="auto">
          <a:xfrm>
            <a:off x="456377" y="3088957"/>
            <a:ext cx="5669280" cy="1594485"/>
          </a:xfrm>
          <a:prstGeom prst="rect">
            <a:avLst/>
          </a:prstGeom>
        </p:spPr>
      </p:pic>
      <p:sp>
        <p:nvSpPr>
          <p:cNvPr id="150530287" name="TextBox 3"/>
          <p:cNvSpPr txBox="1"/>
          <p:nvPr/>
        </p:nvSpPr>
        <p:spPr bwMode="auto">
          <a:xfrm>
            <a:off x="456377" y="1417320"/>
            <a:ext cx="5669280" cy="457200"/>
          </a:xfrm>
          <a:prstGeom prst="rect">
            <a:avLst/>
          </a:prstGeom>
          <a:noFill/>
        </p:spPr>
        <p:txBody>
          <a:bodyPr wrap="none">
            <a:spAutoFit/>
          </a:bodyPr>
          <a:lstStyle/>
          <a:p>
            <a:pPr algn="ctr">
              <a:defRPr sz="1300" b="1">
                <a:solidFill>
                  <a:srgbClr val="1F3B73"/>
                </a:solidFill>
              </a:defRPr>
            </a:pPr>
            <a:r>
              <a:rPr/>
              <a:t>uniforme   (PSNR 28.0 / SSIM 0.98)</a:t>
            </a:r>
            <a:endParaRPr/>
          </a:p>
        </p:txBody>
      </p:sp>
      <p:pic>
        <p:nvPicPr>
          <p:cNvPr id="87761984" name="Picture 4" descr="comparison_annotated.png"/>
          <p:cNvPicPr>
            <a:picLocks noChangeAspect="1"/>
          </p:cNvPicPr>
          <p:nvPr/>
        </p:nvPicPr>
        <p:blipFill rotWithShape="1">
          <a:blip r:embed="rId4"/>
          <a:stretch/>
        </p:blipFill>
        <p:spPr bwMode="auto">
          <a:xfrm>
            <a:off x="6307073" y="3088957"/>
            <a:ext cx="5669280" cy="1594485"/>
          </a:xfrm>
          <a:prstGeom prst="rect">
            <a:avLst/>
          </a:prstGeom>
        </p:spPr>
      </p:pic>
      <p:sp>
        <p:nvSpPr>
          <p:cNvPr id="1027280708" name="TextBox 5"/>
          <p:cNvSpPr txBox="1"/>
          <p:nvPr/>
        </p:nvSpPr>
        <p:spPr bwMode="auto">
          <a:xfrm>
            <a:off x="6307073" y="1417320"/>
            <a:ext cx="5669280" cy="457200"/>
          </a:xfrm>
          <a:prstGeom prst="rect">
            <a:avLst/>
          </a:prstGeom>
          <a:noFill/>
        </p:spPr>
        <p:txBody>
          <a:bodyPr wrap="none">
            <a:spAutoFit/>
          </a:bodyPr>
          <a:lstStyle/>
          <a:p>
            <a:pPr algn="ctr">
              <a:defRPr sz="1300" b="1">
                <a:solidFill>
                  <a:srgbClr val="1F3B73"/>
                </a:solidFill>
              </a:defRPr>
            </a:pPr>
            <a:r>
              <a:rPr/>
              <a:t>frontier_mix   (PSNR 48.5 / SSIM 0.99)</a:t>
            </a:r>
            <a:endParaRPr/>
          </a:p>
        </p:txBody>
      </p:sp>
      <p:sp>
        <p:nvSpPr>
          <p:cNvPr id="1407878573" name="TextBox 6"/>
          <p:cNvSpPr txBox="1"/>
          <p:nvPr/>
        </p:nvSpPr>
        <p:spPr bwMode="auto">
          <a:xfrm>
            <a:off x="548640" y="6126480"/>
            <a:ext cx="11064240" cy="640080"/>
          </a:xfrm>
          <a:prstGeom prst="rect">
            <a:avLst/>
          </a:prstGeom>
          <a:noFill/>
        </p:spPr>
        <p:txBody>
          <a:bodyPr wrap="square">
            <a:spAutoFit/>
          </a:bodyPr>
          <a:lstStyle/>
          <a:p>
            <a:pPr algn="ctr">
              <a:defRPr sz="1200" i="1">
                <a:solidFill>
                  <a:srgbClr val="404040"/>
                </a:solidFill>
              </a:defRPr>
            </a:pPr>
            <a:r>
              <a:rPr/>
              <a:t>Misma cantidad de puntos, solo que puestos sobre la frontera: el escalon deja de estar lavado.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3294702" name="TextBox 1"/>
          <p:cNvSpPr txBox="1"/>
          <p:nvPr/>
        </p:nvSpPr>
        <p:spPr bwMode="auto">
          <a:xfrm>
            <a:off x="594360" y="374991"/>
            <a:ext cx="7707349" cy="488039"/>
          </a:xfrm>
          <a:prstGeom prst="rect">
            <a:avLst/>
          </a:prstGeom>
          <a:noFill/>
        </p:spPr>
        <p:txBody>
          <a:bodyPr wrap="none">
            <a:spAutoFit/>
          </a:bodyPr>
          <a:lstStyle/>
          <a:p>
            <a:pPr>
              <a:defRPr sz="2600" b="1">
                <a:solidFill>
                  <a:srgbClr val="1F3B73"/>
                </a:solidFill>
              </a:defRPr>
            </a:pPr>
            <a:r>
              <a:rPr/>
              <a:t>5 · El arreglo ayuda, pero solo si hay puntos de sobra</a:t>
            </a:r>
            <a:r>
              <a:rPr lang="es-ES"/>
              <a:t>!!!</a:t>
            </a:r>
            <a:endParaRPr/>
          </a:p>
        </p:txBody>
      </p:sp>
      <p:graphicFrame>
        <p:nvGraphicFramePr>
          <p:cNvPr id="806272636" name="Table 2"/>
          <p:cNvGraphicFramePr>
            <a:graphicFrameLocks xmlns:a="http://schemas.openxmlformats.org/drawingml/2006/main" noGrp="1"/>
          </p:cNvGraphicFramePr>
          <p:nvPr/>
        </p:nvGraphicFramePr>
        <p:xfrm rot="0">
          <a:off x="914400" y="1947671"/>
          <a:ext cx="10424160" cy="1687390"/>
        </p:xfrm>
        <a:graphic>
          <a:graphicData uri="http://schemas.openxmlformats.org/drawingml/2006/table">
            <a:tbl>
              <a:tblPr firstRow="1" firstCol="0" lastRow="0" lastCol="0" bandRow="1" bandCol="0">
                <a:tableStyleId>{5C22544A-7EE6-4342-B048-85BDC9FD1C3A}</a:tableStyleId>
              </a:tblPr>
              <a:tblGrid>
                <a:gridCol w="3108960"/>
                <a:gridCol w="7315200"/>
              </a:tblGrid>
              <a:tr h="562463">
                <a:tc>
                  <a:txBody>
                    <a:bodyPr/>
                    <a:p>
                      <a:pPr>
                        <a:defRPr sz="1400" b="1"/>
                      </a:pPr>
                      <a:r>
                        <a:rPr/>
                        <a:t>regimen</a:t>
                      </a:r>
                      <a:endParaRPr/>
                    </a:p>
                  </a:txBody>
                  <a:tcPr/>
                </a:tc>
                <a:tc>
                  <a:txBody>
                    <a:bodyPr/>
                    <a:p>
                      <a:pPr>
                        <a:defRPr sz="1400" b="1"/>
                      </a:pPr>
                      <a:r>
                        <a:rPr/>
                        <a:t>efecto de frontier_mix frente a uniforme</a:t>
                      </a:r>
                      <a:endParaRPr/>
                    </a:p>
                  </a:txBody>
                  <a:tcPr/>
                </a:tc>
              </a:tr>
              <a:tr h="562463">
                <a:tc>
                  <a:txBody>
                    <a:bodyPr/>
                    <a:p>
                      <a:pPr>
                        <a:defRPr sz="1300" b="1"/>
                      </a:pPr>
                      <a:r>
                        <a:rPr/>
                        <a:t>mf 0.90 - 0.95  (5-10 % observado)</a:t>
                      </a:r>
                      <a:endParaRPr/>
                    </a:p>
                  </a:txBody>
                  <a:tcPr/>
                </a:tc>
                <a:tc>
                  <a:txBody>
                    <a:bodyPr/>
                    <a:p>
                      <a:pPr>
                        <a:defRPr sz="1300" b="0"/>
                      </a:pPr>
                      <a:r>
                        <a:rPr/>
                        <a:t>gran mejora: g=-4 mf0.90 pasa de PSNR 28 a 48 (+20 dB); g=-3.5, +24 dB.  Gana en casi todo g &lt;= 0.</a:t>
                      </a:r>
                      <a:endParaRPr/>
                    </a:p>
                  </a:txBody>
                  <a:tcPr/>
                </a:tc>
              </a:tr>
              <a:tr h="562463">
                <a:tc>
                  <a:txBody>
                    <a:bodyPr/>
                    <a:p>
                      <a:pPr>
                        <a:defRPr sz="1300" b="1"/>
                      </a:pPr>
                      <a:r>
                        <a:rPr/>
                        <a:t>mf 0.98 - 0.995  (&lt;= 2 % observado)</a:t>
                      </a:r>
                      <a:endParaRPr/>
                    </a:p>
                  </a:txBody>
                  <a:tcPr/>
                </a:tc>
                <a:tc>
                  <a:txBody>
                    <a:bodyPr/>
                    <a:p>
                      <a:pPr>
                        <a:defRPr sz="1300" b="0"/>
                      </a:pPr>
                      <a:r>
                        <a:rPr/>
                        <a:t>empeora, a veces bastante (SSIM -0.1 a -0.6): al cargar la frontera, las mesetas quedan sin fijar.</a:t>
                      </a:r>
                      <a:endParaRPr/>
                    </a:p>
                  </a:txBody>
                  <a:tcPr/>
                </a:tc>
              </a:tr>
            </a:tbl>
          </a:graphicData>
        </a:graphic>
      </p:graphicFrame>
      <p:sp>
        <p:nvSpPr>
          <p:cNvPr id="1814291545" name="TextBox 3"/>
          <p:cNvSpPr txBox="1"/>
          <p:nvPr/>
        </p:nvSpPr>
        <p:spPr bwMode="auto">
          <a:xfrm>
            <a:off x="914400" y="4648258"/>
            <a:ext cx="10333799" cy="579479"/>
          </a:xfrm>
          <a:prstGeom prst="rect">
            <a:avLst/>
          </a:prstGeom>
          <a:noFill/>
        </p:spPr>
        <p:txBody>
          <a:bodyPr wrap="square">
            <a:spAutoFit/>
          </a:bodyPr>
          <a:lstStyle/>
          <a:p>
            <a:pPr>
              <a:defRPr sz="1100" i="1">
                <a:solidFill>
                  <a:srgbClr val="404040"/>
                </a:solidFill>
              </a:defRPr>
            </a:pPr>
            <a:r>
              <a:rPr sz="1600"/>
              <a:t>Ayuda justo donde hacia falta: g negativo con al menos 5 % de puntos. Con muy pocos puntos empeora: no importa como los repartas, no alcanzan para fijar el escalon y las dos zonas planas.</a:t>
            </a:r>
            <a:endParaRPr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105028" name="TextBox 1"/>
          <p:cNvSpPr txBox="1"/>
          <p:nvPr/>
        </p:nvSpPr>
        <p:spPr bwMode="auto">
          <a:xfrm>
            <a:off x="548640" y="320040"/>
            <a:ext cx="11064240" cy="822960"/>
          </a:xfrm>
          <a:prstGeom prst="rect">
            <a:avLst/>
          </a:prstGeom>
          <a:noFill/>
        </p:spPr>
        <p:txBody>
          <a:bodyPr wrap="none">
            <a:spAutoFit/>
          </a:bodyPr>
          <a:lstStyle/>
          <a:p>
            <a:pPr>
              <a:defRPr sz="2700" b="1">
                <a:solidFill>
                  <a:srgbClr val="1F3B73"/>
                </a:solidFill>
              </a:defRPr>
            </a:pPr>
            <a:r>
              <a:rPr/>
              <a:t>Conclusiones</a:t>
            </a:r>
            <a:endParaRPr/>
          </a:p>
        </p:txBody>
      </p:sp>
      <p:sp>
        <p:nvSpPr>
          <p:cNvPr id="217964057" name="TextBox 2"/>
          <p:cNvSpPr txBox="1"/>
          <p:nvPr/>
        </p:nvSpPr>
        <p:spPr bwMode="auto">
          <a:xfrm>
            <a:off x="548640" y="1280160"/>
            <a:ext cx="11028239" cy="3398879"/>
          </a:xfrm>
          <a:prstGeom prst="rect">
            <a:avLst/>
          </a:prstGeom>
          <a:noFill/>
        </p:spPr>
        <p:txBody>
          <a:bodyPr wrap="square">
            <a:spAutoFit/>
          </a:bodyPr>
          <a:lstStyle/>
          <a:p>
            <a:pPr>
              <a:spcAft>
                <a:spcPts val="500"/>
              </a:spcAft>
              <a:defRPr sz="1600">
                <a:solidFill>
                  <a:srgbClr val="404040"/>
                </a:solidFill>
              </a:defRPr>
            </a:pPr>
            <a:r>
              <a:rPr lang="en-US" sz="1600" b="0" i="0" u="none" strike="noStrike" cap="none" spc="0">
                <a:solidFill>
                  <a:srgbClr val="404040"/>
                </a:solidFill>
                <a:latin typeface="Calibri"/>
                <a:ea typeface="Calibri"/>
                <a:cs typeface="Calibri"/>
              </a:rPr>
              <a:t>DIP reconstruye el diagrama de fases con muy pocos puntos: alcanza con observar el 2 % del mapa para recuperarlo casi perfecto , siempre que g sea −3 o mayor.</a:t>
            </a:r>
            <a:endParaRPr/>
          </a:p>
          <a:p>
            <a:pPr>
              <a:spcAft>
                <a:spcPts val="500"/>
              </a:spcAft>
              <a:defRPr sz="1600">
                <a:solidFill>
                  <a:srgbClr val="404040"/>
                </a:solidFill>
              </a:defRPr>
            </a:pPr>
            <a:endParaRPr/>
          </a:p>
          <a:p>
            <a:pPr>
              <a:spcAft>
                <a:spcPts val="500"/>
              </a:spcAft>
              <a:defRPr sz="1600">
                <a:solidFill>
                  <a:srgbClr val="404040"/>
                </a:solidFill>
              </a:defRPr>
            </a:pPr>
            <a:r>
              <a:rPr/>
              <a:t>Donde poner los puntos: lo que importa es cubrir las mesetas</a:t>
            </a:r>
            <a:r>
              <a:rPr lang="es-ES"/>
              <a:t>... </a:t>
            </a:r>
            <a:r>
              <a:rPr/>
              <a:t> concentrarlos solo en la frontera es lo peor.</a:t>
            </a:r>
            <a:endParaRPr/>
          </a:p>
          <a:p>
            <a:pPr>
              <a:spcAft>
                <a:spcPts val="500"/>
              </a:spcAft>
              <a:defRPr sz="1600">
                <a:solidFill>
                  <a:srgbClr val="404040"/>
                </a:solidFill>
              </a:defRPr>
            </a:pPr>
            <a:endParaRPr/>
          </a:p>
          <a:p>
            <a:pPr>
              <a:spcAft>
                <a:spcPts val="500"/>
              </a:spcAft>
              <a:defRPr sz="1600">
                <a:solidFill>
                  <a:srgbClr val="404040"/>
                </a:solidFill>
              </a:defRPr>
            </a:pPr>
            <a:r>
              <a:rPr/>
              <a:t>El regimen dificil es g muy negativo, con frente abrupto</a:t>
            </a:r>
            <a:r>
              <a:rPr lang="es-ES"/>
              <a:t> (parece un diente de sierra)</a:t>
            </a:r>
            <a:r>
              <a:rPr/>
              <a:t>: ahi el muestreo uniforme no alcanza, y hay que cargar la mascara en la frontera y ademas tener suficientes puntos (&gt;= 5 %).</a:t>
            </a:r>
            <a:endParaRPr/>
          </a:p>
          <a:p>
            <a:pPr>
              <a:spcAft>
                <a:spcPts val="500"/>
              </a:spcAft>
              <a:defRPr sz="1600">
                <a:solidFill>
                  <a:srgbClr val="404040"/>
                </a:solidFill>
              </a:defRPr>
            </a:pPr>
            <a:endParaRPr/>
          </a:p>
          <a:p>
            <a:pPr>
              <a:spcAft>
                <a:spcPts val="500"/>
              </a:spcAft>
              <a:defRPr sz="1600">
                <a:solidFill>
                  <a:srgbClr val="404040"/>
                </a:solidFill>
              </a:defRPr>
            </a:pPr>
            <a:r>
              <a:rPr/>
              <a:t>Cuando cortar depende de la dificultad: en los casos dificiles hay sobreajuste temprano y el criterio interno (PSNR sobre los observados) no lo detecta.</a:t>
            </a:r>
            <a:br>
              <a:rPr/>
            </a:br>
            <a:br>
              <a:rPr/>
            </a:br>
            <a:r>
              <a:rPr lang="es-ES"/>
              <a:t>no es optimo intentar que kmc se centre en la franja, hay que chekear frontera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7610520" name=""/>
          <p:cNvSpPr txBox="1"/>
          <p:nvPr/>
        </p:nvSpPr>
        <p:spPr bwMode="auto">
          <a:xfrm rot="0" flipH="0" flipV="0">
            <a:off x="3244038" y="2517756"/>
            <a:ext cx="3993719" cy="28349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283879" indent="-283879">
              <a:buAutoNum type="arabicPeriod"/>
              <a:defRPr/>
            </a:pPr>
            <a:r>
              <a:rPr lang="es-ES"/>
              <a:t>distribucion absurdamente uniforme pero que deje una ventana hacia afuera a partir de una ventana</a:t>
            </a:r>
            <a:r>
              <a:rPr lang="es-ES"/>
              <a:t> </a:t>
            </a:r>
            <a:endParaRPr lang="es-ES"/>
          </a:p>
          <a:p>
            <a:pPr marL="283879" indent="-283879">
              <a:buAutoNum type="arabicPeriod"/>
              <a:defRPr/>
            </a:pPr>
            <a:r>
              <a:rPr lang="es-ES"/>
              <a:t>contar puntos en frontera con distribucion uniforme</a:t>
            </a:r>
            <a:endParaRPr lang="es-ES"/>
          </a:p>
          <a:p>
            <a:pPr marL="283879" indent="-283879">
              <a:buAutoNum type="arabicPeriod"/>
              <a:defRPr/>
            </a:pPr>
            <a:r>
              <a:rPr lang="es-ES"/>
              <a:t>y probar distintas distribuciones con g-4</a:t>
            </a:r>
            <a:endParaRPr lang="es-ES"/>
          </a:p>
          <a:p>
            <a:pPr marL="283879" indent="-283879">
              <a:buAutoNum type="arabicPeriod"/>
              <a:defRPr/>
            </a:pPr>
            <a:r>
              <a:rPr lang="es-ES"/>
              <a:t>trazar media con distintos g-4</a:t>
            </a:r>
            <a:endParaRPr lang="es-ES"/>
          </a:p>
          <a:p>
            <a:pPr>
              <a:defRPr/>
            </a:pPr>
            <a:r>
              <a:rPr lang="es-ES"/>
              <a:t>5.  lo mas comun son los g negativos</a:t>
            </a:r>
            <a:endParaRPr lang="es-ES"/>
          </a:p>
          <a:p>
            <a:pPr>
              <a:defRPr/>
            </a:pPr>
            <a:endParaRPr lang="es-E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27</Slides>
  <Notes>27</Notes>
  <HiddenSlides>0</HiddenSlides>
  <MMClips>2</MMClips>
  <ScaleCrop>0</ScaleCrop>
  <HeadingPairs>
    <vt:vector size="4" baseType="variant">
      <vt:variant>
        <vt:lpstr>Theme</vt:lpstr>
      </vt:variant>
      <vt:variant>
        <vt:i4>1</vt:i4>
      </vt:variant>
      <vt:variant>
        <vt:lpstr>Slide Titles</vt:lpstr>
      </vt:variant>
      <vt:variant>
        <vt:i4>27</vt:i4>
      </vt:variant>
    </vt:vector>
  </HeadingPairs>
  <TitlesOfParts>
    <vt:vector size="2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5</cp:revision>
  <dcterms:created xsi:type="dcterms:W3CDTF">2013-01-27T09:14:16Z</dcterms:created>
  <dcterms:modified xsi:type="dcterms:W3CDTF">2026-09-10T00:02:52Z</dcterms:modified>
  <cp:category/>
</cp:coreProperties>
</file>