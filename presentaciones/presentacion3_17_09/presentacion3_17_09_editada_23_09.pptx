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 /><Relationship Id="rId40" Type="http://schemas.openxmlformats.org/officeDocument/2006/relationships/tableStyles" Target="tableStyles.xml" /><Relationship Id="rId4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300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843840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42866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508967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565255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40289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589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7741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735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681A39-0AAD-14A3-4D13-890ABFA5E1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992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231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230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5A0A73-09CB-AB4B-C72D-23EE3B020A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05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1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413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74AFF8-BA7A-11E6-F285-8D08F95290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3122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159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441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5B60AC-330A-F257-D34E-9C602EE5C7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574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1963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81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66182-51C7-EFCE-0C56-37EE3006E8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386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1506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24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AD7817-A6AB-4903-241A-4815981497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799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02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910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6AF06-F0A5-FC4C-9D40-C7D018C67F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030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361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888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E9FF5E-B572-E13E-2979-E2E066827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04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332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051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A56388-5933-1360-44C5-4F06F76184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297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96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256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EBA7EA-4CD3-1F4E-3454-5BB68AACE8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645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4077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47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D661C0-1AC1-73FF-66CC-A8AEC88F6E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22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996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609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61791B-98A9-1B15-7BC0-FF82CC26D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829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43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195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7B8EC7-E441-F9FB-1D16-32B608C10E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214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4368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15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D921B-EEAD-FEE5-9D7C-F90F2E6BD2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700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95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241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B142A1-0FF5-8E72-85EC-7C73A4B36E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064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65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05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C4C595-C503-9E50-6945-2B549A7487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978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735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94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939E6-B4F3-D276-3C9E-508B5BE9B7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684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7988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232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0EF92C-1987-A6DA-EE44-3FA6AC8630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573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994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018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248B7-849B-689B-11EB-19A32C1779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21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808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888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284DD8-209B-19EC-6E06-7458741F67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613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3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308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EAEEB9-A182-5070-58FF-F09815826B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803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2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3901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37AB96-F911-F5D4-16AA-1EEFF0BC49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7198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86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194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3FE0DF-1EF4-5039-4CC7-53BFA4E881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852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848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672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24C594-05C4-4B4B-D209-957BB49D47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351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0570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365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7374A0-BF8B-3C3E-9DE9-6173506058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325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186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054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F31C33-ECCA-E0E9-CF67-C8C03B921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20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0329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61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1673A4-0792-749B-39D7-D1A436C956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499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7324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131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044B01-1EDC-D5E6-3CC7-65CC25A7D5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5656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243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574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0B418-9909-3813-67AD-D347D31AB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229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492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87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F6C20D-4BDF-6E3E-5963-486887C6AC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91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328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12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3DEB5-BB3D-DBFA-E35D-CED43F9C81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20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9648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3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A0F20C-21E6-31EB-9163-81997D0752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644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712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07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CAF0C2-7D6C-ECEC-82D5-50B08E783E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C6F405-AAED-229B-570B-594784AADB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70984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44679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834435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420415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60584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692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82469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8730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59292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99001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16625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2611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93902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237189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2893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9647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58532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56406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73504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691128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9158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8739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73432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1500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1664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38165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555480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712278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069980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4996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685553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78068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62009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4453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075486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88763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29159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716409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31040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62323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955483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12138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17485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69233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8990364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26050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4368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33702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823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9307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06173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546318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40780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6730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99320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8808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005310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5525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25365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47483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900098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37414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099662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ptuna.org/" TargetMode="External"/><Relationship Id="rId4" Type="http://schemas.openxmlformats.org/officeDocument/2006/relationships/hyperlink" Target="https://docs.scipy.org/doc/scipy/reference/generated/scipy.interpolate.interp2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981" name="TextBox 1"/>
          <p:cNvSpPr txBox="1"/>
          <p:nvPr/>
        </p:nvSpPr>
        <p:spPr bwMode="auto">
          <a:xfrm>
            <a:off x="548640" y="320040"/>
            <a:ext cx="2784461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2700" b="1" i="0" u="none" strike="noStrike" cap="none" spc="0">
                <a:solidFill>
                  <a:srgbClr val="1F3B73"/>
                </a:solidFill>
                <a:latin typeface="Calibri"/>
                <a:ea typeface="Arial"/>
                <a:cs typeface="Arial"/>
              </a:defRPr>
            </a:pPr>
            <a:r>
              <a:rPr lang="es-ES" sz="2700" b="1" i="0" u="none" strike="noStrike" cap="none" spc="0">
                <a:solidFill>
                  <a:srgbClr val="1F3B73"/>
                </a:solidFill>
                <a:latin typeface="Calibri"/>
                <a:ea typeface="Arial"/>
                <a:cs typeface="Arial"/>
              </a:rPr>
              <a:t>Presentacion 17/9</a:t>
            </a:r>
            <a:endParaRPr/>
          </a:p>
        </p:txBody>
      </p:sp>
      <p:sp>
        <p:nvSpPr>
          <p:cNvPr id="905001821" name="TextBox 2"/>
          <p:cNvSpPr txBox="1"/>
          <p:nvPr/>
        </p:nvSpPr>
        <p:spPr bwMode="auto">
          <a:xfrm>
            <a:off x="501014" y="1454784"/>
            <a:ext cx="11204279" cy="35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lang="es-ES"/>
              <a:t>Cositas pendiente de la</a:t>
            </a:r>
            <a:r>
              <a:rPr/>
              <a:t> reunion del 9/9</a:t>
            </a:r>
            <a:r>
              <a:rPr lang="es-ES"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1.  </a:t>
            </a:r>
            <a:r>
              <a:rPr lang="es-ES"/>
              <a:t>Nueva</a:t>
            </a:r>
            <a:r>
              <a:rPr lang="es-ES"/>
              <a:t> f</a:t>
            </a:r>
            <a:r>
              <a:rPr/>
              <a:t>amilia de mascara 'grid' ( absurdamente uniforme)</a:t>
            </a:r>
            <a:r>
              <a:rPr lang="es-ES"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2.  Cuanto de cada distribucion cae sobre la fronter</a:t>
            </a:r>
            <a:r>
              <a:rPr lang="es-ES"/>
              <a:t>a. (simple dato estadistico pedido por maxi).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3.  Intento de arreglar el escalonado de la reconstruccion con una media movil.</a:t>
            </a:r>
            <a:r>
              <a:rPr lang="es-ES"/>
              <a:t> (pedido por maxi tamb).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4.  Intento de concentrar los puntos en una ventana chica en vez de repartirlos por toda la imagen.</a:t>
            </a:r>
            <a:r>
              <a:rPr lang="es-ES"/>
              <a:t> (pedido por andres, buena idea en papel).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lang="es-ES"/>
              <a:t>Extras.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5.  </a:t>
            </a:r>
            <a:r>
              <a:rPr lang="es-ES"/>
              <a:t>tocar los</a:t>
            </a:r>
            <a:r>
              <a:rPr/>
              <a:t>  hiperparametros (REG_NOISE_STD</a:t>
            </a:r>
            <a:r>
              <a:rPr lang="es-ES"/>
              <a:t> y Learning rate</a:t>
            </a:r>
            <a:r>
              <a:rPr/>
              <a:t>) que resulto ser el camino mas solido -- validado con 328 y 164 puntos en los 9 g</a:t>
            </a:r>
            <a:r>
              <a:rPr lang="es-ES"/>
              <a:t> (importante debatir de esto en la reunion).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6.  Generalizacion: el mismo comportamiento en imagenes que no son el diagrama de fase.</a:t>
            </a:r>
            <a:r>
              <a:rPr lang="es-ES"/>
              <a:t> (prueba curiosa sobre dip en distintos graficos con distintos porcentajes, viene de la propuesta de andres de extender la libreria a una de python)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932191" name="TextBox 1"/>
          <p:cNvSpPr txBox="1"/>
          <p:nvPr/>
        </p:nvSpPr>
        <p:spPr bwMode="auto">
          <a:xfrm>
            <a:off x="548640" y="320040"/>
            <a:ext cx="3183752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</a:t>
            </a:r>
            <a:r>
              <a:rPr lang="es-ES"/>
              <a:t>Nueva</a:t>
            </a:r>
            <a:r>
              <a:rPr/>
              <a:t> familia: grid</a:t>
            </a:r>
            <a:endParaRPr/>
          </a:p>
        </p:txBody>
      </p:sp>
      <p:pic>
        <p:nvPicPr>
          <p:cNvPr id="1951493184" name="Picture 2" descr="preview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36876" y="1371600"/>
            <a:ext cx="7315200" cy="4800600"/>
          </a:xfrm>
          <a:prstGeom prst="rect">
            <a:avLst/>
          </a:prstGeom>
        </p:spPr>
      </p:pic>
      <p:sp>
        <p:nvSpPr>
          <p:cNvPr id="1373428322" name="TextBox 3"/>
          <p:cNvSpPr txBox="1"/>
          <p:nvPr/>
        </p:nvSpPr>
        <p:spPr bwMode="auto">
          <a:xfrm>
            <a:off x="3163406" y="6217920"/>
            <a:ext cx="5885106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lang="es-ES"/>
              <a:t>aquí se muestra las diferentes familias que utilizaremos mas adelante para la reconstrucción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252446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Reconstrucciones con la familia grid (2% observado)</a:t>
            </a:r>
            <a:endParaRPr/>
          </a:p>
        </p:txBody>
      </p:sp>
      <p:sp>
        <p:nvSpPr>
          <p:cNvPr id="1441433310" name="TextBox 2"/>
          <p:cNvSpPr txBox="1"/>
          <p:nvPr/>
        </p:nvSpPr>
        <p:spPr bwMode="auto">
          <a:xfrm>
            <a:off x="502920" y="1307592"/>
            <a:ext cx="77027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-4.0 --</a:t>
            </a:r>
            <a:endParaRPr/>
          </a:p>
        </p:txBody>
      </p:sp>
      <p:pic>
        <p:nvPicPr>
          <p:cNvPr id="282254122" name="Picture 3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600200"/>
            <a:ext cx="5486400" cy="1543050"/>
          </a:xfrm>
          <a:prstGeom prst="rect">
            <a:avLst/>
          </a:prstGeom>
        </p:spPr>
      </p:pic>
      <p:sp>
        <p:nvSpPr>
          <p:cNvPr id="1613970933" name="TextBox 4"/>
          <p:cNvSpPr txBox="1"/>
          <p:nvPr/>
        </p:nvSpPr>
        <p:spPr bwMode="auto">
          <a:xfrm>
            <a:off x="6263640" y="1307592"/>
            <a:ext cx="77027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-2.0 --</a:t>
            </a:r>
            <a:endParaRPr/>
          </a:p>
        </p:txBody>
      </p:sp>
      <p:pic>
        <p:nvPicPr>
          <p:cNvPr id="1445237461" name="Picture 5" descr="comparison_annotat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63640" y="1600200"/>
            <a:ext cx="5486400" cy="1543050"/>
          </a:xfrm>
          <a:prstGeom prst="rect">
            <a:avLst/>
          </a:prstGeom>
        </p:spPr>
      </p:pic>
      <p:sp>
        <p:nvSpPr>
          <p:cNvPr id="345852470" name="TextBox 6"/>
          <p:cNvSpPr txBox="1"/>
          <p:nvPr/>
        </p:nvSpPr>
        <p:spPr bwMode="auto">
          <a:xfrm>
            <a:off x="502920" y="3319272"/>
            <a:ext cx="77027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-1.0 -- </a:t>
            </a:r>
            <a:endParaRPr/>
          </a:p>
        </p:txBody>
      </p:sp>
      <p:pic>
        <p:nvPicPr>
          <p:cNvPr id="850998189" name="Picture 7" descr="comparison_annotat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2920" y="3611880"/>
            <a:ext cx="5486400" cy="1543050"/>
          </a:xfrm>
          <a:prstGeom prst="rect">
            <a:avLst/>
          </a:prstGeom>
        </p:spPr>
      </p:pic>
      <p:sp>
        <p:nvSpPr>
          <p:cNvPr id="769111237" name="TextBox 8"/>
          <p:cNvSpPr txBox="1"/>
          <p:nvPr/>
        </p:nvSpPr>
        <p:spPr bwMode="auto">
          <a:xfrm>
            <a:off x="6263640" y="3319272"/>
            <a:ext cx="72361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0.0 -- </a:t>
            </a:r>
            <a:endParaRPr/>
          </a:p>
        </p:txBody>
      </p:sp>
      <p:pic>
        <p:nvPicPr>
          <p:cNvPr id="2116698062" name="Picture 9" descr="comparison_annotat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63640" y="3611880"/>
            <a:ext cx="5486400" cy="1543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06246" name="TextBox 1"/>
          <p:cNvSpPr txBox="1"/>
          <p:nvPr/>
        </p:nvSpPr>
        <p:spPr bwMode="auto">
          <a:xfrm>
            <a:off x="548640" y="320040"/>
            <a:ext cx="5931255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Las 5 distribuciones</a:t>
            </a:r>
            <a:r>
              <a:rPr lang="es-ES"/>
              <a:t> con los </a:t>
            </a:r>
            <a:r>
              <a:rPr/>
              <a:t>g negativo</a:t>
            </a:r>
            <a:r>
              <a:rPr lang="es-ES"/>
              <a:t>s</a:t>
            </a:r>
            <a:endParaRPr/>
          </a:p>
        </p:txBody>
      </p:sp>
      <p:pic>
        <p:nvPicPr>
          <p:cNvPr id="1082973048" name="Picture 2" descr="psnr_vs_pct_by_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09874" y="808079"/>
            <a:ext cx="7111999" cy="5778500"/>
          </a:xfrm>
          <a:prstGeom prst="rect">
            <a:avLst/>
          </a:prstGeom>
        </p:spPr>
      </p:pic>
      <p:sp>
        <p:nvSpPr>
          <p:cNvPr id="1400824666" name="TextBox 3"/>
          <p:cNvSpPr txBox="1"/>
          <p:nvPr/>
        </p:nvSpPr>
        <p:spPr bwMode="auto">
          <a:xfrm>
            <a:off x="232129" y="6519544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PSNR final vs. % observado, una por g, 5 lineas (uniform, grid, spread, frontier, frontier_mix).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831898" name="TextBox 1"/>
          <p:cNvSpPr txBox="1"/>
          <p:nvPr/>
        </p:nvSpPr>
        <p:spPr bwMode="auto">
          <a:xfrm>
            <a:off x="628013" y="320040"/>
            <a:ext cx="3519108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PSNR promedio por g </a:t>
            </a:r>
            <a:r>
              <a:rPr lang="es-ES"/>
              <a:t> </a:t>
            </a:r>
            <a:r>
              <a:rPr/>
              <a:t> </a:t>
            </a:r>
            <a:endParaRPr/>
          </a:p>
        </p:txBody>
      </p:sp>
      <p:graphicFrame>
        <p:nvGraphicFramePr>
          <p:cNvPr id="1463113058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1371600"/>
          <a:ext cx="10378435" cy="38404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005840"/>
                <a:gridCol w="1874519"/>
                <a:gridCol w="1874519"/>
                <a:gridCol w="1874519"/>
                <a:gridCol w="1874519"/>
                <a:gridCol w="1874519"/>
              </a:tblGrid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uniform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grid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spread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frontier_mix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-4.0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22.5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12.1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26.7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23.5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25.2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26.6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23.2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12.3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30.9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30.8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32.8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30.3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34.3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32.9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36.6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35.3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37.7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29.3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33.1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34.4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41.0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10.7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36.0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+0.0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40.6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10.3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33.8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2138681" name="TextBox 3"/>
          <p:cNvSpPr txBox="1"/>
          <p:nvPr/>
        </p:nvSpPr>
        <p:spPr bwMode="auto">
          <a:xfrm>
            <a:off x="4332326" y="5535293"/>
            <a:ext cx="288760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lang="es-ES"/>
              <a:t>5 corridas con distinto porcentaje de puntos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77553" name="TextBox 1"/>
          <p:cNvSpPr txBox="1"/>
          <p:nvPr/>
        </p:nvSpPr>
        <p:spPr bwMode="auto">
          <a:xfrm>
            <a:off x="548640" y="320040"/>
            <a:ext cx="286467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Ejemplo: g = -0.5 </a:t>
            </a:r>
            <a:endParaRPr/>
          </a:p>
        </p:txBody>
      </p:sp>
      <p:pic>
        <p:nvPicPr>
          <p:cNvPr id="1742974328" name="Picture 2" descr="montage_g-0.5_mf0.98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162673003" name="TextBox 3"/>
          <p:cNvSpPr txBox="1"/>
          <p:nvPr/>
        </p:nvSpPr>
        <p:spPr bwMode="auto">
          <a:xfrm>
            <a:off x="3455487" y="6217920"/>
            <a:ext cx="525126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2% observado. grid: PSNR 42.3 / SSIM 0.989. frontier_mix: PSNR 28.5 / SSIM 0.689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487739" name="TextBox 1"/>
          <p:cNvSpPr txBox="1"/>
          <p:nvPr/>
        </p:nvSpPr>
        <p:spPr bwMode="auto">
          <a:xfrm>
            <a:off x="548640" y="320040"/>
            <a:ext cx="286467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Ejemplo: g = -4.0 </a:t>
            </a:r>
            <a:endParaRPr/>
          </a:p>
        </p:txBody>
      </p:sp>
      <p:pic>
        <p:nvPicPr>
          <p:cNvPr id="401771700" name="Picture 2" descr="montage_g-4.0_mf0.98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717806383" name="TextBox 3"/>
          <p:cNvSpPr txBox="1"/>
          <p:nvPr/>
        </p:nvSpPr>
        <p:spPr bwMode="auto">
          <a:xfrm>
            <a:off x="4183182" y="6217920"/>
            <a:ext cx="379551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Este escalonado es lo que se intenta corregir en el punto 3.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2491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2 · Cuanto de cada distribucion cae sobre la frontera de fase</a:t>
            </a:r>
            <a:endParaRPr/>
          </a:p>
        </p:txBody>
      </p:sp>
      <p:graphicFrame>
        <p:nvGraphicFramePr>
          <p:cNvPr id="150470297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2228850"/>
          <a:ext cx="9601200" cy="23042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familia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promedio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minimo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maximo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uniform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6.4%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17.1%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grid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6.8%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16.0%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spread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1.0%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3.0%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82.4%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30.3%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96.3%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frontier_mix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50.5%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24.1%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72.0%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73403020" name="TextBox 3"/>
          <p:cNvSpPr txBox="1"/>
          <p:nvPr/>
        </p:nvSpPr>
        <p:spPr bwMode="auto">
          <a:xfrm>
            <a:off x="4187702" y="4709794"/>
            <a:ext cx="305459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lang="en-US" sz="1200" b="0" i="1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promediado sobre las 225 corridas (9 g × 5 mf)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81966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2 · Cuantos puntos en la frontera hacen falta para una reconstruccion confiable</a:t>
            </a:r>
            <a:endParaRPr/>
          </a:p>
        </p:txBody>
      </p:sp>
      <p:pic>
        <p:nvPicPr>
          <p:cNvPr id="1858640291" name="Picture 2" descr="psnr_vs_frontier_point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33116" y="1280160"/>
            <a:ext cx="6522720" cy="4892039"/>
          </a:xfrm>
          <a:prstGeom prst="rect">
            <a:avLst/>
          </a:prstGeom>
        </p:spPr>
      </p:pic>
      <p:sp>
        <p:nvSpPr>
          <p:cNvPr id="580637729" name="TextBox 3"/>
          <p:cNvSpPr txBox="1"/>
          <p:nvPr/>
        </p:nvSpPr>
        <p:spPr bwMode="auto">
          <a:xfrm>
            <a:off x="3088574" y="6217920"/>
            <a:ext cx="5995530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Fidelidad final vs. cuantos puntos de la mascara caen sobre la frontera (no el total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558190" name="TextBox 1"/>
          <p:cNvSpPr txBox="1"/>
          <p:nvPr/>
        </p:nvSpPr>
        <p:spPr bwMode="auto">
          <a:xfrm>
            <a:off x="548640" y="320040"/>
            <a:ext cx="7149039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3 · Intento: arreglar el escalonado con una media </a:t>
            </a:r>
            <a:endParaRPr/>
          </a:p>
        </p:txBody>
      </p:sp>
      <p:sp>
        <p:nvSpPr>
          <p:cNvPr id="1766379568" name="TextBox 2"/>
          <p:cNvSpPr txBox="1"/>
          <p:nvPr/>
        </p:nvSpPr>
        <p:spPr bwMode="auto">
          <a:xfrm>
            <a:off x="548640" y="1280160"/>
            <a:ext cx="11020679" cy="14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La reconstruccion de DIP en frentes abruptos queda con un patron de escalones</a:t>
            </a:r>
            <a:r>
              <a:rPr lang="es-ES"/>
              <a:t>.</a:t>
            </a:r>
            <a:r>
              <a:rPr/>
              <a:t>. Idea: detectar donde la reconstruccion cruza el nivel 0.5 en cada fila (curva roja), suavizarla con una media movil (curva verde), y redibujar la imagen como una linea limpia en esa posicion suavizada.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lang="es-ES"/>
              <a:t>El problema es que despues de intentarlo durante un largo rato me di cuenta que la solucion no se ve factible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781858" name="TextBox 1"/>
          <p:cNvSpPr txBox="1"/>
          <p:nvPr/>
        </p:nvSpPr>
        <p:spPr bwMode="auto">
          <a:xfrm>
            <a:off x="548640" y="320040"/>
            <a:ext cx="10161104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4 · Intento</a:t>
            </a:r>
            <a:r>
              <a:rPr lang="es-ES"/>
              <a:t> de</a:t>
            </a:r>
            <a:r>
              <a:rPr/>
              <a:t> ventana chica y densa en vez de puntos por toda la imagen</a:t>
            </a:r>
            <a:endParaRPr/>
          </a:p>
        </p:txBody>
      </p:sp>
      <p:graphicFrame>
        <p:nvGraphicFramePr>
          <p:cNvPr id="1470810003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1371600"/>
          <a:ext cx="7955280" cy="23042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38912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Variante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N pts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PSNR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SSIM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Global (referencia, grid, 90 pts)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25.0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0.963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Franja 64px sobre toda la curva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0.935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Cuadrado 64x64 + reg=0.08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0.957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Cuadrado 64x64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121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22.9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0.846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Cuadrado 32x32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36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18.6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0.811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12147250" name="TextBox 3"/>
          <p:cNvSpPr txBox="1"/>
          <p:nvPr/>
        </p:nvSpPr>
        <p:spPr bwMode="auto">
          <a:xfrm>
            <a:off x="866774" y="3858768"/>
            <a:ext cx="10366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rPr lang="es-ES"/>
              <a:t>este intento de mejora me dio pie a poder arreglar cosas de fondo que veremos mas adelante!!!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326477" name="TextBox 1"/>
          <p:cNvSpPr txBox="1"/>
          <p:nvPr/>
        </p:nvSpPr>
        <p:spPr bwMode="auto">
          <a:xfrm>
            <a:off x="548640" y="320040"/>
            <a:ext cx="10693033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5 · Lo que salio de seguir investigando: REG_NOISE_STD</a:t>
            </a:r>
            <a:r>
              <a:rPr lang="es-ES"/>
              <a:t> y LEARNING RATE</a:t>
            </a:r>
            <a:endParaRPr/>
          </a:p>
        </p:txBody>
      </p:sp>
      <p:sp>
        <p:nvSpPr>
          <p:cNvPr id="229338094" name="TextBox 2"/>
          <p:cNvSpPr txBox="1"/>
          <p:nvPr/>
        </p:nvSpPr>
        <p:spPr bwMode="auto">
          <a:xfrm>
            <a:off x="548640" y="1280160"/>
            <a:ext cx="10981439" cy="22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Con pocos puntos, DIP sobreajusta al ruido de entrada y deja 'manchas' en las mesetas -- resulto ser un problema de HIPERPARAMETRO, no de que distribucion de puntos se usa.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Subir REG_NOISE_STD de 0.01 (el que se venia usando para frentes abruptos) a 0.08 saca esas manchas. Se cruzo con las 3 familias mas relevantes</a:t>
            </a:r>
            <a:r>
              <a:rPr lang="es-ES"/>
              <a:t> e</a:t>
            </a:r>
            <a:r>
              <a:rPr/>
              <a:t>n 3 g representativos (-4.0, -2.0, -0.5), 328 puntos</a:t>
            </a:r>
            <a:r>
              <a:rPr lang="es-ES"/>
              <a:t>!!!</a:t>
            </a:r>
            <a:r>
              <a:rPr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Resultado inesperado: frontier_mix -- la familia que en la parte 1 rendia peor y de forma mas erratica -- es la que MAS se beneficia. Pasa de ser la peor de las 3 a la mejor por lejos, en los 3 g.</a:t>
            </a:r>
            <a:r>
              <a:rPr lang="es-ES"/>
              <a:t> y se pone mejor!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387713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Tambien se ve en la ventana 64x64: reg=0.01 (manchas)</a:t>
            </a:r>
            <a:endParaRPr/>
          </a:p>
        </p:txBody>
      </p:sp>
      <p:pic>
        <p:nvPicPr>
          <p:cNvPr id="1905813400" name="Picture 2" descr="window_comparison_sq6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1577340"/>
            <a:ext cx="11521440" cy="4389120"/>
          </a:xfrm>
          <a:prstGeom prst="rect">
            <a:avLst/>
          </a:prstGeom>
        </p:spPr>
      </p:pic>
      <p:sp>
        <p:nvSpPr>
          <p:cNvPr id="397231329" name="TextBox 3"/>
          <p:cNvSpPr txBox="1"/>
          <p:nvPr/>
        </p:nvSpPr>
        <p:spPr bwMode="auto">
          <a:xfrm>
            <a:off x="2226084" y="6217920"/>
            <a:ext cx="770971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g=-4.0, grid, ventana 64x64 con los puntos heredados de la mascara global. REG_NOISE_STD=0.01: PSNR 24.2, SSIM 0.863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585048" name="TextBox 1"/>
          <p:cNvSpPr txBox="1"/>
          <p:nvPr/>
        </p:nvSpPr>
        <p:spPr bwMode="auto">
          <a:xfrm>
            <a:off x="548640" y="320040"/>
            <a:ext cx="7665760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Como reconstruia ANTES:</a:t>
            </a:r>
            <a:r>
              <a:rPr lang="es-ES"/>
              <a:t> con R</a:t>
            </a:r>
            <a:r>
              <a:rPr/>
              <a:t>EG_NOISE_STD bajo</a:t>
            </a:r>
            <a:endParaRPr/>
          </a:p>
        </p:txBody>
      </p:sp>
      <p:pic>
        <p:nvPicPr>
          <p:cNvPr id="2027443764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419466753" name="TextBox 3"/>
          <p:cNvSpPr txBox="1"/>
          <p:nvPr/>
        </p:nvSpPr>
        <p:spPr bwMode="auto">
          <a:xfrm>
            <a:off x="2716985" y="6217920"/>
            <a:ext cx="6727909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g=-0.5, frontier_mix, 328 puntos, REG_NOISE_STD=0.01 (el que se usaba antes): PSNR 26.7 dB, SSIM 0.711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530441" name="TextBox 1"/>
          <p:cNvSpPr txBox="1"/>
          <p:nvPr/>
        </p:nvSpPr>
        <p:spPr bwMode="auto">
          <a:xfrm>
            <a:off x="548640" y="320040"/>
            <a:ext cx="357586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Mismo caso, reg=0.08</a:t>
            </a:r>
            <a:endParaRPr/>
          </a:p>
        </p:txBody>
      </p:sp>
      <p:pic>
        <p:nvPicPr>
          <p:cNvPr id="927552041" name="Picture 2" descr="window_comparison_sq64_reg0.0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1577340"/>
            <a:ext cx="11521440" cy="4389120"/>
          </a:xfrm>
          <a:prstGeom prst="rect">
            <a:avLst/>
          </a:prstGeom>
        </p:spPr>
      </p:pic>
      <p:sp>
        <p:nvSpPr>
          <p:cNvPr id="1035490057" name="TextBox 3"/>
          <p:cNvSpPr txBox="1"/>
          <p:nvPr/>
        </p:nvSpPr>
        <p:spPr bwMode="auto">
          <a:xfrm>
            <a:off x="2839793" y="6217920"/>
            <a:ext cx="6482652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Mismos puntos, misma ventana. REG_NOISE_STD=0.08: PSNR 24.2 (igual), pero SSIM 0.957 (vs. 0.863)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51726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PSNR por familia, g y REG_NOISE_STD</a:t>
            </a:r>
            <a:endParaRPr/>
          </a:p>
        </p:txBody>
      </p:sp>
      <p:pic>
        <p:nvPicPr>
          <p:cNvPr id="3767560" name="Picture 2" descr="psnr_by_family_g_re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1286509"/>
            <a:ext cx="11521440" cy="3840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72209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Se ve directo en la imagen: las manchas desaparecen</a:t>
            </a:r>
            <a:endParaRPr/>
          </a:p>
        </p:txBody>
      </p:sp>
      <p:pic>
        <p:nvPicPr>
          <p:cNvPr id="1978060645" name="Picture 2" descr="reconstrucciones_g_x_re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25596" y="1234440"/>
            <a:ext cx="4937760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797836" name="TextBox 1"/>
          <p:cNvSpPr txBox="1"/>
          <p:nvPr/>
        </p:nvSpPr>
        <p:spPr bwMode="auto">
          <a:xfrm>
            <a:off x="548640" y="320040"/>
            <a:ext cx="7773460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Validado en los 9 g, con d</a:t>
            </a:r>
            <a:r>
              <a:rPr lang="es-ES"/>
              <a:t>istintas cantidad de puntos</a:t>
            </a:r>
            <a:endParaRPr/>
          </a:p>
        </p:txBody>
      </p:sp>
      <p:pic>
        <p:nvPicPr>
          <p:cNvPr id="1631791393" name="Picture 2" descr="linea_328_vs_16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10106" y="1280160"/>
            <a:ext cx="8968739" cy="4892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457665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Los numeros detras del grafico</a:t>
            </a:r>
            <a:endParaRPr/>
          </a:p>
        </p:txBody>
      </p:sp>
      <p:graphicFrame>
        <p:nvGraphicFramePr>
          <p:cNvPr id="1736610600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276349"/>
          <a:ext cx="11247120" cy="115214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g / 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-4.0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+0.0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100" b="1"/>
                      </a:pPr>
                      <a:r>
                        <a:rPr/>
                        <a:t>328 pts (2%%)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41.1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42.0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50.0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42.9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51.1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51.1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52.5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100" b="1"/>
                      </a:pPr>
                      <a:r>
                        <a:rPr/>
                        <a:t>164 pts (1%%)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33.6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29.1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34.1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44.9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42.2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46.8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43.8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48.3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49.5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3290" name="TextBox 1"/>
          <p:cNvSpPr txBox="1"/>
          <p:nvPr/>
        </p:nvSpPr>
        <p:spPr bwMode="auto">
          <a:xfrm>
            <a:off x="548640" y="320040"/>
            <a:ext cx="320003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g=-4.0 , 328 puntos</a:t>
            </a:r>
            <a:endParaRPr/>
          </a:p>
        </p:txBody>
      </p:sp>
      <p:pic>
        <p:nvPicPr>
          <p:cNvPr id="1631652190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411924417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reg=0.08 -- practicamente indistinguible del original a ojo, con solo 328 puntos (2%%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70084" name="TextBox 1"/>
          <p:cNvSpPr txBox="1"/>
          <p:nvPr/>
        </p:nvSpPr>
        <p:spPr bwMode="auto">
          <a:xfrm>
            <a:off x="548640" y="320040"/>
            <a:ext cx="320003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g=-2.0 , 328 puntos</a:t>
            </a:r>
            <a:endParaRPr/>
          </a:p>
        </p:txBody>
      </p:sp>
      <p:pic>
        <p:nvPicPr>
          <p:cNvPr id="336495655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330171697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reg=0.08 -- practicamente indistinguible del original a ojo, con solo 328 puntos (2%%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847852" name="TextBox 1"/>
          <p:cNvSpPr txBox="1"/>
          <p:nvPr/>
        </p:nvSpPr>
        <p:spPr bwMode="auto">
          <a:xfrm>
            <a:off x="548640" y="320040"/>
            <a:ext cx="3125388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g=-0.5, 328 puntos</a:t>
            </a:r>
            <a:endParaRPr/>
          </a:p>
        </p:txBody>
      </p:sp>
      <p:pic>
        <p:nvPicPr>
          <p:cNvPr id="233554393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278532408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reg=0.08 -- practicamente indistinguible del original a ojo, con solo 328 puntos (2%%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388895" name="TextBox 1"/>
          <p:cNvSpPr txBox="1"/>
          <p:nvPr/>
        </p:nvSpPr>
        <p:spPr bwMode="auto">
          <a:xfrm>
            <a:off x="548640" y="320040"/>
            <a:ext cx="619809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g=-4.0 , con la MITAD de los puntos (164)</a:t>
            </a:r>
            <a:endParaRPr/>
          </a:p>
        </p:txBody>
      </p:sp>
      <p:pic>
        <p:nvPicPr>
          <p:cNvPr id="186722059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813222134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reg=0.08, 164 puntos (1%% observado, la mitad del presupuesto anterior) -- se sostiene fiable, sin cambiar nada mas.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633343" name="TextBox 1"/>
          <p:cNvSpPr txBox="1"/>
          <p:nvPr/>
        </p:nvSpPr>
        <p:spPr bwMode="auto">
          <a:xfrm>
            <a:off x="548640" y="320040"/>
            <a:ext cx="619809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g=-2.0 , con la MITAD de los puntos (164)</a:t>
            </a:r>
            <a:endParaRPr/>
          </a:p>
        </p:txBody>
      </p:sp>
      <p:pic>
        <p:nvPicPr>
          <p:cNvPr id="394923963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2026991037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reg=0.08, 164 puntos (1%% observado, la mitad del presupuesto anterior) -- se sostiene fiable, sin cambiar nada mas.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83308" name="TextBox 1"/>
          <p:cNvSpPr txBox="1"/>
          <p:nvPr/>
        </p:nvSpPr>
        <p:spPr bwMode="auto">
          <a:xfrm>
            <a:off x="548640" y="320040"/>
            <a:ext cx="619809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g=-0.5 , con la MITAD de los puntos (164)</a:t>
            </a:r>
            <a:endParaRPr/>
          </a:p>
        </p:txBody>
      </p:sp>
      <p:pic>
        <p:nvPicPr>
          <p:cNvPr id="2112343499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698922312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reg=0.08, 164 puntos (1%% observado, la mitad del presupuesto anterior) -- se sostiene fiable, sin cambiar nada mas.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691919" name="TextBox 1"/>
          <p:cNvSpPr txBox="1"/>
          <p:nvPr/>
        </p:nvSpPr>
        <p:spPr bwMode="auto">
          <a:xfrm>
            <a:off x="548640" y="320040"/>
            <a:ext cx="9468473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Conviene subir REG_NOISE_STD todavia mas? g=-4.0, 164 puntos</a:t>
            </a:r>
            <a:endParaRPr/>
          </a:p>
        </p:txBody>
      </p:sp>
      <p:pic>
        <p:nvPicPr>
          <p:cNvPr id="616131961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406316362" name="TextBox 3"/>
          <p:cNvSpPr txBox="1"/>
          <p:nvPr/>
        </p:nvSpPr>
        <p:spPr bwMode="auto">
          <a:xfrm>
            <a:off x="3396982" y="6217920"/>
            <a:ext cx="5369351" cy="45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b="1"/>
              <a:t>reg=0.12 </a:t>
            </a:r>
            <a:r>
              <a:rPr/>
              <a:t>(vs. el 0.08), mismo LR e iteraciones, 164 puntos (1%% observado): 36.6 dB </a:t>
            </a:r>
            <a:endParaRPr/>
          </a:p>
          <a:p>
            <a:pPr algn="ctr">
              <a:defRPr sz="1200" i="1">
                <a:solidFill>
                  <a:srgbClr val="404040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506721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5 · Por que este es el camino a seguir</a:t>
            </a:r>
            <a:endParaRPr/>
          </a:p>
        </p:txBody>
      </p:sp>
      <p:sp>
        <p:nvSpPr>
          <p:cNvPr id="1618263478" name="TextBox 2"/>
          <p:cNvSpPr txBox="1"/>
          <p:nvPr/>
        </p:nvSpPr>
        <p:spPr bwMode="auto">
          <a:xfrm>
            <a:off x="548640" y="1280160"/>
            <a:ext cx="11043719" cy="376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De todo l</a:t>
            </a:r>
            <a:r>
              <a:rPr lang="es-ES"/>
              <a:t>o visto hasta ahora... </a:t>
            </a:r>
            <a:r>
              <a:rPr/>
              <a:t> -- grid, ventanas concentradas, correccion por media movil -- lo unico que dio un salto grande, consistente y reproducible en los 9 g fue este </a:t>
            </a:r>
            <a:r>
              <a:rPr b="1"/>
              <a:t>cambio de hiperparametro.</a:t>
            </a: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Funciona con la mitad de los puntos (164) casi tan bien como con el presupuesto completo (328) -- eso es directamente margen para bajar el costo de los puntos reales (KMC) sin perder confiabilidad.</a:t>
            </a:r>
            <a:r>
              <a:rPr lang="es-ES"/>
              <a:t> todo esto por cambiar los hiperparametros!.</a:t>
            </a: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Es ademas el cambio MAS SIMPLE de todos los que se probaron: una sola linea de configuracion, sin arquitectura nueva, sin posprocesado, sin ventanas ni puntos inventados.</a:t>
            </a: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Por eso es la direccion en la que se va a seguir profundizando.</a:t>
            </a:r>
            <a:r>
              <a:rPr lang="es-ES"/>
              <a:t> y hasta diria de probar estos cambios de hiperparametro con las tecnicas anteriormente vistas.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824708" name="TextBox 1"/>
          <p:cNvSpPr txBox="1"/>
          <p:nvPr/>
        </p:nvSpPr>
        <p:spPr bwMode="auto">
          <a:xfrm>
            <a:off x="548640" y="478789"/>
            <a:ext cx="9109314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6 · Generalizando</a:t>
            </a:r>
            <a:r>
              <a:rPr lang="es-ES"/>
              <a:t>... viendo como funciona con otras imagenes.</a:t>
            </a:r>
            <a:endParaRPr/>
          </a:p>
        </p:txBody>
      </p:sp>
      <p:sp>
        <p:nvSpPr>
          <p:cNvPr id="863086237" name="TextBox 2"/>
          <p:cNvSpPr txBox="1"/>
          <p:nvPr/>
        </p:nvSpPr>
        <p:spPr bwMode="auto">
          <a:xfrm>
            <a:off x="548640" y="1280160"/>
            <a:ext cx="11057399" cy="209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Para verificar </a:t>
            </a:r>
            <a:r>
              <a:rPr lang="es-ES"/>
              <a:t>con distintos graficos, </a:t>
            </a:r>
            <a:r>
              <a:rPr/>
              <a:t> una campana de Gauss, un barrido de frecuencia, las funciones de Rosenbrock e Himmelblau, y un tablero de ajedrez -- y con una foto real </a:t>
            </a:r>
            <a:r>
              <a:rPr lang="es-ES"/>
              <a:t>distinta de las unicas 2 que probe (una foto de FAMAF)..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Mascara Bernoulli uniforme simple (no las distribuciones especiales armadas para el diagrama de fase), 10% observado, mismo pipeline.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br>
              <a:rPr lang="es-ES"/>
            </a:br>
            <a:r>
              <a:rPr lang="es-ES"/>
              <a:t>Quiero comprobar como reconstruye DIP estas distintas imagenes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636994" name="TextBox 1"/>
          <p:cNvSpPr txBox="1"/>
          <p:nvPr/>
        </p:nvSpPr>
        <p:spPr bwMode="auto">
          <a:xfrm>
            <a:off x="548640" y="320040"/>
            <a:ext cx="9692886" cy="45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3B73"/>
                </a:solidFill>
              </a:defRPr>
            </a:pPr>
            <a:r>
              <a:rPr/>
              <a:t>6 · De donde salen estas imagenes</a:t>
            </a:r>
            <a:r>
              <a:rPr lang="es-ES"/>
              <a:t>?</a:t>
            </a:r>
            <a:r>
              <a:rPr/>
              <a:t>: superficie -&gt; vista de arriba -&gt; corte 1D</a:t>
            </a:r>
            <a:endParaRPr/>
          </a:p>
        </p:txBody>
      </p:sp>
      <p:pic>
        <p:nvPicPr>
          <p:cNvPr id="1268025501" name="Picture 2" descr="explicacion_funciones_corte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74136" y="1143000"/>
            <a:ext cx="5440680" cy="5440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148245" name="TextBox 1"/>
          <p:cNvSpPr txBox="1"/>
          <p:nvPr/>
        </p:nvSpPr>
        <p:spPr bwMode="auto">
          <a:xfrm>
            <a:off x="548640" y="320040"/>
            <a:ext cx="6641315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6 · Cinco funciones matematicas, 10%</a:t>
            </a:r>
            <a:r>
              <a:rPr lang="es-ES"/>
              <a:t> de punto</a:t>
            </a:r>
            <a:endParaRPr/>
          </a:p>
        </p:txBody>
      </p:sp>
      <p:pic>
        <p:nvPicPr>
          <p:cNvPr id="726648653" name="Picture 2" descr="grid_5_matematica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6" y="1678939"/>
            <a:ext cx="11887200" cy="4094480"/>
          </a:xfrm>
          <a:prstGeom prst="rect">
            <a:avLst/>
          </a:prstGeom>
        </p:spPr>
      </p:pic>
      <p:sp>
        <p:nvSpPr>
          <p:cNvPr id="1190747715" name="TextBox 3"/>
          <p:cNvSpPr txBox="1"/>
          <p:nvPr/>
        </p:nvSpPr>
        <p:spPr bwMode="auto">
          <a:xfrm flipH="0" flipV="0">
            <a:off x="548640" y="5921374"/>
            <a:ext cx="11123279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Suave (campana, Rosenbrock, Himmelblau): 46-53 dB, casi perfecto. Alta frecuencia (tablero, barrido): 20 dB y 7 dB </a:t>
            </a:r>
            <a:r>
              <a:rPr lang="es-ES"/>
              <a:t>, VEMOS QUE CUANTO MAS BRUPTO ES LA IMAGEN MEJOR SE TIENEN QUE TOCAR LOS HIPERPARAMETROS.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63748" name="TextBox 1"/>
          <p:cNvSpPr txBox="1"/>
          <p:nvPr/>
        </p:nvSpPr>
        <p:spPr bwMode="auto">
          <a:xfrm>
            <a:off x="548640" y="320040"/>
            <a:ext cx="1812013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6 · </a:t>
            </a:r>
            <a:r>
              <a:rPr lang="es-ES"/>
              <a:t>Foto real</a:t>
            </a:r>
            <a:endParaRPr/>
          </a:p>
        </p:txBody>
      </p:sp>
      <p:pic>
        <p:nvPicPr>
          <p:cNvPr id="680290159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191017493" name="TextBox 3"/>
          <p:cNvSpPr txBox="1"/>
          <p:nvPr/>
        </p:nvSpPr>
        <p:spPr bwMode="auto">
          <a:xfrm>
            <a:off x="2429792" y="6217920"/>
            <a:ext cx="7302654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1024x768 RGB, 10% observado, mascara Bernoulli. </a:t>
            </a:r>
            <a:r>
              <a:rPr b="1"/>
              <a:t>Mismo pipeline</a:t>
            </a:r>
            <a:r>
              <a:rPr/>
              <a:t>, sin ningun ajuste especial para fotos naturales.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25332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Conclusiones</a:t>
            </a:r>
            <a:endParaRPr/>
          </a:p>
        </p:txBody>
      </p:sp>
      <p:sp>
        <p:nvSpPr>
          <p:cNvPr id="359461018" name="TextBox 2"/>
          <p:cNvSpPr txBox="1"/>
          <p:nvPr/>
        </p:nvSpPr>
        <p:spPr bwMode="auto">
          <a:xfrm>
            <a:off x="548640" y="1280160"/>
            <a:ext cx="10973880" cy="29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grid (sin ningun conocimiento de la frontera) es sorprendentemente competitiva -- le gana a frontier_mix en la mayoria de los g negativos.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El escalonado y las ventanas concentradas no se arreglaron con correcciones post-hoc ni con menos puntos mejor ubicados -- el camino que si funciono fue un hiperparametro: REG_NOISE_STD=0.08.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Con ese fix, frontier_mix + 328 puntos da una reconstruccion fiable (41-52 dB, SSIM &gt;= 0.98) en los 9 g probados -- y se sostiene razonablemente incluso con la mitad de los puntos </a:t>
            </a:r>
            <a:r>
              <a:rPr b="1"/>
              <a:t>(164)</a:t>
            </a:r>
            <a:r>
              <a:rPr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El comportamiento generaliza: DIP reconstruye bien contenido suave y falla en contenido de alta frecuencia</a:t>
            </a:r>
            <a:r>
              <a:rPr lang="es-ES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007302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Lo que falta y lo que sigue</a:t>
            </a:r>
            <a:endParaRPr/>
          </a:p>
        </p:txBody>
      </p:sp>
      <p:sp>
        <p:nvSpPr>
          <p:cNvPr id="1821760281" name="TextBox 2"/>
          <p:cNvSpPr txBox="1"/>
          <p:nvPr/>
        </p:nvSpPr>
        <p:spPr bwMode="auto"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Falta una metrica de error restringida a la banda de frontera (las metricas actuales son de la imagen completa y las dominan las mesetas).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Probar REG_NOISE_STD=0.08 tambien en presupuestos mas chicos que 164 puntos, y en las otras familias (grid, uniform) en los 9 g.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Pasar de los mapas del continuo a puntos KMC reales sigue pendiente.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333606" name="TextBox 2"/>
          <p:cNvSpPr txBox="1"/>
          <p:nvPr/>
        </p:nvSpPr>
        <p:spPr bwMode="auto">
          <a:xfrm>
            <a:off x="469264" y="502284"/>
            <a:ext cx="11001239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600">
                <a:solidFill>
                  <a:srgbClr val="404040"/>
                </a:solidFill>
              </a:defRPr>
            </a:pPr>
            <a:r>
              <a:rPr lang="es-ES" sz="2400"/>
              <a:t>Que sigue??</a:t>
            </a:r>
            <a:br>
              <a:rPr lang="es-ES" sz="2400"/>
            </a:br>
            <a:endParaRPr lang="es-ES"/>
          </a:p>
        </p:txBody>
      </p:sp>
      <p:sp>
        <p:nvSpPr>
          <p:cNvPr id="148428714" name=""/>
          <p:cNvSpPr txBox="1"/>
          <p:nvPr/>
        </p:nvSpPr>
        <p:spPr bwMode="auto">
          <a:xfrm rot="0" flipH="0" flipV="0">
            <a:off x="1414499" y="1476374"/>
            <a:ext cx="46747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AutoNum type="arabicPeriod"/>
              <a:defRPr/>
            </a:pPr>
            <a:endParaRPr lang="es-ES"/>
          </a:p>
        </p:txBody>
      </p:sp>
      <p:sp>
        <p:nvSpPr>
          <p:cNvPr id="585240030" name=""/>
          <p:cNvSpPr txBox="1"/>
          <p:nvPr/>
        </p:nvSpPr>
        <p:spPr bwMode="auto">
          <a:xfrm rot="0" flipH="0" flipV="0">
            <a:off x="175866" y="1555749"/>
            <a:ext cx="11606088" cy="5029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AutoNum type="arabicPeriod"/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3" tooltip=""/>
              </a:rPr>
              <a:t>https://optuna.org/</a:t>
            </a:r>
            <a:endParaRPr lang="es-ES"/>
          </a:p>
          <a:p>
            <a:pPr marL="283879" indent="-283879">
              <a:buAutoNum type="arabicPeriod"/>
              <a:defRPr/>
            </a:pPr>
            <a:r>
              <a:rPr lang="es-ES"/>
              <a:t>mismos experimentos para grid y uniforme tocando hiperparametros , grilla como un hiperparametro mas</a:t>
            </a:r>
            <a:endParaRPr lang="es-ES"/>
          </a:p>
          <a:p>
            <a:pPr marL="283879" indent="-283879">
              <a:buAutoNum type="arabicPeriod"/>
              <a:defRPr/>
            </a:pPr>
            <a:r>
              <a:rPr lang="es-ES"/>
              <a:t>probar ventana devuelta.</a:t>
            </a:r>
            <a:endParaRPr lang="es-ES"/>
          </a:p>
          <a:p>
            <a:pPr marL="283879" indent="-283879">
              <a:buAutoNum type="arabicPeriod"/>
              <a:defRPr/>
            </a:pPr>
            <a:r>
              <a:rPr lang="es-ES"/>
              <a:t>reconstruir de </a:t>
            </a:r>
            <a:r>
              <a:rPr lang="es-ES"/>
              <a:t>rosenbrock a grafico 3d devuelta</a:t>
            </a:r>
            <a:endParaRPr lang="es-ES"/>
          </a:p>
          <a:p>
            <a:pPr marL="283879" indent="-283879">
              <a:buAutoNum type="arabicPeriod"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scipy interpolation 2d</a:t>
            </a:r>
            <a:r>
              <a:rPr lang="es-ES"/>
              <a:t> comparacion con dip</a:t>
            </a:r>
            <a:endParaRPr lang="es-ES"/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https://docs.scipy.org/doc/scipy/reference/generated/scipy.interpolate.interp2d.html</a:t>
            </a:r>
            <a:endParaRPr lang="es-ES"/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3" tooltip=""/>
              </a:rPr>
              <a:t>https://optuna.org/</a:t>
            </a:r>
            <a:r>
              <a:rPr lang="es-ES"/>
              <a:t>	</a:t>
            </a:r>
            <a:endParaRPr lang="es-ES"/>
          </a:p>
          <a:p>
            <a:pPr>
              <a:defRPr/>
            </a:pPr>
            <a:br>
              <a:rPr lang="es-ES"/>
            </a:br>
            <a:br>
              <a:rPr lang="es-ES"/>
            </a:br>
            <a:endParaRPr lang="es-E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 Optuna (optuna.org), para buscar hiperparámetros automáticamente.</a:t>
            </a:r>
            <a:endParaRPr lang="es-E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2. Los mismos experimentos con grid y uniform, tocando hiperparámetros. Lo de REG_NOISE_STD=0.08 se validó en los 9 g solo con frontier_mix.</a:t>
            </a:r>
            <a:endParaRPr lang="es-E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 La grilla como un hiperparámetro más.</a:t>
            </a:r>
            <a:endParaRPr lang="es-E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4. Probar la ventana de nuevo.</a:t>
            </a:r>
            <a:endParaRPr lang="es-E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 Rosenbrock: reconstruirla y mostrarla otra vez como gráfico 3D.</a:t>
            </a:r>
            <a:endParaRPr lang="es-E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6. Interpolación 2D de scipy como comparación contra DIP. Anotaste el link a interp2d, pero en el scipy moderno ya no existe; habría que usar griddata o RBFInterpolator.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34</Slides>
  <Notes>34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8</cp:revision>
  <dcterms:created xsi:type="dcterms:W3CDTF">2013-01-27T09:14:16Z</dcterms:created>
  <dcterms:modified xsi:type="dcterms:W3CDTF">2026-09-24T00:15:55Z</dcterms:modified>
  <cp:category/>
</cp:coreProperties>
</file>