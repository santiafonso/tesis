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88952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2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431754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7939751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21409021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30964766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58290284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4564755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97750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18826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19677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F16FEE-60D2-A202-4394-12AD8D50741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6856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01947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29132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AD1A81-A4AF-3B52-064E-07028396F0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35549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08833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050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C3291C-CE09-A2B7-C4BE-D9FA856D53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9097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88517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19502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AA2F69-A647-929D-4990-9522BB1429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14128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71355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7714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E28E3C-9053-D9FA-DC1E-E6E176963F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41217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13649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22081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3E588D-C2A8-6174-31DD-96EF85B743F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002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35644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02059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E92D4E-07A4-6A13-BF96-B023D124D0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1174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5721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84283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65DC70-8FFD-E4F9-E6D3-A422F9E47B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17626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718012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2485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C1595BD-7BF2-87EE-7543-EB1D140656E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47128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026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85399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31E2B1-7CBB-E9D3-00E6-D67BB129A6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1921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53429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52018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E8DB1F-3F84-4A54-3FEB-CB076C5E60D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55738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431200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94499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227DD-C083-FC0D-A6F7-7B26AF447D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00799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11650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746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0EA6F3F-8E5D-D32D-B714-DD41F123E66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43849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56980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4805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D02B12-2414-2906-A133-25A06797AF3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74999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625616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990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A41F34-AEFD-C286-A764-271A71DFFB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8505642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34636832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9627509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25269655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0662371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1161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9377385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7348791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42463026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2950038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6414731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6128880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4103893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67676165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7009989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861776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2994783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1623711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1484810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50015331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472047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331470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693708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0135008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9445960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727212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4418573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27201231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5157689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71941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2377953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651688981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51975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437767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454136437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151262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7884546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32400367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4580461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6111279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83858139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6658968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0716497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97844050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49571640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5814365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27791606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4367956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23968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6608558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9307912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00744012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153404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788510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6041085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9408448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03883844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5040818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005069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5296038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6421755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69595208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332641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2416780" name="TextBox 1"/>
          <p:cNvSpPr txBox="1"/>
          <p:nvPr/>
        </p:nvSpPr>
        <p:spPr bwMode="auto">
          <a:xfrm>
            <a:off x="548640" y="320040"/>
            <a:ext cx="6082972" cy="488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 lang="es-ES"/>
              <a:t>Cosas para hacer</a:t>
            </a:r>
            <a:r>
              <a:rPr/>
              <a:t> esta semana</a:t>
            </a:r>
            <a:r>
              <a:rPr lang="es-ES"/>
              <a:t> (26/8 al </a:t>
            </a:r>
            <a:r>
              <a:rPr lang="es-ES"/>
              <a:t>2/9)</a:t>
            </a:r>
            <a:endParaRPr lang="es-ES"/>
          </a:p>
        </p:txBody>
      </p:sp>
      <p:sp>
        <p:nvSpPr>
          <p:cNvPr id="1648115433" name="TextBox 2"/>
          <p:cNvSpPr txBox="1"/>
          <p:nvPr/>
        </p:nvSpPr>
        <p:spPr bwMode="auto">
          <a:xfrm>
            <a:off x="640080" y="1649728"/>
            <a:ext cx="11002678" cy="1971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rPr/>
              <a:t>- Comparar la reconstruccion DI</a:t>
            </a:r>
            <a:r>
              <a:rPr lang="es-ES"/>
              <a:t>P </a:t>
            </a:r>
            <a:r>
              <a:rPr/>
              <a:t>con distintos porcentajes de mascara.</a:t>
            </a:r>
            <a:r>
              <a:rPr lang="es-ES"/>
              <a:t> 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rPr/>
              <a:t>- Mirar algunas metricas de error para ponerle numero a esa reconstruccion.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rPr/>
              <a:t>- Imagen de partida: el mapa del modelo del continuo (galpynostatic), 128x128.</a:t>
            </a:r>
            <a:r>
              <a:rPr lang="es-ES"/>
              <a:t> (como en el paper)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rPr/>
              <a:t>- Mascaras probadas: 50, 70, 80, 90, 95, 98 y 99 % de puntos ocultos.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rPr/>
              <a:t>- Metricas: PSNR, SSIM y MAE.</a:t>
            </a:r>
            <a:r>
              <a:rPr lang="es-ES"/>
              <a:t> algunas sacadas de DIP otras buscadas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3658024" name="TextBox 1"/>
          <p:cNvSpPr txBox="1"/>
          <p:nvPr/>
        </p:nvSpPr>
        <p:spPr bwMode="auto"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Con que parametros se genero el mapa del continuo</a:t>
            </a:r>
            <a:endParaRPr/>
          </a:p>
        </p:txBody>
      </p:sp>
      <p:graphicFrame>
        <p:nvGraphicFramePr>
          <p:cNvPr id="1691883947" name="Table 2"/>
          <p:cNvGraphicFramePr>
            <a:graphicFrameLocks xmlns:a="http://schemas.openxmlformats.org/drawingml/2006/main" noGrp="1"/>
          </p:cNvGraphicFramePr>
          <p:nvPr/>
        </p:nvGraphicFramePr>
        <p:xfrm rot="0">
          <a:off x="548640" y="815974"/>
          <a:ext cx="5852160" cy="420623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926080"/>
                <a:gridCol w="2926080"/>
              </a:tblGrid>
              <a:tr h="565288">
                <a:tc>
                  <a:txBody>
                    <a:bodyPr/>
                    <a:p>
                      <a:pPr>
                        <a:defRPr sz="1200" b="1"/>
                      </a:pPr>
                      <a:r>
                        <a:rPr/>
                        <a:t>Script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generate_phase_diagram.py  (NUM_XI = NUM_ELL = 128)</a:t>
                      </a:r>
                      <a:endParaRPr/>
                    </a:p>
                  </a:txBody>
                  <a:tcPr/>
                </a:tc>
              </a:tr>
              <a:tr h="452230">
                <a:tc>
                  <a:txBody>
                    <a:bodyPr/>
                    <a:p>
                      <a:pPr>
                        <a:defRPr sz="1200" b="1"/>
                      </a:pPr>
                      <a:r>
                        <a:rPr/>
                        <a:t>Paquete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galpynostatic 0.5.13</a:t>
                      </a:r>
                      <a:endParaRPr/>
                    </a:p>
                  </a:txBody>
                  <a:tcPr/>
                </a:tc>
              </a:tr>
              <a:tr h="565288">
                <a:tc>
                  <a:txBody>
                    <a:bodyPr/>
                    <a:p>
                      <a:pPr>
                        <a:defRPr sz="1200" b="1"/>
                      </a:pPr>
                      <a:r>
                        <a:rPr/>
                        <a:t>Modelo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single-particle + Butler-Volmer, isoterma de Langmuir</a:t>
                      </a:r>
                      <a:endParaRPr/>
                    </a:p>
                  </a:txBody>
                  <a:tcPr/>
                </a:tc>
              </a:tr>
              <a:tr h="452230">
                <a:tc>
                  <a:txBody>
                    <a:bodyPr/>
                    <a:p>
                      <a:pPr>
                        <a:defRPr sz="1200" b="1"/>
                      </a:pPr>
                      <a:r>
                        <a:rPr/>
                        <a:t>vcut (phi_cut)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-0.15</a:t>
                      </a:r>
                      <a:endParaRPr/>
                    </a:p>
                  </a:txBody>
                  <a:tcPr/>
                </a:tc>
              </a:tr>
              <a:tr h="452230">
                <a:tc>
                  <a:txBody>
                    <a:bodyPr/>
                    <a:p>
                      <a:pPr>
                        <a:defRPr sz="1200" b="1"/>
                      </a:pPr>
                      <a:r>
                        <a:rPr/>
                        <a:t>g (interaccion)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0.0</a:t>
                      </a:r>
                      <a:endParaRPr/>
                    </a:p>
                  </a:txBody>
                  <a:tcPr/>
                </a:tc>
              </a:tr>
              <a:tr h="452230">
                <a:tc>
                  <a:txBody>
                    <a:bodyPr/>
                    <a:p>
                      <a:pPr>
                        <a:defRPr sz="1200" b="1"/>
                      </a:pPr>
                      <a:r>
                        <a:rPr/>
                        <a:t>Rango log(Xi)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-4.0  ...  2.0</a:t>
                      </a:r>
                      <a:endParaRPr/>
                    </a:p>
                  </a:txBody>
                  <a:tcPr/>
                </a:tc>
              </a:tr>
              <a:tr h="452230">
                <a:tc>
                  <a:txBody>
                    <a:bodyPr/>
                    <a:p>
                      <a:pPr>
                        <a:defRPr sz="1200" b="1"/>
                      </a:pPr>
                      <a:r>
                        <a:rPr/>
                        <a:t>Rango log(l)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-4.0  ...  2.0</a:t>
                      </a:r>
                      <a:endParaRPr/>
                    </a:p>
                  </a:txBody>
                  <a:tcPr/>
                </a:tc>
              </a:tr>
              <a:tr h="452230">
                <a:tc>
                  <a:txBody>
                    <a:bodyPr/>
                    <a:p>
                      <a:pPr>
                        <a:defRPr sz="1200" b="1"/>
                      </a:pPr>
                      <a:r>
                        <a:rPr/>
                        <a:t>Puntos de malla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128 x 128</a:t>
                      </a:r>
                      <a:endParaRPr/>
                    </a:p>
                  </a:txBody>
                  <a:tcPr/>
                </a:tc>
              </a:tr>
              <a:tr h="452230">
                <a:tc>
                  <a:txBody>
                    <a:bodyPr/>
                    <a:p>
                      <a:pPr>
                        <a:defRPr sz="1200" b="1"/>
                      </a:pPr>
                      <a:r>
                        <a:rPr/>
                        <a:t>grid_size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1000</a:t>
                      </a:r>
                      <a:endParaRPr/>
                    </a:p>
                  </a:txBody>
                  <a:tcPr/>
                </a:tc>
              </a:tr>
              <a:tr h="452230">
                <a:tc>
                  <a:txBody>
                    <a:bodyPr/>
                    <a:p>
                      <a:pPr>
                        <a:defRPr sz="1200" b="1"/>
                      </a:pPr>
                      <a:r>
                        <a:rPr/>
                        <a:t>time_steps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100000</a:t>
                      </a:r>
                      <a:endParaRPr/>
                    </a:p>
                  </a:txBody>
                  <a:tcPr/>
                </a:tc>
              </a:tr>
              <a:tr h="452230">
                <a:tc>
                  <a:txBody>
                    <a:bodyPr/>
                    <a:p>
                      <a:pPr>
                        <a:defRPr sz="1200" b="1"/>
                      </a:pPr>
                      <a:r>
                        <a:rPr/>
                        <a:t>nthreads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-1  (todos los nucleos)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93735561" name="Picture 3" descr="phase_diagram_reference_128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585477" y="1682749"/>
            <a:ext cx="4937760" cy="4114800"/>
          </a:xfrm>
          <a:prstGeom prst="rect">
            <a:avLst/>
          </a:prstGeom>
        </p:spPr>
      </p:pic>
      <p:sp>
        <p:nvSpPr>
          <p:cNvPr id="312510320" name="TextBox 4"/>
          <p:cNvSpPr txBox="1"/>
          <p:nvPr/>
        </p:nvSpPr>
        <p:spPr bwMode="auto">
          <a:xfrm>
            <a:off x="548640" y="5214618"/>
            <a:ext cx="10974597" cy="366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endParaRPr/>
          </a:p>
        </p:txBody>
      </p:sp>
      <p:sp>
        <p:nvSpPr>
          <p:cNvPr id="596922200" name=""/>
          <p:cNvSpPr txBox="1"/>
          <p:nvPr/>
        </p:nvSpPr>
        <p:spPr bwMode="auto">
          <a:xfrm rot="0" flipH="0" flipV="0">
            <a:off x="7700999" y="1316628"/>
            <a:ext cx="1355856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499"/>
              </a:spcAft>
              <a:defRPr/>
            </a:pPr>
            <a:r>
              <a:rPr lang="en-US" sz="1600" b="0" i="0" u="none" strike="noStrike" cap="none" spc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lo</a:t>
            </a:r>
            <a:r>
              <a:rPr lang="en-US" sz="1600" b="0" i="0" u="none" strike="noStrike" cap="none" spc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 simule </a:t>
            </a:r>
            <a:r>
              <a:rPr lang="es-ES" sz="1600" b="0" i="0" u="none" strike="noStrike" cap="none" spc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local</a:t>
            </a:r>
            <a:endParaRPr lang="en-US" sz="1600" b="0" i="0" u="none" strike="noStrike" cap="none" spc="0">
              <a:solidFill>
                <a:srgbClr val="404040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5724293" name="TextBox 1"/>
          <p:cNvSpPr txBox="1"/>
          <p:nvPr/>
        </p:nvSpPr>
        <p:spPr bwMode="auto"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B73"/>
                </a:solidFill>
              </a:defRPr>
            </a:pPr>
            <a:r>
              <a:rPr/>
              <a:t>Que es el MAE, el PSNR y el SSIM</a:t>
            </a:r>
            <a:endParaRPr/>
          </a:p>
        </p:txBody>
      </p:sp>
      <p:sp>
        <p:nvSpPr>
          <p:cNvPr id="2045129222" name="TextBox 2"/>
          <p:cNvSpPr txBox="1"/>
          <p:nvPr/>
        </p:nvSpPr>
        <p:spPr bwMode="auto">
          <a:xfrm>
            <a:off x="548640" y="1280160"/>
            <a:ext cx="11006279" cy="27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404040"/>
                </a:solidFill>
              </a:defRPr>
            </a:pPr>
            <a:r>
              <a:rPr sz="1600"/>
              <a:t>MAE (error absoluto medio): el error promedio de SoC, en las mismas unidades</a:t>
            </a:r>
            <a:endParaRPr sz="1600"/>
          </a:p>
          <a:p>
            <a:pPr lvl="1">
              <a:spcAft>
                <a:spcPts val="500"/>
              </a:spcAft>
              <a:defRPr sz="1300">
                <a:solidFill>
                  <a:srgbClr val="404040"/>
                </a:solidFill>
              </a:defRPr>
            </a:pPr>
            <a:r>
              <a:rPr sz="1600"/>
              <a:t>que el SoC. MAE = 0.001  -&gt;  se equivoca en promedio 0.1 puntos porcentuales.</a:t>
            </a:r>
            <a:endParaRPr sz="1600"/>
          </a:p>
          <a:p>
            <a:pPr>
              <a:spcAft>
                <a:spcPts val="500"/>
              </a:spcAft>
              <a:defRPr sz="1600">
                <a:solidFill>
                  <a:srgbClr val="404040"/>
                </a:solidFill>
              </a:defRPr>
            </a:pPr>
            <a:endParaRPr sz="1600"/>
          </a:p>
          <a:p>
            <a:pPr>
              <a:spcAft>
                <a:spcPts val="500"/>
              </a:spcAft>
              <a:defRPr sz="1600">
                <a:solidFill>
                  <a:srgbClr val="404040"/>
                </a:solidFill>
              </a:defRPr>
            </a:pPr>
            <a:r>
              <a:rPr sz="1600"/>
              <a:t>PSNR</a:t>
            </a:r>
            <a:r>
              <a:rPr lang="es-ES" sz="1600"/>
              <a:t> (</a:t>
            </a:r>
            <a:r>
              <a:rPr lang="es-ES" sz="1600" b="0" i="0" u="none" strike="noStrike" cap="none" spc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 Peak Signal-to-Noise Ratio</a:t>
            </a:r>
            <a:r>
              <a:rPr lang="es-ES" sz="1600"/>
              <a:t>)</a:t>
            </a:r>
            <a:r>
              <a:rPr sz="1600"/>
              <a:t> </a:t>
            </a:r>
            <a:r>
              <a:rPr lang="es-ES" sz="1600"/>
              <a:t>:</a:t>
            </a:r>
            <a:r>
              <a:rPr sz="1600"/>
              <a:t> el mismo error en escala logaritmica de</a:t>
            </a:r>
            <a:endParaRPr sz="1600"/>
          </a:p>
          <a:p>
            <a:pPr lvl="1">
              <a:spcAft>
                <a:spcPts val="500"/>
              </a:spcAft>
              <a:defRPr sz="1300">
                <a:solidFill>
                  <a:srgbClr val="404040"/>
                </a:solidFill>
              </a:defRPr>
            </a:pPr>
            <a:r>
              <a:rPr sz="1600"/>
              <a:t>decibeles. Mas alto = mejor. Arriba de 40 dB la diferencia es casi invisible.</a:t>
            </a:r>
            <a:r>
              <a:rPr lang="es-ES" sz="1600"/>
              <a:t> (le da mas bola a los puntos con diferencias graves)</a:t>
            </a:r>
            <a:endParaRPr sz="1600"/>
          </a:p>
          <a:p>
            <a:pPr>
              <a:spcAft>
                <a:spcPts val="500"/>
              </a:spcAft>
              <a:defRPr sz="1600">
                <a:solidFill>
                  <a:srgbClr val="404040"/>
                </a:solidFill>
              </a:defRPr>
            </a:pPr>
            <a:endParaRPr sz="1600"/>
          </a:p>
          <a:p>
            <a:pPr>
              <a:spcAft>
                <a:spcPts val="500"/>
              </a:spcAft>
              <a:defRPr sz="1600">
                <a:solidFill>
                  <a:srgbClr val="404040"/>
                </a:solidFill>
              </a:defRPr>
            </a:pPr>
            <a:r>
              <a:rPr sz="1600"/>
              <a:t>SSIM (</a:t>
            </a:r>
            <a:r>
              <a:rPr lang="en-US" sz="1600" b="0" i="0" u="none" strike="noStrike" cap="none" spc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 Structural Similarity Index</a:t>
            </a:r>
            <a:r>
              <a:rPr sz="1600"/>
              <a:t>): compara la ESTRUCTURA local (bordes, contraste,</a:t>
            </a:r>
            <a:endParaRPr sz="1600"/>
          </a:p>
          <a:p>
            <a:pPr lvl="1">
              <a:spcAft>
                <a:spcPts val="500"/>
              </a:spcAft>
              <a:defRPr sz="1300">
                <a:solidFill>
                  <a:srgbClr val="404040"/>
                </a:solidFill>
              </a:defRPr>
            </a:pPr>
            <a:r>
              <a:rPr sz="1600"/>
              <a:t>formas), no pixel por pixel. Va de 0 a 1; 1 = identico. Verifica que la</a:t>
            </a:r>
            <a:endParaRPr sz="1600"/>
          </a:p>
          <a:p>
            <a:pPr lvl="1">
              <a:spcAft>
                <a:spcPts val="500"/>
              </a:spcAft>
              <a:defRPr sz="1300">
                <a:solidFill>
                  <a:srgbClr val="404040"/>
                </a:solidFill>
              </a:defRPr>
            </a:pPr>
            <a:r>
              <a:rPr sz="1600"/>
              <a:t>frontera entre las mesetas quede en el lugar correcto.</a:t>
            </a:r>
            <a:endParaRPr/>
          </a:p>
        </p:txBody>
      </p:sp>
      <p:sp>
        <p:nvSpPr>
          <p:cNvPr id="2059698035" name="TextBox 3"/>
          <p:cNvSpPr txBox="1"/>
          <p:nvPr/>
        </p:nvSpPr>
        <p:spPr bwMode="auto">
          <a:xfrm flipH="0" flipV="0">
            <a:off x="548640" y="4187187"/>
            <a:ext cx="11260797" cy="2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404040"/>
                </a:solidFill>
              </a:defRPr>
            </a:pPr>
            <a:r>
              <a:rPr sz="1600"/>
              <a:t>De donde salio cada</a:t>
            </a:r>
            <a:r>
              <a:rPr lang="es-ES" sz="1600"/>
              <a:t> cosa</a:t>
            </a:r>
            <a:endParaRPr lang="es-ES" sz="1600"/>
          </a:p>
          <a:p>
            <a:pPr>
              <a:defRPr sz="1000" i="1">
                <a:solidFill>
                  <a:srgbClr val="404040"/>
                </a:solidFill>
              </a:defRPr>
            </a:pPr>
            <a:endParaRPr sz="1600"/>
          </a:p>
          <a:p>
            <a:pPr>
              <a:defRPr sz="1000" i="1">
                <a:solidFill>
                  <a:srgbClr val="404040"/>
                </a:solidFill>
              </a:defRPr>
            </a:pPr>
            <a:r>
              <a:rPr sz="1600"/>
              <a:t>- PSNR: </a:t>
            </a:r>
            <a:r>
              <a:rPr lang="es-ES" sz="1600"/>
              <a:t>sacado </a:t>
            </a:r>
            <a:r>
              <a:rPr sz="1600"/>
              <a:t>del paper de Deep Image Priors la unica metrica cuantitativa que usan (denoising, inpainting, super-resolucion).</a:t>
            </a:r>
            <a:endParaRPr sz="1600"/>
          </a:p>
          <a:p>
            <a:pPr>
              <a:defRPr sz="1000" i="1">
                <a:solidFill>
                  <a:srgbClr val="404040"/>
                </a:solidFill>
              </a:defRPr>
            </a:pPr>
            <a:endParaRPr sz="1600"/>
          </a:p>
          <a:p>
            <a:pPr>
              <a:defRPr sz="1000" i="1">
                <a:solidFill>
                  <a:srgbClr val="404040"/>
                </a:solidFill>
              </a:defRPr>
            </a:pPr>
            <a:r>
              <a:rPr sz="1600"/>
              <a:t>- SSIM: NO esta en el paper de DIP. Metrica estandar de calidad de imagen (</a:t>
            </a:r>
            <a:r>
              <a:rPr lang="es-ES" sz="1600"/>
              <a:t>el paper esta </a:t>
            </a:r>
            <a:r>
              <a:rPr lang="es-ES" sz="1600" b="0" i="1" u="none" strike="noStrike" cap="none" spc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image-quality-assessment.pdf</a:t>
            </a:r>
            <a:r>
              <a:rPr sz="1600"/>
              <a:t>); la agregamos porque el PSNR solo no distingue si el error cae sobre la frontera </a:t>
            </a:r>
            <a:r>
              <a:rPr lang="es-ES" sz="1600"/>
              <a:t>tambien ayuda a entender cuando un error es en un GRUPO de pixeles (hay un paper que critica este metodo... a revisar)</a:t>
            </a:r>
            <a:endParaRPr lang="es-ES" sz="1600"/>
          </a:p>
          <a:p>
            <a:pPr>
              <a:defRPr sz="1000" i="1">
                <a:solidFill>
                  <a:srgbClr val="404040"/>
                </a:solidFill>
              </a:defRPr>
            </a:pPr>
            <a:endParaRPr sz="1600"/>
          </a:p>
          <a:p>
            <a:pPr>
              <a:defRPr sz="1000" i="1">
                <a:solidFill>
                  <a:srgbClr val="404040"/>
                </a:solidFill>
              </a:defRPr>
            </a:pPr>
            <a:r>
              <a:rPr sz="1600"/>
              <a:t>- MAE: NO esta en el paper de DIP. Estadistica basica (np.abs(orig-rec).mean()); 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2302552" name="TextBox 1"/>
          <p:cNvSpPr txBox="1"/>
          <p:nvPr/>
        </p:nvSpPr>
        <p:spPr bwMode="auto"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Donde se calcula cada metrica (restorationGRIS.py)</a:t>
            </a:r>
            <a:endParaRPr/>
          </a:p>
        </p:txBody>
      </p:sp>
      <p:sp>
        <p:nvSpPr>
          <p:cNvPr id="576823255" name="TextBox 2"/>
          <p:cNvSpPr txBox="1"/>
          <p:nvPr/>
        </p:nvSpPr>
        <p:spPr bwMode="auto">
          <a:xfrm>
            <a:off x="640080" y="1280160"/>
            <a:ext cx="10972800" cy="3840480"/>
          </a:xfrm>
          <a:prstGeom prst="rect">
            <a:avLst/>
          </a:prstGeom>
          <a:solidFill>
            <a:srgbClr val="F3F3F3"/>
          </a:solidFill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04040"/>
                </a:solidFill>
                <a:latin typeface="Consolas"/>
              </a:defRPr>
            </a:pPr>
            <a:r>
              <a:rPr/>
              <a:t>from skimage.metrics import peak_signal_noise_ratio as compare_psnr</a:t>
            </a:r>
            <a:endParaRPr/>
          </a:p>
          <a:p>
            <a:pPr>
              <a:defRPr sz="1200">
                <a:solidFill>
                  <a:srgbClr val="404040"/>
                </a:solidFill>
                <a:latin typeface="Consolas"/>
              </a:defRPr>
            </a:pPr>
            <a:r>
              <a:rPr/>
              <a:t>from skimage.metrics import structural_similarity  as compare_ssim</a:t>
            </a:r>
            <a:endParaRPr/>
          </a:p>
          <a:p>
            <a:pPr>
              <a:defRPr sz="1200">
                <a:solidFill>
                  <a:srgbClr val="404040"/>
                </a:solidFill>
                <a:latin typeface="Consolas"/>
              </a:defRPr>
            </a:pPr>
            <a:endParaRPr/>
          </a:p>
          <a:p>
            <a:pPr>
              <a:defRPr sz="1200">
                <a:solidFill>
                  <a:srgbClr val="404040"/>
                </a:solidFill>
                <a:latin typeface="Consolas"/>
              </a:defRPr>
            </a:pPr>
            <a:r>
              <a:rPr/>
              <a:t># cada 100 iteraciones (mientras entrena)</a:t>
            </a:r>
            <a:endParaRPr/>
          </a:p>
          <a:p>
            <a:pPr>
              <a:defRPr sz="1200">
                <a:solidFill>
                  <a:srgbClr val="404040"/>
                </a:solidFill>
                <a:latin typeface="Consolas"/>
              </a:defRPr>
            </a:pPr>
            <a:r>
              <a:rPr/>
              <a:t>psrn        = compare_psnr(img_np, out_np)                    # PSNR</a:t>
            </a:r>
            <a:endParaRPr/>
          </a:p>
          <a:p>
            <a:pPr>
              <a:defRPr sz="1200">
                <a:solidFill>
                  <a:srgbClr val="404040"/>
                </a:solidFill>
                <a:latin typeface="Consolas"/>
              </a:defRPr>
            </a:pPr>
            <a:r>
              <a:rPr/>
              <a:t>psrn_masked = compare_psnr(img_masked, out_np * img_mask_np)  # PSNR (solo lo observado)</a:t>
            </a:r>
            <a:endParaRPr/>
          </a:p>
          <a:p>
            <a:pPr>
              <a:defRPr sz="1200">
                <a:solidFill>
                  <a:srgbClr val="404040"/>
                </a:solidFill>
                <a:latin typeface="Consolas"/>
              </a:defRPr>
            </a:pPr>
            <a:r>
              <a:rPr/>
              <a:t>ssim_full   = compare_ssim(img_np[0], out_clip[0], data_range=1.0)   # SSIM</a:t>
            </a:r>
            <a:endParaRPr/>
          </a:p>
          <a:p>
            <a:pPr>
              <a:defRPr sz="1200">
                <a:solidFill>
                  <a:srgbClr val="404040"/>
                </a:solidFill>
                <a:latin typeface="Consolas"/>
              </a:defRPr>
            </a:pPr>
            <a:endParaRPr/>
          </a:p>
          <a:p>
            <a:pPr>
              <a:defRPr sz="1200">
                <a:solidFill>
                  <a:srgbClr val="404040"/>
                </a:solidFill>
                <a:latin typeface="Consolas"/>
              </a:defRPr>
            </a:pPr>
            <a:r>
              <a:rPr/>
              <a:t># una vez, al terminar</a:t>
            </a:r>
            <a:endParaRPr/>
          </a:p>
          <a:p>
            <a:pPr>
              <a:defRPr sz="1200">
                <a:solidFill>
                  <a:srgbClr val="404040"/>
                </a:solidFill>
                <a:latin typeface="Consolas"/>
              </a:defRPr>
            </a:pPr>
            <a:r>
              <a:rPr/>
              <a:t>abs_err    = np.abs(img_np - out_np)      # mapa de error por pixel</a:t>
            </a:r>
            <a:endParaRPr/>
          </a:p>
          <a:p>
            <a:pPr>
              <a:defRPr sz="1200">
                <a:solidFill>
                  <a:srgbClr val="404040"/>
                </a:solidFill>
                <a:latin typeface="Consolas"/>
              </a:defRPr>
            </a:pPr>
            <a:r>
              <a:rPr/>
              <a:t>final_psnr = compare_psnr(img_np, out_np)</a:t>
            </a:r>
            <a:endParaRPr/>
          </a:p>
          <a:p>
            <a:pPr>
              <a:defRPr sz="1200">
                <a:solidFill>
                  <a:srgbClr val="404040"/>
                </a:solidFill>
                <a:latin typeface="Consolas"/>
              </a:defRPr>
            </a:pPr>
            <a:r>
              <a:rPr/>
              <a:t>final_ssim = compare_ssim(img_np[0], out_np[0], data_range=1.0)</a:t>
            </a:r>
            <a:endParaRPr/>
          </a:p>
          <a:p>
            <a:pPr>
              <a:defRPr sz="1200">
                <a:solidFill>
                  <a:srgbClr val="404040"/>
                </a:solidFill>
                <a:latin typeface="Consolas"/>
              </a:defRPr>
            </a:pPr>
            <a:r>
              <a:rPr/>
              <a:t>final_mae  = float(abs_err.mean())        # MAE = promedio del mapa</a:t>
            </a:r>
            <a:endParaRPr/>
          </a:p>
        </p:txBody>
      </p:sp>
      <p:sp>
        <p:nvSpPr>
          <p:cNvPr id="1031629845" name="TextBox 3"/>
          <p:cNvSpPr txBox="1"/>
          <p:nvPr/>
        </p:nvSpPr>
        <p:spPr bwMode="auto">
          <a:xfrm>
            <a:off x="640080" y="5303520"/>
            <a:ext cx="10973880" cy="808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404040"/>
                </a:solidFill>
              </a:defRPr>
            </a:pPr>
            <a:r>
              <a:rPr/>
              <a:t>- PSNR  -&gt;  funcion de scikit-image </a:t>
            </a:r>
            <a:endParaRPr/>
          </a:p>
          <a:p>
            <a:pPr>
              <a:spcAft>
                <a:spcPts val="300"/>
              </a:spcAft>
              <a:defRPr sz="1400">
                <a:solidFill>
                  <a:srgbClr val="404040"/>
                </a:solidFill>
              </a:defRPr>
            </a:pPr>
            <a:r>
              <a:rPr/>
              <a:t>- SSIM  -&gt;  funcion de scikit-image</a:t>
            </a:r>
            <a:endParaRPr/>
          </a:p>
          <a:p>
            <a:pPr>
              <a:spcAft>
                <a:spcPts val="300"/>
              </a:spcAft>
              <a:defRPr sz="1400">
                <a:solidFill>
                  <a:srgbClr val="404040"/>
                </a:solidFill>
              </a:defRPr>
            </a:pPr>
            <a:r>
              <a:rPr/>
              <a:t>- MAE   -&gt;  a mano con numpy: np.abs(orig - rec).mean()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7500701" name="TextBox 1"/>
          <p:cNvSpPr txBox="1"/>
          <p:nvPr/>
        </p:nvSpPr>
        <p:spPr bwMode="auto"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Como leer cada figura de resultado</a:t>
            </a:r>
            <a:endParaRPr/>
          </a:p>
        </p:txBody>
      </p:sp>
      <p:pic>
        <p:nvPicPr>
          <p:cNvPr id="2139388483" name="Picture 2" descr="comparison_annotat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88036" y="2194560"/>
            <a:ext cx="11612880" cy="3266122"/>
          </a:xfrm>
          <a:prstGeom prst="rect">
            <a:avLst/>
          </a:prstGeom>
        </p:spPr>
      </p:pic>
      <p:sp>
        <p:nvSpPr>
          <p:cNvPr id="812893882" name="TextBox 3"/>
          <p:cNvSpPr txBox="1"/>
          <p:nvPr/>
        </p:nvSpPr>
        <p:spPr bwMode="auto">
          <a:xfrm>
            <a:off x="5033834" y="917572"/>
            <a:ext cx="2127760" cy="8842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404040"/>
                </a:solidFill>
              </a:defRPr>
            </a:pPr>
            <a:r>
              <a:rPr/>
              <a:t>Original </a:t>
            </a:r>
            <a:br>
              <a:rPr/>
            </a:br>
            <a:r>
              <a:rPr/>
              <a:t> Enmascar</a:t>
            </a:r>
            <a:r>
              <a:rPr lang="es-ES"/>
              <a:t> osea</a:t>
            </a:r>
            <a:r>
              <a:rPr/>
              <a:t> lo que ve DIP  </a:t>
            </a:r>
            <a:br>
              <a:rPr/>
            </a:br>
            <a:r>
              <a:rPr/>
              <a:t>Reconstruida </a:t>
            </a:r>
            <a:br>
              <a:rPr/>
            </a:br>
            <a:r>
              <a:rPr/>
              <a:t> |error| mapa de calor</a:t>
            </a:r>
            <a:r>
              <a:rPr/>
              <a:t>.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2535143" name="TextBox 1"/>
          <p:cNvSpPr txBox="1"/>
          <p:nvPr/>
        </p:nvSpPr>
        <p:spPr bwMode="auto"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Reconstruccion 128x128  -  50 % de puntos ocultos</a:t>
            </a:r>
            <a:endParaRPr/>
          </a:p>
        </p:txBody>
      </p:sp>
      <p:pic>
        <p:nvPicPr>
          <p:cNvPr id="1335761023" name="Picture 2" descr="comparison_annotat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88036" y="2194560"/>
            <a:ext cx="11612880" cy="3266122"/>
          </a:xfrm>
          <a:prstGeom prst="rect">
            <a:avLst/>
          </a:prstGeom>
        </p:spPr>
      </p:pic>
      <p:sp>
        <p:nvSpPr>
          <p:cNvPr id="995912777" name="TextBox 3"/>
          <p:cNvSpPr txBox="1"/>
          <p:nvPr/>
        </p:nvSpPr>
        <p:spPr bwMode="auto">
          <a:xfrm>
            <a:off x="548640" y="61722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404040"/>
                </a:solidFill>
              </a:defRPr>
            </a:pPr>
            <a:r>
              <a:rPr/>
              <a:t>8192 puntos visibles de 16384    |    PSNR 55.7 dB    |    SSIM 0.9989    |    MAE 0.0009  (0.09 puntos porcentuales de SoC)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5290645" name="TextBox 1"/>
          <p:cNvSpPr txBox="1"/>
          <p:nvPr/>
        </p:nvSpPr>
        <p:spPr bwMode="auto"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Reconstruccion 128x128  -  70 % de puntos ocultos</a:t>
            </a:r>
            <a:endParaRPr/>
          </a:p>
        </p:txBody>
      </p:sp>
      <p:pic>
        <p:nvPicPr>
          <p:cNvPr id="1637537204" name="Picture 2" descr="comparison_annotat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88036" y="2194560"/>
            <a:ext cx="11612880" cy="3266122"/>
          </a:xfrm>
          <a:prstGeom prst="rect">
            <a:avLst/>
          </a:prstGeom>
        </p:spPr>
      </p:pic>
      <p:sp>
        <p:nvSpPr>
          <p:cNvPr id="54439245" name="TextBox 3"/>
          <p:cNvSpPr txBox="1"/>
          <p:nvPr/>
        </p:nvSpPr>
        <p:spPr bwMode="auto">
          <a:xfrm>
            <a:off x="548640" y="61722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404040"/>
                </a:solidFill>
              </a:defRPr>
            </a:pPr>
            <a:r>
              <a:rPr/>
              <a:t>4915 puntos visibles de 16384    |    PSNR 52.2 dB    |    SSIM 0.9968    |    MAE 0.0014  (0.14 puntos porcentuales de SoC)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0533576" name="TextBox 1"/>
          <p:cNvSpPr txBox="1"/>
          <p:nvPr/>
        </p:nvSpPr>
        <p:spPr bwMode="auto"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Reconstruccion 128x128  -  80 % de puntos ocultos</a:t>
            </a:r>
            <a:endParaRPr/>
          </a:p>
        </p:txBody>
      </p:sp>
      <p:pic>
        <p:nvPicPr>
          <p:cNvPr id="429992195" name="Picture 2" descr="comparison_annotat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88036" y="2194560"/>
            <a:ext cx="11612880" cy="3266122"/>
          </a:xfrm>
          <a:prstGeom prst="rect">
            <a:avLst/>
          </a:prstGeom>
        </p:spPr>
      </p:pic>
      <p:sp>
        <p:nvSpPr>
          <p:cNvPr id="1213891623" name="TextBox 3"/>
          <p:cNvSpPr txBox="1"/>
          <p:nvPr/>
        </p:nvSpPr>
        <p:spPr bwMode="auto">
          <a:xfrm>
            <a:off x="548640" y="61722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404040"/>
                </a:solidFill>
              </a:defRPr>
            </a:pPr>
            <a:r>
              <a:rPr/>
              <a:t>3277 puntos visibles de 16384    |    PSNR 54.4 dB    |    SSIM 0.9990    |    MAE 0.0010  (0.10 puntos porcentuales de SoC)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9784093" name="TextBox 1"/>
          <p:cNvSpPr txBox="1"/>
          <p:nvPr/>
        </p:nvSpPr>
        <p:spPr bwMode="auto"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Reconstruccion 128x128  -  90 % de puntos ocultos</a:t>
            </a:r>
            <a:endParaRPr/>
          </a:p>
        </p:txBody>
      </p:sp>
      <p:pic>
        <p:nvPicPr>
          <p:cNvPr id="1217530077" name="Picture 2" descr="comparison_annotat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88036" y="2194560"/>
            <a:ext cx="11612880" cy="3266122"/>
          </a:xfrm>
          <a:prstGeom prst="rect">
            <a:avLst/>
          </a:prstGeom>
        </p:spPr>
      </p:pic>
      <p:sp>
        <p:nvSpPr>
          <p:cNvPr id="670889797" name="TextBox 3"/>
          <p:cNvSpPr txBox="1"/>
          <p:nvPr/>
        </p:nvSpPr>
        <p:spPr bwMode="auto">
          <a:xfrm>
            <a:off x="548640" y="61722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404040"/>
                </a:solidFill>
              </a:defRPr>
            </a:pPr>
            <a:r>
              <a:rPr/>
              <a:t>1638 puntos visibles de 16384    |    PSNR 52.1 dB    |    SSIM 0.9985    |    MAE 0.0011  (0.11 puntos porcentuales de SoC)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3580711" name="TextBox 1"/>
          <p:cNvSpPr txBox="1"/>
          <p:nvPr/>
        </p:nvSpPr>
        <p:spPr bwMode="auto"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Reconstruccion 128x128  -  95 % de puntos ocultos</a:t>
            </a:r>
            <a:endParaRPr/>
          </a:p>
        </p:txBody>
      </p:sp>
      <p:pic>
        <p:nvPicPr>
          <p:cNvPr id="761144595" name="Picture 2" descr="comparison_annotat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88036" y="2194560"/>
            <a:ext cx="11612880" cy="3266122"/>
          </a:xfrm>
          <a:prstGeom prst="rect">
            <a:avLst/>
          </a:prstGeom>
        </p:spPr>
      </p:pic>
      <p:sp>
        <p:nvSpPr>
          <p:cNvPr id="71010632" name="TextBox 3"/>
          <p:cNvSpPr txBox="1"/>
          <p:nvPr/>
        </p:nvSpPr>
        <p:spPr bwMode="auto">
          <a:xfrm>
            <a:off x="548640" y="61722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404040"/>
                </a:solidFill>
              </a:defRPr>
            </a:pPr>
            <a:r>
              <a:rPr/>
              <a:t>819 puntos visibles de 16384    |    PSNR 44.8 dB    |    SSIM 0.9962    |    MAE 0.0015  (0.15 puntos porcentuales de SoC)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7921740" name="TextBox 1"/>
          <p:cNvSpPr txBox="1"/>
          <p:nvPr/>
        </p:nvSpPr>
        <p:spPr bwMode="auto"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Reconstruccion 128x128  -  98 % de puntos ocultos</a:t>
            </a:r>
            <a:endParaRPr/>
          </a:p>
        </p:txBody>
      </p:sp>
      <p:pic>
        <p:nvPicPr>
          <p:cNvPr id="1808627293" name="Picture 2" descr="comparison_annotat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88036" y="2194560"/>
            <a:ext cx="11612880" cy="3266122"/>
          </a:xfrm>
          <a:prstGeom prst="rect">
            <a:avLst/>
          </a:prstGeom>
        </p:spPr>
      </p:pic>
      <p:sp>
        <p:nvSpPr>
          <p:cNvPr id="1026771595" name="TextBox 3"/>
          <p:cNvSpPr txBox="1"/>
          <p:nvPr/>
        </p:nvSpPr>
        <p:spPr bwMode="auto">
          <a:xfrm>
            <a:off x="548640" y="61722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404040"/>
                </a:solidFill>
              </a:defRPr>
            </a:pPr>
            <a:r>
              <a:rPr/>
              <a:t>328 puntos visibles de 16384    |    PSNR 38.9 dB    |    SSIM 0.9884    |    MAE 0.0028  (0.28 puntos porcentuales de SoC)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2620152" name="TextBox 1"/>
          <p:cNvSpPr txBox="1"/>
          <p:nvPr/>
        </p:nvSpPr>
        <p:spPr bwMode="auto"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Reconstruccion 128x128  -  99 % de puntos ocultos</a:t>
            </a:r>
            <a:endParaRPr/>
          </a:p>
        </p:txBody>
      </p:sp>
      <p:pic>
        <p:nvPicPr>
          <p:cNvPr id="1578873661" name="Picture 2" descr="comparison_annotat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88036" y="2194560"/>
            <a:ext cx="11612880" cy="3266122"/>
          </a:xfrm>
          <a:prstGeom prst="rect">
            <a:avLst/>
          </a:prstGeom>
        </p:spPr>
      </p:pic>
      <p:sp>
        <p:nvSpPr>
          <p:cNvPr id="1786696246" name="TextBox 3"/>
          <p:cNvSpPr txBox="1"/>
          <p:nvPr/>
        </p:nvSpPr>
        <p:spPr bwMode="auto">
          <a:xfrm>
            <a:off x="548640" y="61722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404040"/>
                </a:solidFill>
              </a:defRPr>
            </a:pPr>
            <a:r>
              <a:rPr/>
              <a:t>164 puntos visibles de 16384    |    PSNR 33.3 dB    |    SSIM 0.9628    |    MAE 0.0067  (0.67 puntos porcentuales de SoC)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8004228" name="TextBox 1"/>
          <p:cNvSpPr txBox="1"/>
          <p:nvPr/>
        </p:nvSpPr>
        <p:spPr bwMode="auto">
          <a:xfrm>
            <a:off x="-33774" y="177165"/>
            <a:ext cx="12240495" cy="488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Resumen numerico  -  barrido 128x128</a:t>
            </a:r>
            <a:r>
              <a:rPr lang="es-ES"/>
              <a:t> (importante mirar la columna de puntos visibles)</a:t>
            </a:r>
            <a:endParaRPr/>
          </a:p>
        </p:txBody>
      </p:sp>
      <p:graphicFrame>
        <p:nvGraphicFramePr>
          <p:cNvPr id="2069467221" name="Table 2"/>
          <p:cNvGraphicFramePr>
            <a:graphicFrameLocks xmlns:a="http://schemas.openxmlformats.org/drawingml/2006/main" noGrp="1"/>
          </p:cNvGraphicFramePr>
          <p:nvPr/>
        </p:nvGraphicFramePr>
        <p:xfrm rot="0">
          <a:off x="1463040" y="1463040"/>
          <a:ext cx="9144000" cy="3072384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</a:tblGrid>
              <a:tr h="456089">
                <a:tc>
                  <a:txBody>
                    <a:bodyPr/>
                    <a:p>
                      <a:pPr>
                        <a:defRPr sz="1400" b="1"/>
                      </a:pPr>
                      <a:r>
                        <a:rPr/>
                        <a:t>% oculto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400" b="1"/>
                      </a:pPr>
                      <a:r>
                        <a:rPr/>
                        <a:t>puntos visibles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400" b="1"/>
                      </a:pPr>
                      <a:r>
                        <a:rPr/>
                        <a:t>PSNR [dB]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400" b="1"/>
                      </a:pPr>
                      <a:r>
                        <a:rPr/>
                        <a:t>SSIM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400" b="1"/>
                      </a:pPr>
                      <a:r>
                        <a:rPr/>
                        <a:t>MAE [SoC]</a:t>
                      </a:r>
                      <a:endParaRPr/>
                    </a:p>
                  </a:txBody>
                  <a:tcPr/>
                </a:tc>
              </a:tr>
              <a:tr h="456089">
                <a:tc>
                  <a:txBody>
                    <a:bodyPr/>
                    <a:p>
                      <a:pPr>
                        <a:defRPr sz="1300"/>
                      </a:pPr>
                      <a:r>
                        <a:rPr/>
                        <a:t>50%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/>
                      </a:pPr>
                      <a:r>
                        <a:rPr/>
                        <a:t>8192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/>
                      </a:pPr>
                      <a:r>
                        <a:rPr/>
                        <a:t>55.7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/>
                      </a:pPr>
                      <a:r>
                        <a:rPr/>
                        <a:t>0.9989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/>
                      </a:pPr>
                      <a:r>
                        <a:rPr/>
                        <a:t>0.0009</a:t>
                      </a:r>
                      <a:endParaRPr/>
                    </a:p>
                  </a:txBody>
                  <a:tcPr/>
                </a:tc>
              </a:tr>
              <a:tr h="456089">
                <a:tc>
                  <a:txBody>
                    <a:bodyPr/>
                    <a:p>
                      <a:pPr>
                        <a:defRPr sz="1300"/>
                      </a:pPr>
                      <a:r>
                        <a:rPr/>
                        <a:t>70%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/>
                      </a:pPr>
                      <a:r>
                        <a:rPr/>
                        <a:t>4915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/>
                      </a:pPr>
                      <a:r>
                        <a:rPr/>
                        <a:t>52.2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/>
                      </a:pPr>
                      <a:r>
                        <a:rPr/>
                        <a:t>0.9968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/>
                      </a:pPr>
                      <a:r>
                        <a:rPr/>
                        <a:t>0.0014</a:t>
                      </a:r>
                      <a:endParaRPr/>
                    </a:p>
                  </a:txBody>
                  <a:tcPr/>
                </a:tc>
              </a:tr>
              <a:tr h="456089">
                <a:tc>
                  <a:txBody>
                    <a:bodyPr/>
                    <a:p>
                      <a:pPr>
                        <a:defRPr sz="1300"/>
                      </a:pPr>
                      <a:r>
                        <a:rPr/>
                        <a:t>80%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/>
                      </a:pPr>
                      <a:r>
                        <a:rPr/>
                        <a:t>3277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/>
                      </a:pPr>
                      <a:r>
                        <a:rPr/>
                        <a:t>54.4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/>
                      </a:pPr>
                      <a:r>
                        <a:rPr/>
                        <a:t>0.9990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/>
                      </a:pPr>
                      <a:r>
                        <a:rPr/>
                        <a:t>0.0010</a:t>
                      </a:r>
                      <a:endParaRPr/>
                    </a:p>
                  </a:txBody>
                  <a:tcPr/>
                </a:tc>
              </a:tr>
              <a:tr h="456089">
                <a:tc>
                  <a:txBody>
                    <a:bodyPr/>
                    <a:p>
                      <a:pPr>
                        <a:defRPr sz="1300"/>
                      </a:pPr>
                      <a:r>
                        <a:rPr/>
                        <a:t>90%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/>
                      </a:pPr>
                      <a:r>
                        <a:rPr/>
                        <a:t>1638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/>
                      </a:pPr>
                      <a:r>
                        <a:rPr/>
                        <a:t>52.1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/>
                      </a:pPr>
                      <a:r>
                        <a:rPr/>
                        <a:t>0.9985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/>
                      </a:pPr>
                      <a:r>
                        <a:rPr/>
                        <a:t>0.0011</a:t>
                      </a:r>
                      <a:endParaRPr/>
                    </a:p>
                  </a:txBody>
                  <a:tcPr/>
                </a:tc>
              </a:tr>
              <a:tr h="456089">
                <a:tc>
                  <a:txBody>
                    <a:bodyPr/>
                    <a:p>
                      <a:pPr>
                        <a:defRPr sz="1300"/>
                      </a:pPr>
                      <a:r>
                        <a:rPr/>
                        <a:t>95%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/>
                      </a:pPr>
                      <a:r>
                        <a:rPr/>
                        <a:t>819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/>
                      </a:pPr>
                      <a:r>
                        <a:rPr/>
                        <a:t>44.8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/>
                      </a:pPr>
                      <a:r>
                        <a:rPr/>
                        <a:t>0.9962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/>
                      </a:pPr>
                      <a:r>
                        <a:rPr/>
                        <a:t>0.0015</a:t>
                      </a:r>
                      <a:endParaRPr/>
                    </a:p>
                  </a:txBody>
                  <a:tcPr/>
                </a:tc>
              </a:tr>
              <a:tr h="456089">
                <a:tc>
                  <a:txBody>
                    <a:bodyPr/>
                    <a:p>
                      <a:pPr>
                        <a:defRPr sz="1300"/>
                      </a:pPr>
                      <a:r>
                        <a:rPr/>
                        <a:t>98%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/>
                      </a:pPr>
                      <a:r>
                        <a:rPr/>
                        <a:t>328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/>
                      </a:pPr>
                      <a:r>
                        <a:rPr/>
                        <a:t>38.9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/>
                      </a:pPr>
                      <a:r>
                        <a:rPr/>
                        <a:t>0.9884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/>
                      </a:pPr>
                      <a:r>
                        <a:rPr/>
                        <a:t>0.0028</a:t>
                      </a:r>
                      <a:endParaRPr/>
                    </a:p>
                  </a:txBody>
                  <a:tcPr/>
                </a:tc>
              </a:tr>
              <a:tr h="456089">
                <a:tc>
                  <a:txBody>
                    <a:bodyPr/>
                    <a:p>
                      <a:pPr>
                        <a:defRPr sz="1300"/>
                      </a:pPr>
                      <a:r>
                        <a:rPr/>
                        <a:t>99%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/>
                      </a:pPr>
                      <a:r>
                        <a:rPr/>
                        <a:t>164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/>
                      </a:pPr>
                      <a:r>
                        <a:rPr/>
                        <a:t>33.3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/>
                      </a:pPr>
                      <a:r>
                        <a:rPr/>
                        <a:t>0.9628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/>
                      </a:pPr>
                      <a:r>
                        <a:rPr/>
                        <a:t>0.0067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7611413" name="TextBox 1"/>
          <p:cNvSpPr txBox="1"/>
          <p:nvPr/>
        </p:nvSpPr>
        <p:spPr bwMode="auto">
          <a:xfrm>
            <a:off x="548640" y="320040"/>
            <a:ext cx="11182983" cy="8842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Fidelidad vs % de puntos ocultos</a:t>
            </a:r>
            <a:r>
              <a:rPr lang="es-ES"/>
              <a:t> (primero lo hice con el 64x64 desp probe con el</a:t>
            </a:r>
            <a:br>
              <a:rPr lang="es-ES"/>
            </a:br>
            <a:r>
              <a:rPr lang="es-ES"/>
              <a:t>de 128x128 y son muy parecidos obvio mas resolucion -&gt; mejor reconstruccion)</a:t>
            </a:r>
            <a:endParaRPr/>
          </a:p>
        </p:txBody>
      </p:sp>
      <p:pic>
        <p:nvPicPr>
          <p:cNvPr id="1661292007" name="Picture 2" descr="sweep_summary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96595" y="2194560"/>
            <a:ext cx="11795760" cy="3629465"/>
          </a:xfrm>
          <a:prstGeom prst="rect">
            <a:avLst/>
          </a:prstGeom>
        </p:spPr>
      </p:pic>
      <p:sp>
        <p:nvSpPr>
          <p:cNvPr id="1162672939" name="TextBox 3"/>
          <p:cNvSpPr txBox="1"/>
          <p:nvPr/>
        </p:nvSpPr>
        <p:spPr bwMode="auto">
          <a:xfrm>
            <a:off x="5989122" y="6172200"/>
            <a:ext cx="183636" cy="289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404040"/>
                </a:solidFill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9420438" name="TextBox 1"/>
          <p:cNvSpPr txBox="1"/>
          <p:nvPr/>
        </p:nvSpPr>
        <p:spPr bwMode="auto">
          <a:xfrm>
            <a:off x="548640" y="320040"/>
            <a:ext cx="4708793" cy="518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B73"/>
                </a:solidFill>
              </a:defRPr>
            </a:pPr>
            <a:r>
              <a:rPr/>
              <a:t>Cuantos puntos hacen falta</a:t>
            </a:r>
            <a:r>
              <a:rPr lang="es-ES"/>
              <a:t>???</a:t>
            </a:r>
            <a:endParaRPr/>
          </a:p>
        </p:txBody>
      </p:sp>
      <p:sp>
        <p:nvSpPr>
          <p:cNvPr id="1484766957" name="TextBox 2"/>
          <p:cNvSpPr txBox="1"/>
          <p:nvPr/>
        </p:nvSpPr>
        <p:spPr bwMode="auto">
          <a:xfrm>
            <a:off x="548640" y="1280160"/>
            <a:ext cx="11296436" cy="5920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404040"/>
                </a:solidFill>
              </a:defRPr>
            </a:pPr>
            <a:r>
              <a:rPr lang="es-ES"/>
              <a:t>Con</a:t>
            </a:r>
            <a:r>
              <a:rPr/>
              <a:t>  ~5 % de los pixeles visibles:</a:t>
            </a:r>
            <a:endParaRPr/>
          </a:p>
          <a:p>
            <a:pPr lvl="1">
              <a:spcAft>
                <a:spcPts val="500"/>
              </a:spcAft>
              <a:defRPr sz="1500">
                <a:solidFill>
                  <a:srgbClr val="404040"/>
                </a:solidFill>
              </a:defRPr>
            </a:pPr>
            <a:r>
              <a:rPr/>
              <a:t>~200 puntos a 64x64,  ~800 a 128x128.  SSIM &gt; 0.996, MAE &lt; 0.15 pp.</a:t>
            </a:r>
            <a:r>
              <a:rPr lang="es-ES"/>
              <a:t> </a:t>
            </a:r>
            <a:endParaRPr lang="es-ES"/>
          </a:p>
          <a:p>
            <a:pPr lvl="1">
              <a:spcAft>
                <a:spcPts val="499"/>
              </a:spcAft>
              <a:defRPr sz="1500">
                <a:solidFill>
                  <a:srgbClr val="404040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800">
                <a:solidFill>
                  <a:srgbClr val="404040"/>
                </a:solidFill>
              </a:defRPr>
            </a:pPr>
            <a:r>
              <a:rPr lang="es-ES"/>
              <a:t>Con </a:t>
            </a:r>
            <a:r>
              <a:rPr/>
              <a:t>~2 %</a:t>
            </a:r>
            <a:r>
              <a:rPr lang="es-ES"/>
              <a:t> </a:t>
            </a:r>
            <a:r>
              <a:rPr/>
              <a:t>:  ~80 puntos a 64x64, ~330 a 128x128</a:t>
            </a:r>
            <a:r>
              <a:rPr lang="es-ES"/>
              <a:t> (SON MUCHOS?)</a:t>
            </a:r>
            <a:endParaRPr/>
          </a:p>
          <a:p>
            <a:pPr lvl="1">
              <a:spcAft>
                <a:spcPts val="500"/>
              </a:spcAft>
              <a:defRPr sz="1500">
                <a:solidFill>
                  <a:srgbClr val="404040"/>
                </a:solidFill>
              </a:defRPr>
            </a:pPr>
            <a:r>
              <a:rPr/>
              <a:t>la frontera de transicion </a:t>
            </a:r>
            <a:r>
              <a:rPr lang="es-ES"/>
              <a:t>de 0 a 1 se distorciona </a:t>
            </a:r>
            <a:endParaRPr lang="es-ES"/>
          </a:p>
          <a:p>
            <a:pPr lvl="1">
              <a:spcAft>
                <a:spcPts val="499"/>
              </a:spcAft>
              <a:defRPr sz="1500">
                <a:solidFill>
                  <a:srgbClr val="404040"/>
                </a:solidFill>
              </a:defRPr>
            </a:pPr>
            <a:endParaRPr/>
          </a:p>
          <a:p>
            <a:pPr lvl="1">
              <a:spcAft>
                <a:spcPts val="499"/>
              </a:spcAft>
              <a:defRPr sz="1500">
                <a:solidFill>
                  <a:srgbClr val="404040"/>
                </a:solidFill>
              </a:defRPr>
            </a:pPr>
            <a:endParaRPr/>
          </a:p>
          <a:p>
            <a:pPr>
              <a:spcAft>
                <a:spcPts val="499"/>
              </a:spcAft>
              <a:defRPr>
                <a:solidFill>
                  <a:srgbClr val="404040"/>
                </a:solidFill>
              </a:defRPr>
            </a:pPr>
            <a:r>
              <a:rPr lang="es-ES"/>
              <a:t>Y p</a:t>
            </a:r>
            <a:r>
              <a:rPr/>
              <a:t>or debajo de ~1 %  (~40-160 puntos):  se rompe </a:t>
            </a:r>
            <a:r>
              <a:rPr lang="es-ES"/>
              <a:t>a simple vista</a:t>
            </a:r>
            <a:br>
              <a:rPr/>
            </a:br>
            <a:br>
              <a:rPr/>
            </a:br>
            <a:br>
              <a:rPr/>
            </a:br>
            <a:r>
              <a:rPr lang="es-ES"/>
              <a:t>Si se busca optimizar mas se puede intentar una reconstruccion DIP con una mascara (futura simulacion de kmc) centralizada en la frontera.</a:t>
            </a:r>
            <a:br>
              <a:rPr lang="es-ES"/>
            </a:br>
            <a:r>
              <a:rPr lang="es-ES"/>
              <a:t>Esto se hace remplazando la mascara con distribucion bernulli a una centralizada en la frontera.</a:t>
            </a:r>
            <a:br>
              <a:rPr/>
            </a:br>
            <a:r>
              <a:rPr lang="es-ES"/>
              <a:t>TO DO LIST:</a:t>
            </a:r>
            <a:br>
              <a:rPr lang="es-ES"/>
            </a:br>
            <a:r>
              <a:rPr lang="es-ES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pruebas con puntos en la frontera y sin puntos en ella</a:t>
            </a:r>
            <a:br>
              <a:rPr lang="es-ES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s-ES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refactorizar codigo</a:t>
            </a:r>
            <a:endParaRPr sz="1800"/>
          </a:p>
          <a:p>
            <a:pPr>
              <a:spcAft>
                <a:spcPts val="499"/>
              </a:spcAft>
              <a:defRPr>
                <a:solidFill>
                  <a:srgbClr val="404040"/>
                </a:solidFill>
              </a:defRPr>
            </a:pPr>
            <a:r>
              <a:rPr lang="es-ES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98 99 9</a:t>
            </a:r>
            <a:r>
              <a:rPr lang="es-ES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9.5 99.7 99.8 99.9</a:t>
            </a:r>
            <a:br>
              <a:rPr lang="en-US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s-ES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error en funcion de la iteracion para saber en que momento cortar</a:t>
            </a:r>
            <a:br>
              <a:rPr lang="es-ES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s-ES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probar para varios g los mas conflictivos son los negativos</a:t>
            </a:r>
            <a:endParaRPr sz="1800"/>
          </a:p>
          <a:p>
            <a:pPr>
              <a:spcAft>
                <a:spcPts val="499"/>
              </a:spcAft>
              <a:defRPr sz="1800">
                <a:solidFill>
                  <a:srgbClr val="404040"/>
                </a:solidFill>
              </a:defRPr>
            </a:pPr>
            <a:endParaRPr lang="es-E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15</Slides>
  <Notes>15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8</cp:revision>
  <dcterms:created xsi:type="dcterms:W3CDTF">2013-01-27T09:14:16Z</dcterms:created>
  <dcterms:modified xsi:type="dcterms:W3CDTF">2026-09-02T18:45:14Z</dcterms:modified>
  <cp:category/>
</cp:coreProperties>
</file>