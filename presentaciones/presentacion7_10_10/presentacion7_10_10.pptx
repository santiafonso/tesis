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g tiene su loop: grilla de 30 puntos, bisección sobre el borde y relleno donde más falta. Termina cuando</a:t>
            </a:r>
          </a:p>
          <a:p>
            <a:r>
              <a:t>el planificador no pide más (no exactamente en 96). Las cotas son corridas que no terminan en el tiempo del</a:t>
            </a:r>
          </a:p>
          <a:p>
            <a:r>
              <a:t>cluster (log ℓ ≈ −3.5 tarda días): no son el valor, son un mínimo.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Blancos: puntos medidos; círculos rojos: cotas. Lo que muestra la resta (abajo) es la diferencia entre el KMC</a:t>
            </a:r>
          </a:p>
          <a:p>
            <a:r>
              <a:t>y el modelo del continuo, no error de la reconstrucción (el error se mide con el control).</a:t>
            </a:r>
          </a:p>
          <a:p>
            <a:r>
              <a:t>Dos diferencias sistemáticas: (1) el acantilado del KMC está corrido hacia Ξ más bajo (banda roja);</a:t>
            </a:r>
          </a:p>
          <a:p>
            <a:r>
              <a:t>(2) la caída de SoC en log ℓ ≈ −1 a 0 pasa antes (banda azul). Y la franja de log Ξ ≈ 2 con SoC ≈ 0 en g = −8.</a:t>
            </a:r>
          </a:p>
          <a:p>
            <a:r>
              <a:t>En g = −5 los huecos azules arriba a la izquierda son corridas que dan SoC ≈ 0 (la anomalía de Ξ alto).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 = −2 terminó el 10/10 a la mañana; g = +4 a la madrugada. Los dos con 32 puntos de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control se elige después de reconstruir y se corre con KMC; no entra en la reconstrucción. 3/4 de los</a:t>
            </a:r>
          </a:p>
          <a:p>
            <a:r>
              <a:t>puntos se sortean con peso en |reconstrucción − continuo| + |gradiente|: el frente y lo que más se aparta</a:t>
            </a:r>
          </a:p>
          <a:p>
            <a:r>
              <a:t>del continuo. El RMS de esos es pesimista por diseño; el de los al azar dice cómo está el resto del mapa.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críticos (rojo) caen sobre el acantilado y en la franja de log ℓ ≈ 0, los al azar (naranja) casi todos</a:t>
            </a:r>
          </a:p>
          <a:p>
            <a:r>
              <a:t>en la zona de SoC 0. Los dos puntos más errados: SoC 0.08-0.10 en el KMC, ~0.19 en el mapa: pie del acantilado.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 = −4 y g = +3 son los que primero se cerraron con 64 puntos; ahora van a 96. Los huecos azules arriba a la</a:t>
            </a:r>
          </a:p>
          <a:p>
            <a:r>
              <a:t>izquierda en g = −1 y g = +3 son corridas de KMC que dan SoC ≈ 0 en la zona de Ξ alto (la anomalía); con el</a:t>
            </a:r>
          </a:p>
          <a:p>
            <a:r>
              <a:t>relleno nuevo no se mandan más puntos ahí.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Pedido de la reunión del 5/10. Las corridas que quedan terminan esta noche (01:00): la mayoría va a salir como</a:t>
            </a:r>
          </a:p>
          <a:p>
            <a:r>
              <a:t>cota. Con checkpoint (filmina siguiente) se podrían terminar las columnas de log ℓ &lt; −3.</a:t>
            </a:r>
          </a:p>
          <a:p>
            <a:r>
              <a:t>Esta imagen sirve de control denso para la reconstrucción de 96 puntos de g = −4 cuando termine.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Hipótesis física (sin verificar): con interacción repulsiva el potencial sube fuerte cerca de la red llena y</a:t>
            </a:r>
          </a:p>
          <a:p>
            <a:r>
              <a:t>toca el corte antes. Las corridas sin tope de la filmina siguiente lo deciden.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probó local: misma semilla, una corrida entera y otra cortada dos veces y retomada: los datos de salida</a:t>
            </a:r>
          </a:p>
          <a:p>
            <a:r>
              <a:t>tienen el mismo md5 que los del binario original. Sin activar el checkpoint, el KMC es el de siempre.</a:t>
            </a:r>
          </a:p>
          <a:p>
            <a:r>
              <a:t>El último punto ya está medido (0.859): se repite para ver la dispersión con el mismo procedimiento.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Próximos pasos y las tres preguntas para los profes.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F3B73"/>
                </a:solidFill>
                <a:latin typeface="Calibri"/>
              </a:rPr>
              <a:t>Reconstrucción del diagrama de fases con KMC: avance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404040"/>
                </a:solidFill>
                <a:latin typeface="Calibri"/>
              </a:rPr>
              <a:t>13 valores de g (−8 a 4), ~96 puntos de KMC por g, control con puntos no usados  ·  10/10  ·  Santiago Afonso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3B73"/>
                </a:solidFill>
                <a:latin typeface="Calibri"/>
              </a:rPr>
              <a:t>Dónde está cada 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404040"/>
                </a:solidFill>
                <a:latin typeface="Calibri"/>
              </a:rPr>
              <a:t>puntos de KMC por g · el loop decide solo dónde medir</a:t>
            </a:r>
          </a:p>
        </p:txBody>
      </p:sp>
      <p:pic>
        <p:nvPicPr>
          <p:cNvPr id="4" name="Picture 3" descr="estado_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64208"/>
            <a:ext cx="7863840" cy="47183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49640" y="1645920"/>
            <a:ext cx="301752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B73"/>
                </a:solidFill>
                <a:latin typeface="Calibri"/>
              </a:rPr>
              <a:t>Resumen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Terminados (mapa final + control): g = -8, g = -7, g = -6, g = -2, g = +4.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g = −5: mapa listo, control corriendo.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Los otros 7 siguen eligiendo puntos: tandas de 3-4 en el borde.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Cotas: corridas cortadas por tiempo (log ℓ bajo); se usan como "vale al menos esto".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3B73"/>
                </a:solidFill>
                <a:latin typeface="Calibri"/>
              </a:rPr>
              <a:t>Mapas finales: g = −8 a −5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404040"/>
                </a:solidFill>
                <a:latin typeface="Calibri"/>
              </a:rPr>
              <a:t>arriba KMC (TPS + DIP) con sus puntos · medio el continuo, solo referencia · abajo la diferencia</a:t>
            </a:r>
          </a:p>
        </p:txBody>
      </p:sp>
      <p:pic>
        <p:nvPicPr>
          <p:cNvPr id="4" name="Picture 3" descr="finales_neg_5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695" y="1371600"/>
            <a:ext cx="7890129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3B73"/>
                </a:solidFill>
                <a:latin typeface="Calibri"/>
              </a:rPr>
              <a:t>Mapas finales: g = −2 y g = +4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404040"/>
                </a:solidFill>
                <a:latin typeface="Calibri"/>
              </a:rPr>
              <a:t>mismo formato: KMC · continuo (referencia) · diferencia</a:t>
            </a:r>
          </a:p>
        </p:txBody>
      </p:sp>
      <p:pic>
        <p:nvPicPr>
          <p:cNvPr id="4" name="Picture 3" descr="finales_res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134" y="1325880"/>
            <a:ext cx="4248531" cy="5394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92240" y="1645920"/>
            <a:ext cx="507492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B73"/>
                </a:solidFill>
                <a:latin typeface="Calibri"/>
              </a:rPr>
              <a:t>Qué se ve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g = −2: muy parecido al continuo; el acantilado del KMC un poco más abajo en Ξ (banda roja fina).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g = +4: la meseta del KMC queda en ~0.85, no en 1, y la transición es más ancha (todo azul).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Las cotas (rojos) se concentran en log ℓ &lt; −2.5: ahí el KMC no termina en 48 h.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En g = +4 hay un escalón horizontal en log Ξ ≈ −1.6 a la izquierda: lo arma una cota; a revisar.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3B73"/>
                </a:solidFill>
                <a:latin typeface="Calibri"/>
              </a:rPr>
              <a:t>¿Qué tan bien reconstruye? Control con 32 puntos que no se usaron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404040"/>
                </a:solidFill>
                <a:latin typeface="Calibri"/>
              </a:rPr>
              <a:t>por g: 24 sorteados donde el mapa más cambia o más difiere del continuo + 8 al azar</a:t>
            </a:r>
          </a:p>
        </p:txBody>
      </p:sp>
      <p:pic>
        <p:nvPicPr>
          <p:cNvPr id="4" name="Picture 3" descr="control_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60518"/>
            <a:ext cx="6949440" cy="44342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1645920"/>
            <a:ext cx="388620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B73"/>
                </a:solidFill>
                <a:latin typeface="Calibri"/>
              </a:rPr>
              <a:t>Lectura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Al azar, el error está en el nivel del ruido del KMC (0.002-0.004), salvo g = −6.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En la zona crítica 0.012-0.017, salvo g = −2 (0.035): ahí el error está en el pie del acantilado.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g = −6: un punto al azar con 0.09 de error, donde DIP empeoró (TPS sola: 0.015).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La zona crítica es la prueba exigente a propósito.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3B73"/>
                </a:solidFill>
                <a:latin typeface="Calibri"/>
              </a:rPr>
              <a:t>Ejemplo: control de g = −2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404040"/>
                </a:solidFill>
                <a:latin typeface="Calibri"/>
              </a:rPr>
              <a:t>izquierda: mapa final y dónde cayeron los 32 · derecha: reconstruido vs. KMC</a:t>
            </a:r>
          </a:p>
        </p:txBody>
      </p:sp>
      <p:pic>
        <p:nvPicPr>
          <p:cNvPr id="4" name="Picture 3" descr="control_g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37968"/>
            <a:ext cx="11430000" cy="47707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3B73"/>
                </a:solidFill>
                <a:latin typeface="Calibri"/>
              </a:rPr>
              <a:t>Los g que siguen eligiendo puntos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404040"/>
                </a:solidFill>
                <a:latin typeface="Calibri"/>
              </a:rPr>
              <a:t>reconstrucción con lo que hay hoy (blancos: medidos · rojos: cotas)</a:t>
            </a:r>
          </a:p>
        </p:txBody>
      </p:sp>
      <p:pic>
        <p:nvPicPr>
          <p:cNvPr id="4" name="Picture 3" descr="en_cur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80" y="1371600"/>
            <a:ext cx="10784758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3B73"/>
                </a:solidFill>
                <a:latin typeface="Calibri"/>
              </a:rPr>
              <a:t>Grilla 64×64 de g = −4 con KMC, completa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404040"/>
                </a:solidFill>
                <a:latin typeface="Calibri"/>
              </a:rPr>
              <a:t>todos los puntos, sin planificador ni reconstrucción · izquierda KMC · centro continuo · derecha la diferencia</a:t>
            </a:r>
          </a:p>
        </p:txBody>
      </p:sp>
      <p:pic>
        <p:nvPicPr>
          <p:cNvPr id="4" name="Picture 3" descr="grid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05902"/>
            <a:ext cx="11430000" cy="35718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257800"/>
            <a:ext cx="11064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404040"/>
                </a:solidFill>
                <a:latin typeface="Calibri"/>
              </a:rPr>
              <a:t>4096 puntos: 3597 terminados y 499 cotas </a:t>
            </a:r>
            <a:r>
              <a:rPr sz="1400" b="0" i="0">
                <a:solidFill>
                  <a:srgbClr val="404040"/>
                </a:solidFill>
                <a:latin typeface="Calibri"/>
              </a:rPr>
              <a:t>(log ℓ &lt; −2.9: no terminan en 24 h; triángulos blancos). </a:t>
            </a:r>
            <a:r>
              <a:rPr sz="1400" b="0" i="0">
                <a:solidFill>
                  <a:srgbClr val="404040"/>
                </a:solidFill>
                <a:latin typeface="Calibri"/>
              </a:rPr>
              <a:t>Confirma lo que ya veían las reconstrucciones: acantilado corrido a Ξ bajo, SoC ≈ 0 en toda la esquina de Ξ alto y ℓ bajo, y unos pocos píxeles sueltos en 0 dentro de la meseta.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3B73"/>
                </a:solidFill>
                <a:latin typeface="Calibri"/>
              </a:rPr>
              <a:t>Con g &gt; 0 el KMC no llega a SoC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404040"/>
                </a:solidFill>
                <a:latin typeface="Calibri"/>
              </a:rPr>
              <a:t>máximo medido en cada g vs. el continuo</a:t>
            </a:r>
          </a:p>
        </p:txBody>
      </p:sp>
      <p:pic>
        <p:nvPicPr>
          <p:cNvPr id="4" name="Picture 3" descr="techo_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00199"/>
            <a:ext cx="630936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79" y="1645920"/>
            <a:ext cx="452628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B73"/>
                </a:solidFill>
                <a:latin typeface="Calibri"/>
              </a:rPr>
              <a:t>¿Es real o es por las cotas?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El techo baja de forma ordenada: 0.97, 0.95, 0.91, 0.86 para g = 1 a 4.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Pero en g &gt; 0 lo más alto del continuo está en log ℓ &lt; −2.5, donde el KMC solo dio cotas.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La reconstrucción no pasa del máximo medido: si ahí el KMC llega más alto, el mapa no lo puede mostrar.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Para saberlo: correr esos puntos hasta el final (filmina siguiente).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3B73"/>
                </a:solidFill>
                <a:latin typeface="Calibri"/>
              </a:rPr>
              <a:t>KMC sin límite de tiempo: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404040"/>
                </a:solidFill>
                <a:latin typeface="Calibri"/>
              </a:rPr>
              <a:t>para terminar las corridas de log ℓ 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669280" cy="502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1500" b="0" i="0">
                <a:solidFill>
                  <a:srgbClr val="404040"/>
                </a:solidFill>
                <a:latin typeface="Calibri"/>
              </a:rPr>
              <a:t>El cluster corta todo a las 48 h; log ℓ = −3.5 tarda ~2.5 días y log ℓ = −4, ~6.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500" b="0" i="0">
                <a:solidFill>
                  <a:srgbClr val="404040"/>
                </a:solidFill>
                <a:latin typeface="Calibri"/>
              </a:rPr>
              <a:t>Ahora el KMC guarda su estado completo (red, generador aleatorio, tasas) cada 10 min y al ser cortado.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500" b="0" i="0">
                <a:solidFill>
                  <a:srgbClr val="404040"/>
                </a:solidFill>
                <a:latin typeface="Calibri"/>
              </a:rPr>
              <a:t>Al relanzarlo sigue donde quedó: la corrida cortada dos veces da exactamente el mismo archivo que la corrida sin cortar (bit a bit).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500" b="0" i="0">
                <a:solidFill>
                  <a:srgbClr val="404040"/>
                </a:solidFill>
                <a:latin typeface="Calibri"/>
              </a:rPr>
              <a:t>Las corridas pasan solas de un nodo reservado al siguiente.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92240" y="1554480"/>
          <a:ext cx="521208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1463040"/>
                <a:gridCol w="1920240"/>
              </a:tblGrid>
              <a:tr h="384048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log 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log 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hoy en el mapa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qué es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−3.53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cota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−3.24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cota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−3.01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cota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−3.01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cota (0.53)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−2.54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cota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−2.02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medido (referencia)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92240" y="4480560"/>
            <a:ext cx="52120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g = +4, 2 réplicas cada uno, arrancaron el 10/10 a las 18:00. Si terminan arriba de 0.86, el techo del mapa está mal puesto.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3B73"/>
                </a:solidFill>
                <a:latin typeface="Calibri"/>
              </a:rPr>
              <a:t>Cómo sigue y qué consultar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56032" indent="-256032">
              <a:spcAft>
                <a:spcPts val="1200"/>
              </a:spcAft>
              <a:buChar char="•"/>
            </a:pPr>
            <a:r>
              <a:rPr sz="1700" b="1" i="0">
                <a:solidFill>
                  <a:srgbClr val="404040"/>
                </a:solidFill>
                <a:latin typeface="Calibri"/>
              </a:rPr>
              <a:t>Cerrar los 7 g que faltan: </a:t>
            </a:r>
            <a:r>
              <a:rPr sz="1700" b="0" i="0">
                <a:solidFill>
                  <a:srgbClr val="404040"/>
                </a:solidFill>
                <a:latin typeface="Calibri"/>
              </a:rPr>
              <a:t>mapa final (TPS + DIP) y control de 32 puntos en cada uno.</a:t>
            </a:r>
          </a:p>
          <a:p>
            <a:pPr algn="l" marL="256032" indent="-256032">
              <a:spcAft>
                <a:spcPts val="1200"/>
              </a:spcAft>
              <a:buChar char="•"/>
            </a:pPr>
            <a:r>
              <a:rPr sz="1700" b="1" i="0">
                <a:solidFill>
                  <a:srgbClr val="404040"/>
                </a:solidFill>
                <a:latin typeface="Calibri"/>
              </a:rPr>
              <a:t>g = +4 sin tope: </a:t>
            </a:r>
            <a:r>
              <a:rPr sz="1700" b="0" i="0">
                <a:solidFill>
                  <a:srgbClr val="404040"/>
                </a:solidFill>
                <a:latin typeface="Calibri"/>
              </a:rPr>
              <a:t>si el techo sube, rehacer los g &gt; 0 con esas corridas.</a:t>
            </a:r>
          </a:p>
          <a:p>
            <a:pPr algn="l" marL="256032" indent="-256032">
              <a:spcAft>
                <a:spcPts val="1200"/>
              </a:spcAft>
              <a:buChar char="•"/>
            </a:pPr>
            <a:r>
              <a:rPr sz="1700" b="1" i="0">
                <a:solidFill>
                  <a:srgbClr val="404040"/>
                </a:solidFill>
                <a:latin typeface="Calibri"/>
              </a:rPr>
              <a:t>Grilla 64×64: </a:t>
            </a:r>
            <a:r>
              <a:rPr sz="1700" b="0" i="0">
                <a:solidFill>
                  <a:srgbClr val="404040"/>
                </a:solidFill>
                <a:latin typeface="Calibri"/>
              </a:rPr>
              <a:t>error de la reconstrucción de 96 puntos de g = −4 contra KMC completo.</a:t>
            </a:r>
          </a:p>
          <a:p>
            <a:pPr algn="l" marL="256032" indent="-256032">
              <a:spcAft>
                <a:spcPts val="1200"/>
              </a:spcAft>
              <a:buChar char="•"/>
            </a:pPr>
            <a:r>
              <a:rPr sz="1700" b="1" i="0">
                <a:solidFill>
                  <a:srgbClr val="404040"/>
                </a:solidFill>
                <a:latin typeface="Calibri"/>
              </a:rPr>
              <a:t>Para consultar: </a:t>
            </a:r>
            <a:r>
              <a:rPr sz="1700" b="0" i="0">
                <a:solidFill>
                  <a:srgbClr val="404040"/>
                </a:solidFill>
                <a:latin typeface="Calibri"/>
              </a:rPr>
              <a:t>(1) la esquina de Ξ alto y ℓ bajo da SoC ≈ 0 en el KMC (continuo ~1), con réplicas que a veces dan 0.99 y a veces 0; (2) el acantilado del KMC está más abajo en Ξ que en el continuo en todos los g negativos; (3) el techo con g &gt; 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