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63659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3167203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7590561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762642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4712231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041881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26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268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2610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33E23-80B0-D16B-C534-44D5DEF595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43984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94837604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Pedido 1-3 de la reunión del 17/9: Optuna (búsqueda automática de hiperparámetros), grid/uniform tocando</a:t>
            </a:r>
            <a:endParaRPr/>
          </a:p>
          <a:p>
            <a:pPr>
              <a:defRPr/>
            </a:pPr>
            <a:r>
              <a:rPr/>
              <a:t>hiperparámetros, y la grilla como hiperparámetro. Estudio profes_grid_uniform: 181 trials en Mendieta.</a:t>
            </a:r>
            <a:endParaRPr/>
          </a:p>
          <a:p>
            <a:pPr>
              <a:defRPr/>
            </a:pPr>
            <a:r>
              <a:rPr/>
              <a:t>Los mejores son todos la config 'vase' del paper afinada: entrada meshgrid, skip 0, LR 0.005-0.017,</a:t>
            </a:r>
            <a:endParaRPr/>
          </a:p>
          <a:p>
            <a:pPr>
              <a:defRPr/>
            </a:pPr>
            <a:r>
              <a:rPr/>
              <a:t>~3000 iteraciones. Uniform nunca aparece arriba. Mejor: 29.9 dB de media (peor g 26.2) con 64 puntos.</a:t>
            </a:r>
            <a:endParaRPr/>
          </a:p>
          <a:p>
            <a:pPr>
              <a:defRPr/>
            </a:pPr>
            <a:r>
              <a:rPr/>
              <a:t>Un segundo estudio (28 trials) con el método final como objetivo tampoco mejoró la receta de la tesis:</a:t>
            </a:r>
            <a:endParaRPr/>
          </a:p>
          <a:p>
            <a:pPr>
              <a:defRPr/>
            </a:pPr>
            <a:r>
              <a:rPr/>
              <a:t>la configuración de DIP ya está cerca del óptimo. No hubo una mejora sustancial.</a:t>
            </a:r>
            <a:endParaRPr/>
          </a:p>
        </p:txBody>
      </p:sp>
      <p:sp>
        <p:nvSpPr>
          <p:cNvPr id="191899028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83067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90077329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Lo que sugirió Andrés en la reunión del 17/9: interpolar con scipy. Probamos los cuatro métodos con los mismos</a:t>
            </a:r>
            <a:endParaRPr/>
          </a:p>
          <a:p>
            <a:pPr>
              <a:defRPr/>
            </a:pPr>
            <a:r>
              <a:rPr/>
              <a:t>64 puntos: vecino más cercano, lineal, cúbica y TPS (scipy.interpolate.RBFInterpolator, kernel</a:t>
            </a:r>
            <a:endParaRPr/>
          </a:p>
          <a:p>
            <a:pPr>
              <a:defRPr/>
            </a:pPr>
            <a:r>
              <a:rPr/>
              <a:t>thin_plate_spline). Media en 3 g: 19.1 / 21.9 / 22.9 / 24.4 dB. La TPS es la mejor y es la base.</a:t>
            </a:r>
            <a:endParaRPr/>
          </a:p>
          <a:p>
            <a:pPr>
              <a:defRPr/>
            </a:pPr>
            <a:r>
              <a:rPr/>
              <a:t>Pero mirá la fila de abajo: todo el error está en el borde inclinado. Ninguna interpolación puede hacer un</a:t>
            </a:r>
            <a:endParaRPr/>
          </a:p>
          <a:p>
            <a:pPr>
              <a:defRPr/>
            </a:pPr>
            <a:r>
              <a:rPr/>
              <a:t>salto seco con puntos a 16 píxeles de distancia. De ahí salen las dos ideas siguientes.</a:t>
            </a:r>
            <a:endParaRPr/>
          </a:p>
        </p:txBody>
      </p:sp>
      <p:sp>
        <p:nvSpPr>
          <p:cNvPr id="177653032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88874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51069971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La información está en el borde, no en las mesetas. Entonces: grilla gruesa de 30 puntos para ver la forma;</a:t>
            </a:r>
            <a:endParaRPr/>
          </a:p>
          <a:p>
            <a:pPr>
              <a:defRPr/>
            </a:pPr>
            <a:r>
              <a:rPr/>
              <a:t>en cada columna de la grilla donde el SoC salta de alto a 0, se mide en el medio, después en el medio de la</a:t>
            </a:r>
            <a:endParaRPr/>
          </a:p>
          <a:p>
            <a:pPr>
              <a:defRPr/>
            </a:pPr>
            <a:r>
              <a:rPr/>
              <a:t>mitad que contiene el salto, etc. (búsqueda binaria). Con ~5 rondas el borde queda ubicado a 1 píxel.</a:t>
            </a:r>
            <a:endParaRPr/>
          </a:p>
          <a:p>
            <a:pPr>
              <a:defRPr/>
            </a:pPr>
            <a:r>
              <a:rPr/>
              <a:t>Lo que sobra (relleno) va donde, sacando cada punto y prediciéndolo con los demás, el error es mayor.</a:t>
            </a:r>
            <a:endParaRPr/>
          </a:p>
          <a:p>
            <a:pPr>
              <a:defRPr/>
            </a:pPr>
            <a:r>
              <a:rPr/>
              <a:t>Con KMC esto se corre por tandas: cada ronda de bisección es una tanda de corridas en paralelo.</a:t>
            </a:r>
            <a:endParaRPr/>
          </a:p>
        </p:txBody>
      </p:sp>
      <p:sp>
        <p:nvSpPr>
          <p:cNvPr id="132403681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69940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48575332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 izquierda a derecha, misma entrada: TPS común; + cero debajo del borde; + rampa alineada al borde;</a:t>
            </a:r>
            <a:endParaRPr/>
          </a:p>
          <a:p>
            <a:pPr>
              <a:defRPr/>
            </a:pPr>
            <a:r>
              <a:rPr/>
              <a:t>+ monotonía. Cada idea suma dB (ver los títulos).</a:t>
            </a:r>
            <a:endParaRPr/>
          </a:p>
          <a:p>
            <a:pPr>
              <a:defRPr/>
            </a:pPr>
            <a:r>
              <a:rPr/>
              <a:t>La recta: los puntos de la bisección dan pares vecinos donde uno vale 0 y el otro no; el borde pasa por el</a:t>
            </a:r>
            <a:endParaRPr/>
          </a:p>
          <a:p>
            <a:pPr>
              <a:defRPr/>
            </a:pPr>
            <a:r>
              <a:rPr/>
              <a:t>medio. Por esos ~5 puntos se ajusta una recta con RANSAC: se prueban rectas por pares de puntos y gana la</a:t>
            </a:r>
            <a:endParaRPr/>
          </a:p>
          <a:p>
            <a:pPr>
              <a:defRPr/>
            </a:pPr>
            <a:r>
              <a:rPr/>
              <a:t>que deja más puntos cerca, así un punto mal detectado no la tuerce (si preguntan: "ajuste robusto").</a:t>
            </a:r>
            <a:endParaRPr/>
          </a:p>
          <a:p>
            <a:pPr>
              <a:defRPr/>
            </a:pPr>
            <a:r>
              <a:rPr/>
              <a:t>Debajo de la recta el mapa vale 0 exacto; arriba se interpola solo con los puntos de arriba (si la TPS</a:t>
            </a:r>
            <a:endParaRPr/>
          </a:p>
          <a:p>
            <a:pPr>
              <a:defRPr/>
            </a:pPr>
            <a:r>
              <a:rPr/>
              <a:t>usara también los ceros, los "chorrearía" hacia la meseta).</a:t>
            </a:r>
            <a:endParaRPr/>
          </a:p>
          <a:p>
            <a:pPr>
              <a:defRPr/>
            </a:pPr>
            <a:r>
              <a:rPr/>
              <a:t>Monotonía: el SoC no sube ni al bajar en el mapa ni al ir a la derecha. Cada punto medido acota una esquina</a:t>
            </a:r>
            <a:endParaRPr/>
          </a:p>
          <a:p>
            <a:pPr>
              <a:defRPr/>
            </a:pPr>
            <a:r>
              <a:rPr/>
              <a:t>del mapa, y al final se proyecta al mapa monótono más cercano. Es conocimiento físico, no de la imagen.</a:t>
            </a:r>
            <a:endParaRPr/>
          </a:p>
        </p:txBody>
      </p:sp>
      <p:sp>
        <p:nvSpPr>
          <p:cNvPr id="81693898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88339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4751959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Cada uno es bueno en una zona. Se mezclan con un peso que depende de la distancia al borde (20 px):</a:t>
            </a:r>
            <a:endParaRPr/>
          </a:p>
          <a:p>
            <a:pPr>
              <a:defRPr/>
            </a:pPr>
            <a:r>
              <a:rPr/>
              <a:t>pegado al borde TPS, lejos DIP. A DIP se le dan los puntos medidos + ceros debajo del borde.</a:t>
            </a:r>
            <a:endParaRPr/>
          </a:p>
          <a:p>
            <a:pPr>
              <a:defRPr/>
            </a:pPr>
            <a:r>
              <a:rPr/>
              <a:t>Guarda: si DIP no ajusta los puntos medidos (error &gt; 0.02 + 2σ), se usa solo la TPS.</a:t>
            </a:r>
            <a:endParaRPr/>
          </a:p>
          <a:p>
            <a:pPr>
              <a:defRPr/>
            </a:pPr>
            <a:r>
              <a:rPr/>
              <a:t>En el continuo, 64 puntos, 9 g: TPS sola ~40.6 dB, TPS + DIP ~41.3 dB; con ruido DIP suma más.</a:t>
            </a:r>
            <a:endParaRPr/>
          </a:p>
        </p:txBody>
      </p:sp>
      <p:sp>
        <p:nvSpPr>
          <p:cNvPr id="9798338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70101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5015597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 una frase: medimos pocos puntos donde está la información (el borde), interpolamos con TPS respetando lo</a:t>
            </a:r>
            <a:endParaRPr/>
          </a:p>
          <a:p>
            <a:pPr>
              <a:defRPr/>
            </a:pPr>
            <a:r>
              <a:rPr/>
              <a:t>que sabemos de la física (cero debajo del borde, monotonía) y DIP alisa el resto.</a:t>
            </a:r>
            <a:endParaRPr/>
          </a:p>
          <a:p>
            <a:pPr>
              <a:defRPr/>
            </a:pPr>
            <a:r>
              <a:rPr/>
              <a:t>La figura de abajo es el recorrido completo con KMC real (g = −4): puntos, TPS, borde, cero abajo,</a:t>
            </a:r>
            <a:endParaRPr/>
          </a:p>
          <a:p>
            <a:pPr>
              <a:defRPr/>
            </a:pPr>
            <a:r>
              <a:rPr/>
              <a:t>monotonía, DIP, peso de la mezcla, final. Si preguntan por un paso, está en el apéndice.</a:t>
            </a:r>
            <a:endParaRPr/>
          </a:p>
        </p:txBody>
      </p:sp>
      <p:sp>
        <p:nvSpPr>
          <p:cNvPr id="102362652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88807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68732642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Validación en los 9 g negativos del continuo con 64 puntos: 41.3 dB de media (peor g 37.7).</a:t>
            </a:r>
            <a:endParaRPr/>
          </a:p>
          <a:p>
            <a:pPr>
              <a:defRPr/>
            </a:pPr>
            <a:r>
              <a:rPr/>
              <a:t>Referencias: interpolación de scipy sola ~24 dB; DIP solo con 64 puntos en grilla ~30 dB.</a:t>
            </a:r>
            <a:endParaRPr/>
          </a:p>
          <a:p>
            <a:pPr>
              <a:defRPr/>
            </a:pPr>
            <a:r>
              <a:rPr/>
              <a:t>Con 84 puntos los 9 g pasan los 40 dB.</a:t>
            </a:r>
            <a:endParaRPr/>
          </a:p>
        </p:txBody>
      </p:sp>
      <p:sp>
        <p:nvSpPr>
          <p:cNvPr id="37816370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39799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9125146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Misma receta (grilla 30 + bisección + relleno, línea + 0 abajo + TPS + monotonía), sin DIP, 96 puntos</a:t>
            </a:r>
            <a:endParaRPr/>
          </a:p>
          <a:p>
            <a:pPr>
              <a:defRPr/>
            </a:pPr>
            <a:r>
              <a:rPr/>
              <a:t>(0.6 % de la imagen): 44.4 dB de media, peor g 40.2 (g = -2). Corrida VAL9_96pts.</a:t>
            </a:r>
            <a:endParaRPr/>
          </a:p>
          <a:p>
            <a:pPr>
              <a:defRPr/>
            </a:pPr>
            <a:r>
              <a:rPr/>
              <a:t>Por eso el KMC pasa a 96 puntos en todos los g: el costo extra es chico y el margen grande.</a:t>
            </a:r>
            <a:endParaRPr/>
          </a:p>
        </p:txBody>
      </p:sp>
      <p:sp>
        <p:nvSpPr>
          <p:cNvPr id="127565764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862192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738766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Control: RMS 0.030 (TPS + DIP), 0.042 (TPS sola).</a:t>
            </a:r>
            <a:endParaRPr/>
          </a:p>
          <a:p>
            <a:pPr>
              <a:defRPr/>
            </a:pPr>
            <a:r>
              <a:rPr/>
              <a:t>Misma forma que el continuo (meseta, rampa, salto a 0).</a:t>
            </a:r>
            <a:endParaRPr/>
          </a:p>
          <a:p>
            <a:pPr>
              <a:defRPr/>
            </a:pPr>
            <a:r>
              <a:rPr/>
              <a:t>El borde del KMC está más abajo: franja roja (el KMC tiene SoC donde el continuo ya da 0).</a:t>
            </a:r>
            <a:endParaRPr/>
          </a:p>
        </p:txBody>
      </p:sp>
      <p:sp>
        <p:nvSpPr>
          <p:cNvPr id="25708932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33344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96199466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Después de reconstruir, se corrieron 10 puntos nuevos al azar (que el método no vio). Lo predicho por el mapa</a:t>
            </a:r>
            <a:endParaRPr/>
          </a:p>
          <a:p>
            <a:pPr>
              <a:defRPr/>
            </a:pPr>
            <a:r>
              <a:rPr/>
              <a:t>y lo medido por KMC casi coinciden: los puntos caen sobre la diagonal.</a:t>
            </a:r>
            <a:endParaRPr/>
          </a:p>
          <a:p>
            <a:pPr>
              <a:defRPr/>
            </a:pPr>
            <a:r>
              <a:rPr/>
              <a:t>Error RMS 0.030 de SoC con TPS + DIP (máximo 0.068); 0.042 con la TPS sola. Para comparar: usar el mapa del</a:t>
            </a:r>
            <a:endParaRPr/>
          </a:p>
          <a:p>
            <a:pPr>
              <a:defRPr/>
            </a:pPr>
            <a:r>
              <a:rPr/>
              <a:t>continuo como si fuera el KMC da ~0.14 en g = −4.</a:t>
            </a:r>
            <a:endParaRPr/>
          </a:p>
          <a:p>
            <a:pPr>
              <a:defRPr/>
            </a:pPr>
            <a:r>
              <a:rPr/>
              <a:t>Limitación honesta: los puntos de control están en log ℓ &gt; −2.2 (más a la izquierda las corridas no terminan</a:t>
            </a:r>
            <a:endParaRPr/>
          </a:p>
          <a:p>
            <a:pPr>
              <a:defRPr/>
            </a:pPr>
            <a:r>
              <a:rPr/>
              <a:t>en 8 h). Hay un control extra corriendo en la zona izquierda de g = +3.</a:t>
            </a:r>
            <a:endParaRPr/>
          </a:p>
        </p:txBody>
      </p:sp>
      <p:sp>
        <p:nvSpPr>
          <p:cNvPr id="40480691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7586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11089671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Control: RMS 0.022 (TPS + DIP), 0.040 (TPS sola).</a:t>
            </a:r>
            <a:endParaRPr/>
          </a:p>
          <a:p>
            <a:pPr>
              <a:defRPr/>
            </a:pPr>
            <a:r>
              <a:rPr/>
              <a:t>Llega a 0 en el mismo lugar que el continuo.</a:t>
            </a:r>
            <a:endParaRPr/>
          </a:p>
          <a:p>
            <a:pPr>
              <a:defRPr/>
            </a:pPr>
            <a:r>
              <a:rPr/>
              <a:t>Pero se descarga antes y más gradual: franja azul (la rampa empieza ~1 década de Ξ antes).</a:t>
            </a:r>
            <a:endParaRPr/>
          </a:p>
        </p:txBody>
      </p:sp>
      <p:sp>
        <p:nvSpPr>
          <p:cNvPr id="178152534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96911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39175250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Después de reconstruir, se corrieron 10 puntos nuevos al azar (que el método no vio). Lo predicho por el mapa</a:t>
            </a:r>
            <a:endParaRPr/>
          </a:p>
          <a:p>
            <a:pPr>
              <a:defRPr/>
            </a:pPr>
            <a:r>
              <a:rPr/>
              <a:t>y lo medido por KMC casi coinciden: los puntos caen sobre la diagonal.</a:t>
            </a:r>
            <a:endParaRPr/>
          </a:p>
          <a:p>
            <a:pPr>
              <a:defRPr/>
            </a:pPr>
            <a:r>
              <a:rPr/>
              <a:t>Error RMS 0.022 de SoC con TPS + DIP (máximo 0.042); 0.040 con la TPS sola. Para comparar: usar el mapa del</a:t>
            </a:r>
            <a:endParaRPr/>
          </a:p>
          <a:p>
            <a:pPr>
              <a:defRPr/>
            </a:pPr>
            <a:r>
              <a:rPr/>
              <a:t>continuo como si fuera el KMC da ~0.14 en g = −4.</a:t>
            </a:r>
            <a:endParaRPr/>
          </a:p>
          <a:p>
            <a:pPr>
              <a:defRPr/>
            </a:pPr>
            <a:r>
              <a:rPr/>
              <a:t>Limitación honesta: los puntos de control están en log ℓ &gt; −2.2 (más a la izquierda las corridas no terminan</a:t>
            </a:r>
            <a:endParaRPr/>
          </a:p>
          <a:p>
            <a:pPr>
              <a:defRPr/>
            </a:pPr>
            <a:r>
              <a:rPr/>
              <a:t>en 8 h). Hay un control extra corriendo en la zona izquierda de g = +3.</a:t>
            </a:r>
            <a:endParaRPr/>
          </a:p>
        </p:txBody>
      </p:sp>
      <p:sp>
        <p:nvSpPr>
          <p:cNvPr id="166507023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66767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16612246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Cómo se corre cada punto: el programa de KMC galvanostático (KMC-Galvanostatic_noclus_param_claude.cpp,</a:t>
            </a:r>
            <a:endParaRPr/>
          </a:p>
          <a:p>
            <a:pPr>
              <a:defRPr/>
            </a:pPr>
            <a:r>
              <a:rPr/>
              <a:t>compilado como kmc_fast) recibe Ξ, ℓ, el número de réplica y g. Usa la red CS-40x20x40.xyz. Descarga</a:t>
            </a:r>
            <a:endParaRPr/>
          </a:p>
          <a:p>
            <a:pPr>
              <a:defRPr/>
            </a:pPr>
            <a:r>
              <a:rPr/>
              <a:t>hasta el potencial de corte y escribe SoC, E y tiempo por intervalo; el valor del punto es el SoC final.</a:t>
            </a:r>
            <a:endParaRPr/>
          </a:p>
          <a:p>
            <a:pPr>
              <a:defRPr/>
            </a:pPr>
            <a:r>
              <a:rPr/>
              <a:t>Cada tanda (los puntos que pide el planificador) corre en un nodo de Serafín: 1 núcleo por corrida y</a:t>
            </a:r>
            <a:endParaRPr/>
          </a:p>
          <a:p>
            <a:pPr>
              <a:defRPr/>
            </a:pPr>
            <a:r>
              <a:rPr/>
              <a:t>réplicas para llenar el nodo (64 núcleos / puntos). Las réplicas difieren en la semilla (srand(time),</a:t>
            </a:r>
            <a:endParaRPr/>
          </a:p>
          <a:p>
            <a:pPr>
              <a:defRPr/>
            </a:pPr>
            <a:r>
              <a:rPr/>
              <a:t>por eso se lanzan con 1 s de diferencia) y se promedian; su dispersión da el ruido σ.</a:t>
            </a:r>
            <a:endParaRPr/>
          </a:p>
          <a:p>
            <a:pPr>
              <a:defRPr/>
            </a:pPr>
            <a:r>
              <a:rPr/>
              <a:t>Tope de 8 h: si una corrida no termina, su último SoC es un mínimo (cota). Esas no se usan como valor.</a:t>
            </a:r>
            <a:endParaRPr/>
          </a:p>
          <a:p>
            <a:pPr>
              <a:defRPr/>
            </a:pPr>
            <a:r>
              <a:rPr/>
              <a:t>Preguntas para ellos: tamaño de red, corte, número de réplicas, la zona de ℓ chico (no termina ni en</a:t>
            </a:r>
            <a:endParaRPr/>
          </a:p>
          <a:p>
            <a:pPr>
              <a:defRPr/>
            </a:pPr>
            <a:r>
              <a:rPr/>
              <a:t>48 h) y la anomalía de Ξ alto.</a:t>
            </a:r>
            <a:endParaRPr/>
          </a:p>
        </p:txBody>
      </p:sp>
      <p:sp>
        <p:nvSpPr>
          <p:cNvPr id="43922791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32583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45051594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Preguntas para los directores.</a:t>
            </a:r>
            <a:endParaRPr/>
          </a:p>
        </p:txBody>
      </p:sp>
      <p:sp>
        <p:nvSpPr>
          <p:cNvPr id="16551231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663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2216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252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E3256B-4B60-F8FF-B085-3DA255B0A8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62465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39080106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Una corrida de KMC tarda de minutos a días según log ℓ. Un mapa de 128 × 128 son 16 mil corridas: imposible.</a:t>
            </a:r>
            <a:endParaRPr/>
          </a:p>
          <a:p>
            <a:pPr>
              <a:defRPr/>
            </a:pPr>
            <a:r>
              <a:rPr/>
              <a:t>Entonces: medir pocos puntos bien elegidos y reconstruir el resto. Todo el método se armó y se midió</a:t>
            </a:r>
            <a:endParaRPr/>
          </a:p>
          <a:p>
            <a:pPr>
              <a:defRPr/>
            </a:pPr>
            <a:r>
              <a:rPr/>
              <a:t>primero contra el modelo del continuo (galpynostatic), donde tenemos la imagen completa para comparar.</a:t>
            </a:r>
            <a:endParaRPr/>
          </a:p>
        </p:txBody>
      </p:sp>
      <p:sp>
        <p:nvSpPr>
          <p:cNvPr id="35370974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50765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69547422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1. Los 64 valores de SoC del KMC: lo único que hay.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La misma receta de las filminas anteriores, ahora con puntos de KMC real.</a:t>
            </a:r>
            <a:endParaRPr/>
          </a:p>
        </p:txBody>
      </p:sp>
      <p:sp>
        <p:nvSpPr>
          <p:cNvPr id="50191573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693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55964286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2. TPS sola (scipy, thin-plate spline): se pasa de 0 y de 1 y ondula en el frente. Sola no sirve.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La misma receta de las filminas anteriores, ahora con puntos de KMC real.</a:t>
            </a:r>
            <a:endParaRPr/>
          </a:p>
        </p:txBody>
      </p:sp>
      <p:sp>
        <p:nvSpPr>
          <p:cNvPr id="160591160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67701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61525877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3. Borde: aristas cortas de Delaunay entre un punto ≈ 0 y uno alto; sus puntos medios (★) → recta. El salto es real: a 1 px, el KMC da 0.77 y 0.00.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La misma receta de las filminas anteriores, ahora con puntos de KMC real.</a:t>
            </a:r>
            <a:endParaRPr/>
          </a:p>
        </p:txBody>
      </p:sp>
      <p:sp>
        <p:nvSpPr>
          <p:cNvPr id="185282757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63274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64167885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4. Debajo de la recta, 0. Arriba, TPS solo con los puntos de arriba, alineada al borde.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La misma receta de las filminas anteriores, ahora con puntos de KMC real.</a:t>
            </a:r>
            <a:endParaRPr/>
          </a:p>
        </p:txBody>
      </p:sp>
      <p:sp>
        <p:nvSpPr>
          <p:cNvPr id="190302525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42681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95477853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5. + cotas y proyección monótona (el SoC no sube con ℓ ni con Ξ) = TPS con restricciones físicas.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La misma receta de las filminas anteriores, ahora con puntos de KMC real.</a:t>
            </a:r>
            <a:endParaRPr/>
          </a:p>
        </p:txBody>
      </p:sp>
      <p:sp>
        <p:nvSpPr>
          <p:cNvPr id="110798018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82851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66757213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6. DIP: la red ve los puntos + ceros debajo del borde; 2 semillas, queda la que mejor ajusta los puntos.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La misma receta de las filminas anteriores, ahora con puntos de KMC real.</a:t>
            </a:r>
            <a:endParaRPr/>
          </a:p>
        </p:txBody>
      </p:sp>
      <p:sp>
        <p:nvSpPr>
          <p:cNvPr id="181634011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0330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93135103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7. Peso de la mezcla: 1 pegado al borde (TPS), 0 lejos (DIP).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La misma receta de las filminas anteriores, ahora con puntos de KMC real.</a:t>
            </a:r>
            <a:endParaRPr/>
          </a:p>
        </p:txBody>
      </p:sp>
      <p:sp>
        <p:nvSpPr>
          <p:cNvPr id="100454266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57380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7731552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8. Final = monótona(w·TPS + (1−w)·DIP). Si DIP no reproduce los puntos, queda solo la TPS.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La misma receta de las filminas anteriores, ahora con puntos de KMC real.</a:t>
            </a:r>
            <a:endParaRPr/>
          </a:p>
        </p:txBody>
      </p:sp>
      <p:sp>
        <p:nvSpPr>
          <p:cNvPr id="199242340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6694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7712912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327937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02442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79012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1596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715758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8581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468323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61193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0971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72127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332622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028875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44944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235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42641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034769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56872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32698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53176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7921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83124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153745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55407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957284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03503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1384205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96000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1092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261942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4523131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15212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76551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617977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117099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49637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58701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204328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3176503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772959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78611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995299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562893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806930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008826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614070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52908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1968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952858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56968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694506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25494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41512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33178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82953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062031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53555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22467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64024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313483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0629572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681503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99932" name="TextBox 1"/>
          <p:cNvSpPr txBox="1"/>
          <p:nvPr/>
        </p:nvSpPr>
        <p:spPr bwMode="auto">
          <a:xfrm>
            <a:off x="640080" y="201168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600" b="1" i="0">
                <a:solidFill>
                  <a:srgbClr val="1F3B73"/>
                </a:solidFill>
                <a:latin typeface="Calibri"/>
              </a:rPr>
              <a:t>Reconstruir el diagrama de fases con 64 puntos de KMC</a:t>
            </a:r>
            <a:endParaRPr/>
          </a:p>
        </p:txBody>
      </p:sp>
      <p:sp>
        <p:nvSpPr>
          <p:cNvPr id="1324059525" name="TextBox 2"/>
          <p:cNvSpPr txBox="1"/>
          <p:nvPr/>
        </p:nvSpPr>
        <p:spPr bwMode="auto">
          <a:xfrm>
            <a:off x="592453" y="3482973"/>
            <a:ext cx="10975679" cy="289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900" b="0" i="0">
                <a:solidFill>
                  <a:srgbClr val="FF0000"/>
                </a:solidFill>
                <a:latin typeface="Calibri"/>
              </a:rPr>
              <a:t>TPS </a:t>
            </a:r>
            <a:r>
              <a:rPr sz="1900" b="0" i="0">
                <a:solidFill>
                  <a:srgbClr val="404040"/>
                </a:solidFill>
                <a:latin typeface="Calibri"/>
              </a:rPr>
              <a:t>+ </a:t>
            </a:r>
            <a:r>
              <a:rPr sz="1900" b="0" i="0">
                <a:solidFill>
                  <a:srgbClr val="FF0000"/>
                </a:solidFill>
                <a:latin typeface="Calibri"/>
              </a:rPr>
              <a:t>bisección </a:t>
            </a:r>
            <a:r>
              <a:rPr sz="1900" b="0" i="0">
                <a:solidFill>
                  <a:srgbClr val="404040"/>
                </a:solidFill>
                <a:latin typeface="Calibri"/>
              </a:rPr>
              <a:t>+ </a:t>
            </a:r>
            <a:r>
              <a:rPr sz="1900" b="0" i="0">
                <a:solidFill>
                  <a:srgbClr val="FF0000"/>
                </a:solidFill>
                <a:latin typeface="Calibri"/>
              </a:rPr>
              <a:t>borde </a:t>
            </a:r>
            <a:r>
              <a:rPr sz="1900" b="0" i="0">
                <a:solidFill>
                  <a:srgbClr val="404040"/>
                </a:solidFill>
                <a:latin typeface="Calibri"/>
              </a:rPr>
              <a:t>+ </a:t>
            </a:r>
            <a:r>
              <a:rPr sz="1900" b="0" i="0">
                <a:solidFill>
                  <a:srgbClr val="FF0000"/>
                </a:solidFill>
                <a:latin typeface="Calibri"/>
              </a:rPr>
              <a:t>monotonía </a:t>
            </a:r>
            <a:r>
              <a:rPr sz="1900" b="0" i="0">
                <a:solidFill>
                  <a:srgbClr val="404040"/>
                </a:solidFill>
                <a:latin typeface="Calibri"/>
              </a:rPr>
              <a:t>+ DIP ·  5/10/2026</a:t>
            </a:r>
            <a:endParaRPr/>
          </a:p>
        </p:txBody>
      </p:sp>
      <p:sp>
        <p:nvSpPr>
          <p:cNvPr id="1090192789" name=""/>
          <p:cNvSpPr txBox="1"/>
          <p:nvPr/>
        </p:nvSpPr>
        <p:spPr bwMode="auto">
          <a:xfrm rot="0" flipH="0" flipV="0">
            <a:off x="290845" y="342304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638020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1. Optuna: los hiperparámetros de DIP</a:t>
            </a:r>
            <a:endParaRPr/>
          </a:p>
        </p:txBody>
      </p:sp>
      <p:sp>
        <p:nvSpPr>
          <p:cNvPr id="585963081" name="TextBox 2"/>
          <p:cNvSpPr txBox="1"/>
          <p:nvPr/>
        </p:nvSpPr>
        <p:spPr bwMode="auto">
          <a:xfrm>
            <a:off x="643889" y="822960"/>
            <a:ext cx="11079719" cy="198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pedido de lo que quedó en la última reunión (17/9) · 181 pruebas en Mendieta · 64 puntos, 3 valores de g</a:t>
            </a:r>
            <a:endParaRPr/>
          </a:p>
        </p:txBody>
      </p:sp>
      <p:graphicFrame>
        <p:nvGraphicFramePr>
          <p:cNvPr id="1167525945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1508759"/>
          <a:ext cx="11064240" cy="19202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7040880"/>
                <a:gridCol w="2011680"/>
                <a:gridCol w="2011680"/>
              </a:tblGrid>
              <a:tr h="384048"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configuración (64 puntos en grilla)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PSNR medio [dB]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400" b="1"/>
                      </a:pPr>
                      <a:r>
                        <a:rPr/>
                        <a:t>peor g [dB]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interpolación TPS, como referencia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24.4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21.2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DIP, receta de la tesis (LR 1e-3, reg 0.08, skip 4)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25.0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21.9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DIP, configuración 'vase' del paper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28.5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0"/>
                      </a:pPr>
                      <a:r>
                        <a:rPr/>
                        <a:t>25.3</a:t>
                      </a:r>
                      <a:endParaRPr/>
                    </a:p>
                  </a:txBody>
                  <a:tcPr/>
                </a:tc>
              </a:tr>
              <a:tr h="384048"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DIP, la mejor de Optuna (181 pruebas)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29.9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 sz="1300" b="1"/>
                      </a:pPr>
                      <a:r>
                        <a:rPr/>
                        <a:t>26.2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54838368" name="TextBox 4"/>
          <p:cNvSpPr txBox="1"/>
          <p:nvPr/>
        </p:nvSpPr>
        <p:spPr bwMode="auto">
          <a:xfrm>
            <a:off x="548640" y="3429000"/>
            <a:ext cx="11085118" cy="1163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800"/>
              </a:spcAft>
              <a:buChar char="•"/>
              <a:defRPr/>
            </a:pPr>
            <a:endParaRPr/>
          </a:p>
          <a:p>
            <a:pPr marL="256032" indent="-256032" algn="l">
              <a:spcAft>
                <a:spcPts val="800"/>
              </a:spcAft>
              <a:buChar char="•"/>
              <a:defRPr/>
            </a:pPr>
            <a:r>
              <a:rPr sz="1500" b="1" i="0">
                <a:solidFill>
                  <a:srgbClr val="404040"/>
                </a:solidFill>
                <a:latin typeface="Calibri"/>
              </a:rPr>
              <a:t>Resultado: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la mejor configuración mejora 5 dB, pero con 64 puntos DIP </a:t>
            </a:r>
            <a:r>
              <a:rPr sz="1500" b="1" i="0">
                <a:solidFill>
                  <a:srgbClr val="404040"/>
                </a:solidFill>
                <a:latin typeface="Calibri"/>
              </a:rPr>
              <a:t>no pasa los 30 dB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. La grilla siempre le gana al muestreo uniforme.</a:t>
            </a:r>
            <a:endParaRPr/>
          </a:p>
          <a:p>
            <a:pPr marL="256032" indent="-256032" algn="l">
              <a:spcAft>
                <a:spcPts val="800"/>
              </a:spcAft>
              <a:buChar char="•"/>
              <a:defRPr/>
            </a:pPr>
            <a:r>
              <a:rPr sz="1500" b="1" i="0">
                <a:solidFill>
                  <a:srgbClr val="404040"/>
                </a:solidFill>
                <a:latin typeface="Calibri"/>
              </a:rPr>
              <a:t>Conclusión: </a:t>
            </a:r>
            <a:r>
              <a:rPr sz="1500" b="1" i="0">
                <a:solidFill>
                  <a:srgbClr val="404040"/>
                </a:solidFill>
                <a:latin typeface="Calibri"/>
              </a:rPr>
              <a:t>ajustar DIP no alcanza</a:t>
            </a:r>
            <a:r>
              <a:rPr lang="es-ES" sz="1500" b="1" i="0">
                <a:solidFill>
                  <a:srgbClr val="404040"/>
                </a:solidFill>
                <a:latin typeface="Calibri"/>
              </a:rPr>
              <a:t>!!!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; hay que cambiar dónde se mide y usar lo que sabemos del mapa. Eso es lo que sigue.</a:t>
            </a:r>
            <a:r>
              <a:rPr lang="es-ES" sz="1500" b="0" i="0">
                <a:solidFill>
                  <a:srgbClr val="404040"/>
                </a:solidFill>
                <a:latin typeface="Calibri"/>
              </a:rPr>
              <a:t> (lo que dijo Maxi en las reuniones pasadas)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965368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2. Interpolar, como sugirió Andrés: la TPS</a:t>
            </a:r>
            <a:endParaRPr/>
          </a:p>
        </p:txBody>
      </p:sp>
      <p:sp>
        <p:nvSpPr>
          <p:cNvPr id="428959248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mismos 64 puntos en grilla · arriba la reconstrucción, abajo el error</a:t>
            </a:r>
            <a:endParaRPr/>
          </a:p>
        </p:txBody>
      </p:sp>
      <p:pic>
        <p:nvPicPr>
          <p:cNvPr id="978044130" name="Picture 3" descr="scipy_metodo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1560" y="1554480"/>
            <a:ext cx="10058399" cy="4206240"/>
          </a:xfrm>
          <a:prstGeom prst="rect">
            <a:avLst/>
          </a:prstGeom>
        </p:spPr>
      </p:pic>
      <p:sp>
        <p:nvSpPr>
          <p:cNvPr id="1598821654" name="TextBox 4"/>
          <p:cNvSpPr txBox="1"/>
          <p:nvPr/>
        </p:nvSpPr>
        <p:spPr bwMode="auto">
          <a:xfrm>
            <a:off x="548640" y="5897880"/>
            <a:ext cx="11088359" cy="22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500" b="1" i="0">
                <a:solidFill>
                  <a:srgbClr val="404040"/>
                </a:solidFill>
                <a:latin typeface="Calibri"/>
              </a:rPr>
              <a:t>TPS (thin-plate spline):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la superficie más lisa que pasa por los puntos. Pero sola no alcanza</a:t>
            </a:r>
            <a:r>
              <a:rPr lang="es-ES" sz="1500" b="0" i="0">
                <a:solidFill>
                  <a:srgbClr val="404040"/>
                </a:solidFill>
                <a:latin typeface="Calibri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127894" name="TextBox 1"/>
          <p:cNvSpPr txBox="1"/>
          <p:nvPr/>
        </p:nvSpPr>
        <p:spPr bwMode="auto">
          <a:xfrm>
            <a:off x="548640" y="320040"/>
            <a:ext cx="11068919" cy="41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3. Idea de Maxi: la línea por mínimos cuadrados</a:t>
            </a:r>
            <a:endParaRPr/>
          </a:p>
        </p:txBody>
      </p:sp>
      <p:sp>
        <p:nvSpPr>
          <p:cNvPr id="1215957876" name="TextBox 2"/>
          <p:cNvSpPr txBox="1"/>
          <p:nvPr/>
        </p:nvSpPr>
        <p:spPr bwMode="auto">
          <a:xfrm>
            <a:off x="548640" y="1005840"/>
            <a:ext cx="11082599" cy="198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dónde medir: grilla y después bisección sobre el borde</a:t>
            </a:r>
            <a:r>
              <a:rPr lang="es-ES" sz="1300" b="0" i="1">
                <a:solidFill>
                  <a:srgbClr val="404040"/>
                </a:solidFill>
                <a:latin typeface="Calibri"/>
              </a:rPr>
              <a:t> (es rápida: es una búsqueda binaria)</a:t>
            </a:r>
            <a:endParaRPr/>
          </a:p>
        </p:txBody>
      </p:sp>
      <p:pic>
        <p:nvPicPr>
          <p:cNvPr id="2092873556" name="Picture 3" descr="muestreo_etapa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71180" y="1280160"/>
            <a:ext cx="9419158" cy="3840480"/>
          </a:xfrm>
          <a:prstGeom prst="rect">
            <a:avLst/>
          </a:prstGeom>
        </p:spPr>
      </p:pic>
      <p:sp>
        <p:nvSpPr>
          <p:cNvPr id="1752673959" name="TextBox 4"/>
          <p:cNvSpPr txBox="1"/>
          <p:nvPr/>
        </p:nvSpPr>
        <p:spPr bwMode="auto">
          <a:xfrm>
            <a:off x="548640" y="5303520"/>
            <a:ext cx="11075039" cy="787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har char="•"/>
              <a:defRPr/>
            </a:pPr>
            <a:r>
              <a:rPr sz="1500" b="1" i="0">
                <a:solidFill>
                  <a:srgbClr val="404040"/>
                </a:solidFill>
                <a:latin typeface="Calibri"/>
              </a:rPr>
              <a:t>Grilla (30 puntos):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ver la forma general.</a:t>
            </a:r>
            <a:endParaRPr/>
          </a:p>
          <a:p>
            <a:pPr marL="256032" indent="-256032" algn="l">
              <a:spcAft>
                <a:spcPts val="400"/>
              </a:spcAft>
              <a:buChar char="•"/>
              <a:defRPr/>
            </a:pPr>
            <a:r>
              <a:rPr sz="1500" b="1" i="0">
                <a:solidFill>
                  <a:srgbClr val="404040"/>
                </a:solidFill>
                <a:latin typeface="Calibri"/>
              </a:rPr>
              <a:t>Bisección: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en cada columna donde el SoC pasa de alto a 0, búsqueda binaria hasta ubicar el salto con precisión de 1 píxel.</a:t>
            </a:r>
            <a:endParaRPr/>
          </a:p>
          <a:p>
            <a:pPr marL="256032" indent="-256032" algn="l">
              <a:spcAft>
                <a:spcPts val="400"/>
              </a:spcAft>
              <a:buChar char="•"/>
              <a:defRPr/>
            </a:pPr>
            <a:r>
              <a:rPr sz="1500" b="1" i="0">
                <a:solidFill>
                  <a:srgbClr val="404040"/>
                </a:solidFill>
                <a:latin typeface="Calibri"/>
              </a:rPr>
              <a:t>Relleno: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los últimos puntos van donde el modelo más se equivoca.</a:t>
            </a:r>
            <a:r>
              <a:rPr lang="es-ES" sz="1500" b="0" i="0">
                <a:solidFill>
                  <a:srgbClr val="404040"/>
                </a:solidFill>
                <a:latin typeface="Calibri"/>
              </a:rPr>
              <a:t> (estudiado anteriormente)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60950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3. La estructura física: la línea y la monotonía</a:t>
            </a:r>
            <a:endParaRPr/>
          </a:p>
        </p:txBody>
      </p:sp>
      <p:sp>
        <p:nvSpPr>
          <p:cNvPr id="633177808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mismos 64 puntos en las cuatro columnas (continuo, g = −2)</a:t>
            </a:r>
            <a:endParaRPr/>
          </a:p>
        </p:txBody>
      </p:sp>
      <p:pic>
        <p:nvPicPr>
          <p:cNvPr id="24747128" name="Picture 3" descr="recon_paso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001562"/>
            <a:ext cx="7498079" cy="4135035"/>
          </a:xfrm>
          <a:prstGeom prst="rect">
            <a:avLst/>
          </a:prstGeom>
        </p:spPr>
      </p:pic>
      <p:sp>
        <p:nvSpPr>
          <p:cNvPr id="1341106736" name="TextBox 4"/>
          <p:cNvSpPr txBox="1"/>
          <p:nvPr/>
        </p:nvSpPr>
        <p:spPr bwMode="auto">
          <a:xfrm>
            <a:off x="8321039" y="1737359"/>
            <a:ext cx="3246480" cy="1168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450" b="1" i="0">
                <a:solidFill>
                  <a:srgbClr val="1F3B73"/>
                </a:solidFill>
                <a:latin typeface="Calibri"/>
              </a:rPr>
              <a:t>La recta que corta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250" b="0" i="0">
                <a:solidFill>
                  <a:srgbClr val="404040"/>
                </a:solidFill>
                <a:latin typeface="Calibri"/>
              </a:rPr>
              <a:t>Con los pares vecinos 0 / no-0 de la bisección se traza el borde (ajuste robusto: un punto mal medido no la mueve).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250" b="0" i="0">
                <a:solidFill>
                  <a:srgbClr val="404040"/>
                </a:solidFill>
                <a:latin typeface="Calibri"/>
              </a:rPr>
              <a:t>Debajo: 0, sin TPS. Arriba: TPS con los puntos de arriba.</a:t>
            </a:r>
            <a:endParaRPr/>
          </a:p>
        </p:txBody>
      </p:sp>
      <p:sp>
        <p:nvSpPr>
          <p:cNvPr id="1069796961" name="TextBox 5"/>
          <p:cNvSpPr txBox="1"/>
          <p:nvPr/>
        </p:nvSpPr>
        <p:spPr bwMode="auto">
          <a:xfrm>
            <a:off x="8294759" y="3383280"/>
            <a:ext cx="3272760" cy="1084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450" b="1" i="0">
                <a:solidFill>
                  <a:srgbClr val="1F3B73"/>
                </a:solidFill>
                <a:latin typeface="Calibri"/>
              </a:rPr>
              <a:t>Monotonía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250" b="0" i="0">
                <a:solidFill>
                  <a:srgbClr val="404040"/>
                </a:solidFill>
                <a:latin typeface="Calibri"/>
              </a:rPr>
              <a:t>Físicamente el SoC no sube al aumentar ℓ ni Ξ.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250" b="0" i="0">
                <a:solidFill>
                  <a:srgbClr val="404040"/>
                </a:solidFill>
                <a:latin typeface="Calibri"/>
              </a:rPr>
              <a:t>Se fuerza eso en el mapa: borra las ondulaciones de la TPS.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30609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4. DIP para suavizar: se mezcla con la TPS por zonas</a:t>
            </a:r>
            <a:endParaRPr/>
          </a:p>
        </p:txBody>
      </p:sp>
      <p:pic>
        <p:nvPicPr>
          <p:cNvPr id="390064303" name="Picture 2" descr="zonas_tps_dip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373632"/>
            <a:ext cx="11064240" cy="3196336"/>
          </a:xfrm>
          <a:prstGeom prst="rect">
            <a:avLst/>
          </a:prstGeom>
        </p:spPr>
      </p:pic>
      <p:sp>
        <p:nvSpPr>
          <p:cNvPr id="1972561014" name="TextBox 3"/>
          <p:cNvSpPr txBox="1"/>
          <p:nvPr/>
        </p:nvSpPr>
        <p:spPr bwMode="auto">
          <a:xfrm>
            <a:off x="640080" y="4937759"/>
            <a:ext cx="5303520" cy="1508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600" b="1" i="0">
                <a:solidFill>
                  <a:srgbClr val="1F3B73"/>
                </a:solidFill>
                <a:latin typeface="Calibri"/>
              </a:rPr>
              <a:t>Cerca del borde manda la TPS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Es precisa en el salto, donde DIP deja escalones.</a:t>
            </a:r>
            <a:endParaRPr/>
          </a:p>
        </p:txBody>
      </p:sp>
      <p:sp>
        <p:nvSpPr>
          <p:cNvPr id="284313544" name="TextBox 4"/>
          <p:cNvSpPr txBox="1"/>
          <p:nvPr/>
        </p:nvSpPr>
        <p:spPr bwMode="auto">
          <a:xfrm>
            <a:off x="6263640" y="4937759"/>
            <a:ext cx="5303520" cy="1508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600" b="1" i="0">
                <a:solidFill>
                  <a:srgbClr val="1F3B73"/>
                </a:solidFill>
                <a:latin typeface="Calibri"/>
              </a:rPr>
              <a:t>Lejos del borde manda DIP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Es más lisa en las mesetas, donde la TPS ondula. Si DIP no reproduce los puntos medidos, se descarta.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557957" name="TextBox 1"/>
          <p:cNvSpPr txBox="1"/>
          <p:nvPr/>
        </p:nvSpPr>
        <p:spPr bwMode="auto">
          <a:xfrm>
            <a:off x="548640" y="320040"/>
            <a:ext cx="11077198" cy="41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Todo junto: la receta</a:t>
            </a:r>
            <a:r>
              <a:rPr lang="es-ES" sz="2700" b="1" i="0">
                <a:solidFill>
                  <a:srgbClr val="1F3B73"/>
                </a:solidFill>
                <a:latin typeface="Calibri"/>
              </a:rPr>
              <a:t> que mande para probar con KMC</a:t>
            </a:r>
            <a:endParaRPr/>
          </a:p>
        </p:txBody>
      </p:sp>
      <p:sp>
        <p:nvSpPr>
          <p:cNvPr id="284231199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los 8 pasos con KMC real están en el apéndice</a:t>
            </a:r>
            <a:endParaRPr/>
          </a:p>
        </p:txBody>
      </p:sp>
      <p:sp>
        <p:nvSpPr>
          <p:cNvPr id="1131571186" name="Rectangle 3"/>
          <p:cNvSpPr/>
          <p:nvPr/>
        </p:nvSpPr>
        <p:spPr bwMode="auto">
          <a:xfrm>
            <a:off x="548640" y="1645920"/>
            <a:ext cx="2514600" cy="1737360"/>
          </a:xfrm>
          <a:prstGeom prst="rect">
            <a:avLst/>
          </a:prstGeom>
          <a:noFill/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9766112" name="TextBox 4"/>
          <p:cNvSpPr txBox="1"/>
          <p:nvPr/>
        </p:nvSpPr>
        <p:spPr bwMode="auto">
          <a:xfrm>
            <a:off x="731520" y="1737360"/>
            <a:ext cx="21945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2000" b="1" i="0">
                <a:solidFill>
                  <a:srgbClr val="1F3B73"/>
                </a:solidFill>
                <a:latin typeface="Calibri"/>
              </a:rPr>
              <a:t>Medir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64 puntos de KMC: grilla + bisección sobre el borde</a:t>
            </a:r>
            <a:endParaRPr/>
          </a:p>
        </p:txBody>
      </p:sp>
      <p:sp>
        <p:nvSpPr>
          <p:cNvPr id="782902777" name="Right Arrow 5"/>
          <p:cNvSpPr/>
          <p:nvPr/>
        </p:nvSpPr>
        <p:spPr bwMode="auto">
          <a:xfrm>
            <a:off x="3090672" y="2331720"/>
            <a:ext cx="274320" cy="320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854889" name="Rectangle 6"/>
          <p:cNvSpPr/>
          <p:nvPr/>
        </p:nvSpPr>
        <p:spPr bwMode="auto">
          <a:xfrm>
            <a:off x="3383280" y="1645920"/>
            <a:ext cx="2514600" cy="1737360"/>
          </a:xfrm>
          <a:prstGeom prst="rect">
            <a:avLst/>
          </a:prstGeom>
          <a:noFill/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0792718" name="TextBox 7"/>
          <p:cNvSpPr txBox="1"/>
          <p:nvPr/>
        </p:nvSpPr>
        <p:spPr bwMode="auto">
          <a:xfrm>
            <a:off x="3566160" y="1737360"/>
            <a:ext cx="21945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2000" b="1" i="0">
                <a:solidFill>
                  <a:srgbClr val="1F3B73"/>
                </a:solidFill>
                <a:latin typeface="Calibri"/>
              </a:rPr>
              <a:t>Interpolar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TPS: la superficie más lisa por los puntos (la mejor de scipy)</a:t>
            </a:r>
            <a:endParaRPr/>
          </a:p>
        </p:txBody>
      </p:sp>
      <p:sp>
        <p:nvSpPr>
          <p:cNvPr id="1164316299" name="Right Arrow 8"/>
          <p:cNvSpPr/>
          <p:nvPr/>
        </p:nvSpPr>
        <p:spPr bwMode="auto">
          <a:xfrm>
            <a:off x="5925312" y="2331720"/>
            <a:ext cx="274320" cy="320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1247488" name="Rectangle 9"/>
          <p:cNvSpPr/>
          <p:nvPr/>
        </p:nvSpPr>
        <p:spPr bwMode="auto">
          <a:xfrm>
            <a:off x="6217920" y="1645920"/>
            <a:ext cx="2514600" cy="1737360"/>
          </a:xfrm>
          <a:prstGeom prst="rect">
            <a:avLst/>
          </a:prstGeom>
          <a:noFill/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9180590" name="TextBox 10"/>
          <p:cNvSpPr txBox="1"/>
          <p:nvPr/>
        </p:nvSpPr>
        <p:spPr bwMode="auto">
          <a:xfrm>
            <a:off x="6400800" y="1737360"/>
            <a:ext cx="2203919" cy="108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2000" b="1" i="0">
                <a:solidFill>
                  <a:srgbClr val="1F3B73"/>
                </a:solidFill>
                <a:latin typeface="Calibri"/>
              </a:rPr>
              <a:t>Física</a:t>
            </a:r>
            <a:r>
              <a:rPr lang="es-ES" sz="2000" b="1" i="0">
                <a:solidFill>
                  <a:srgbClr val="1F3B73"/>
                </a:solidFill>
                <a:latin typeface="Calibri"/>
              </a:rPr>
              <a:t> (trazamos la recta)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debajo del borde SoC = 0, y el SoC no sube con ℓ ni con Ξ</a:t>
            </a:r>
            <a:endParaRPr/>
          </a:p>
        </p:txBody>
      </p:sp>
      <p:sp>
        <p:nvSpPr>
          <p:cNvPr id="1956918494" name="Right Arrow 11"/>
          <p:cNvSpPr/>
          <p:nvPr/>
        </p:nvSpPr>
        <p:spPr bwMode="auto">
          <a:xfrm>
            <a:off x="8759952" y="2331720"/>
            <a:ext cx="274320" cy="320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9432638" name="Rectangle 12"/>
          <p:cNvSpPr/>
          <p:nvPr/>
        </p:nvSpPr>
        <p:spPr bwMode="auto">
          <a:xfrm>
            <a:off x="9052560" y="1645920"/>
            <a:ext cx="2514600" cy="1737360"/>
          </a:xfrm>
          <a:prstGeom prst="rect">
            <a:avLst/>
          </a:prstGeom>
          <a:noFill/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1633393" name="TextBox 13"/>
          <p:cNvSpPr txBox="1"/>
          <p:nvPr/>
        </p:nvSpPr>
        <p:spPr bwMode="auto">
          <a:xfrm>
            <a:off x="9235440" y="1737360"/>
            <a:ext cx="21945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2000" b="1" i="0">
                <a:solidFill>
                  <a:srgbClr val="1F3B73"/>
                </a:solidFill>
                <a:latin typeface="Calibri"/>
              </a:rPr>
              <a:t>DIP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alisa las mesetas; cerca del borde manda la TPS</a:t>
            </a:r>
            <a:endParaRPr/>
          </a:p>
        </p:txBody>
      </p:sp>
      <p:pic>
        <p:nvPicPr>
          <p:cNvPr id="1206124428" name="Picture 14" descr="kmc_pasos_g-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62651" y="3611880"/>
            <a:ext cx="6236214" cy="3063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984749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Primero, en el modelo del continuo: 41 dB con 64 puntos</a:t>
            </a:r>
            <a:endParaRPr/>
          </a:p>
        </p:txBody>
      </p:sp>
      <p:sp>
        <p:nvSpPr>
          <p:cNvPr id="1012656948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arriba la imagen real, al medio la reconstrucción, abajo el error · 9 valores de g</a:t>
            </a:r>
            <a:endParaRPr/>
          </a:p>
        </p:txBody>
      </p:sp>
      <p:pic>
        <p:nvPicPr>
          <p:cNvPr id="144816139" name="Picture 3" descr="mejores_9g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594170"/>
            <a:ext cx="11430000" cy="5098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894715" name="TextBox 1"/>
          <p:cNvSpPr txBox="1"/>
          <p:nvPr/>
        </p:nvSpPr>
        <p:spPr bwMode="auto">
          <a:xfrm>
            <a:off x="548640" y="320040"/>
            <a:ext cx="11086919" cy="82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 96 puntos, sin DIP: los 9 g sobre 40 dB</a:t>
            </a:r>
            <a:endParaRPr/>
          </a:p>
        </p:txBody>
      </p:sp>
      <p:sp>
        <p:nvSpPr>
          <p:cNvPr id="2034299458" name="TextBox 2"/>
          <p:cNvSpPr txBox="1"/>
          <p:nvPr/>
        </p:nvSpPr>
        <p:spPr bwMode="auto">
          <a:xfrm>
            <a:off x="548640" y="11433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arriba la imagen real, al medio la reconstrucción, abajo el error · 9 valores de g · por esto el KMC pasa a 96 puntos</a:t>
            </a:r>
            <a:endParaRPr/>
          </a:p>
        </p:txBody>
      </p:sp>
      <p:pic>
        <p:nvPicPr>
          <p:cNvPr id="698453379" name="Picture 3" descr="mejores_9g_96pt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519757"/>
            <a:ext cx="11430000" cy="5098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387144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KMC real, g = −4</a:t>
            </a:r>
            <a:endParaRPr/>
          </a:p>
        </p:txBody>
      </p:sp>
      <p:sp>
        <p:nvSpPr>
          <p:cNvPr id="103071286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KMC reconstruido · continuo con el mismo g · diferencia</a:t>
            </a:r>
            <a:endParaRPr/>
          </a:p>
        </p:txBody>
      </p:sp>
      <p:pic>
        <p:nvPicPr>
          <p:cNvPr id="635641582" name="Picture 3" descr="vs_continu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681543"/>
            <a:ext cx="11430000" cy="34034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27793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Control (g = −4): 10 puntos al azar que no se usaron</a:t>
            </a:r>
            <a:endParaRPr/>
          </a:p>
        </p:txBody>
      </p:sp>
      <p:sp>
        <p:nvSpPr>
          <p:cNvPr id="352191826" name="TextBox 2"/>
          <p:cNvSpPr txBox="1"/>
          <p:nvPr/>
        </p:nvSpPr>
        <p:spPr bwMode="auto">
          <a:xfrm>
            <a:off x="548640" y="1005840"/>
            <a:ext cx="11116799" cy="198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s-ES" sz="1300" b="0" i="1">
                <a:solidFill>
                  <a:srgbClr val="404040"/>
                </a:solidFill>
                <a:latin typeface="Calibri"/>
              </a:rPr>
              <a:t>corrí </a:t>
            </a:r>
            <a:r>
              <a:rPr sz="1300" b="0" i="1">
                <a:solidFill>
                  <a:srgbClr val="404040"/>
                </a:solidFill>
                <a:latin typeface="Calibri"/>
              </a:rPr>
              <a:t>KMC después</a:t>
            </a:r>
            <a:r>
              <a:rPr lang="es-ES" sz="1300" b="0" i="1">
                <a:solidFill>
                  <a:srgbClr val="404040"/>
                </a:solidFill>
                <a:latin typeface="Calibri"/>
              </a:rPr>
              <a:t> en 10 puntos al azar que el método no usó y comparé con el mapa reconstruido</a:t>
            </a:r>
            <a:endParaRPr/>
          </a:p>
        </p:txBody>
      </p:sp>
      <p:pic>
        <p:nvPicPr>
          <p:cNvPr id="675649413" name="Picture 3" descr="contro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2427930"/>
            <a:ext cx="7863840" cy="3282298"/>
          </a:xfrm>
          <a:prstGeom prst="rect">
            <a:avLst/>
          </a:prstGeom>
        </p:spPr>
      </p:pic>
      <p:sp>
        <p:nvSpPr>
          <p:cNvPr id="1077160362" name="TextBox 4"/>
          <p:cNvSpPr txBox="1"/>
          <p:nvPr/>
        </p:nvSpPr>
        <p:spPr bwMode="auto">
          <a:xfrm>
            <a:off x="8503920" y="1543883"/>
            <a:ext cx="3202200" cy="609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4000" b="1" i="0">
                <a:solidFill>
                  <a:srgbClr val="1F3B73"/>
                </a:solidFill>
                <a:latin typeface="Calibri"/>
              </a:rPr>
              <a:t>0.030</a:t>
            </a:r>
            <a:endParaRPr/>
          </a:p>
        </p:txBody>
      </p:sp>
      <p:sp>
        <p:nvSpPr>
          <p:cNvPr id="429573559" name="TextBox 5"/>
          <p:cNvSpPr txBox="1"/>
          <p:nvPr/>
        </p:nvSpPr>
        <p:spPr bwMode="auto">
          <a:xfrm>
            <a:off x="8503920" y="2353222"/>
            <a:ext cx="3201120" cy="792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0">
                <a:solidFill>
                  <a:srgbClr val="404040"/>
                </a:solidFill>
                <a:latin typeface="Calibri"/>
              </a:rPr>
              <a:t>error RMS de SoC </a:t>
            </a:r>
            <a:br>
              <a:rPr sz="1300" b="0" i="0">
                <a:solidFill>
                  <a:srgbClr val="404040"/>
                </a:solidFill>
                <a:latin typeface="Calibri"/>
              </a:rPr>
            </a:br>
            <a:r>
              <a:rPr sz="1300" b="0" i="0">
                <a:solidFill>
                  <a:srgbClr val="404040"/>
                </a:solidFill>
                <a:latin typeface="Calibri"/>
              </a:rPr>
              <a:t>(TPS + DIP) = 3 % de la carga total</a:t>
            </a:r>
            <a:endParaRPr sz="1300" b="0" i="0">
              <a:solidFill>
                <a:srgbClr val="404040"/>
              </a:solidFill>
              <a:latin typeface="Calibri"/>
            </a:endParaRPr>
          </a:p>
          <a:p>
            <a:pPr algn="l">
              <a:spcAft>
                <a:spcPts val="0"/>
              </a:spcAft>
              <a:defRPr/>
            </a:pPr>
            <a:r>
              <a:rPr lang="en-US" sz="1300" b="0" i="0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eleva los errores al cuadrado, los promedia y saca la raíz</a:t>
            </a:r>
            <a:endParaRPr/>
          </a:p>
        </p:txBody>
      </p:sp>
      <p:sp>
        <p:nvSpPr>
          <p:cNvPr id="1176073757" name="TextBox 6"/>
          <p:cNvSpPr txBox="1"/>
          <p:nvPr/>
        </p:nvSpPr>
        <p:spPr bwMode="auto">
          <a:xfrm>
            <a:off x="8503920" y="3246120"/>
            <a:ext cx="3211560" cy="609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000" b="1" i="0">
                <a:solidFill>
                  <a:srgbClr val="1F3B73"/>
                </a:solidFill>
                <a:latin typeface="Calibri"/>
              </a:rPr>
              <a:t>0.068</a:t>
            </a:r>
            <a:endParaRPr/>
          </a:p>
        </p:txBody>
      </p:sp>
      <p:sp>
        <p:nvSpPr>
          <p:cNvPr id="747039701" name="TextBox 7"/>
          <p:cNvSpPr txBox="1"/>
          <p:nvPr/>
        </p:nvSpPr>
        <p:spPr bwMode="auto">
          <a:xfrm>
            <a:off x="8503920" y="3995928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0">
                <a:solidFill>
                  <a:srgbClr val="404040"/>
                </a:solidFill>
                <a:latin typeface="Calibri"/>
              </a:rPr>
              <a:t>error máximo: 7 % de la carga total (el peor de los 10)</a:t>
            </a:r>
            <a:endParaRPr/>
          </a:p>
        </p:txBody>
      </p:sp>
      <p:sp>
        <p:nvSpPr>
          <p:cNvPr id="1049358150" name="TextBox 8"/>
          <p:cNvSpPr txBox="1"/>
          <p:nvPr/>
        </p:nvSpPr>
        <p:spPr bwMode="auto">
          <a:xfrm flipH="0" flipV="0">
            <a:off x="8452842" y="4754880"/>
            <a:ext cx="3693776" cy="609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000" b="1" i="0">
                <a:solidFill>
                  <a:srgbClr val="1F3B73"/>
                </a:solidFill>
                <a:latin typeface="Calibri"/>
              </a:rPr>
              <a:t>0.042</a:t>
            </a:r>
            <a:endParaRPr/>
          </a:p>
        </p:txBody>
      </p:sp>
      <p:sp>
        <p:nvSpPr>
          <p:cNvPr id="563428453" name="TextBox 9"/>
          <p:cNvSpPr txBox="1"/>
          <p:nvPr/>
        </p:nvSpPr>
        <p:spPr bwMode="auto">
          <a:xfrm>
            <a:off x="8510760" y="5710227"/>
            <a:ext cx="3204720" cy="396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>
                <a:solidFill>
                  <a:srgbClr val="404040"/>
                </a:solidFill>
                <a:latin typeface="Calibri"/>
              </a:rPr>
              <a:t>error RMS con la TPS sola (sin DIP): </a:t>
            </a:r>
            <a:br>
              <a:rPr sz="1300" b="0" i="0">
                <a:solidFill>
                  <a:srgbClr val="404040"/>
                </a:solidFill>
                <a:latin typeface="Calibri"/>
              </a:rPr>
            </a:br>
            <a:r>
              <a:rPr sz="1300" b="0" i="0">
                <a:solidFill>
                  <a:srgbClr val="404040"/>
                </a:solidFill>
                <a:latin typeface="Calibri"/>
              </a:rPr>
              <a:t>DIP baja el error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833935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KMC real, g = +3</a:t>
            </a:r>
            <a:endParaRPr/>
          </a:p>
        </p:txBody>
      </p:sp>
      <p:sp>
        <p:nvSpPr>
          <p:cNvPr id="544207299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KMC reconstruido · continuo con el mismo g · diferencia</a:t>
            </a:r>
            <a:endParaRPr/>
          </a:p>
        </p:txBody>
      </p:sp>
      <p:pic>
        <p:nvPicPr>
          <p:cNvPr id="893315515" name="Picture 3" descr="vs_continu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1681543"/>
            <a:ext cx="11430000" cy="34034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091820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Control (g = +3): 10 puntos al azar que no se usaron</a:t>
            </a:r>
            <a:endParaRPr/>
          </a:p>
        </p:txBody>
      </p:sp>
      <p:sp>
        <p:nvSpPr>
          <p:cNvPr id="407082553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se corren con KMC después y se comparan con lo que predice el mapa</a:t>
            </a:r>
            <a:endParaRPr/>
          </a:p>
        </p:txBody>
      </p:sp>
      <p:pic>
        <p:nvPicPr>
          <p:cNvPr id="1548725115" name="Picture 3" descr="control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2427930"/>
            <a:ext cx="7863840" cy="3282298"/>
          </a:xfrm>
          <a:prstGeom prst="rect">
            <a:avLst/>
          </a:prstGeom>
        </p:spPr>
      </p:pic>
      <p:sp>
        <p:nvSpPr>
          <p:cNvPr id="268959915" name="TextBox 4"/>
          <p:cNvSpPr txBox="1"/>
          <p:nvPr/>
        </p:nvSpPr>
        <p:spPr bwMode="auto">
          <a:xfrm>
            <a:off x="8503920" y="173736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4000" b="1" i="0">
                <a:solidFill>
                  <a:srgbClr val="1F3B73"/>
                </a:solidFill>
                <a:latin typeface="Calibri"/>
              </a:rPr>
              <a:t>0.022</a:t>
            </a:r>
            <a:endParaRPr/>
          </a:p>
        </p:txBody>
      </p:sp>
      <p:sp>
        <p:nvSpPr>
          <p:cNvPr id="1349837513" name="TextBox 5"/>
          <p:cNvSpPr txBox="1"/>
          <p:nvPr/>
        </p:nvSpPr>
        <p:spPr bwMode="auto">
          <a:xfrm>
            <a:off x="8503920" y="2487168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0">
                <a:solidFill>
                  <a:srgbClr val="404040"/>
                </a:solidFill>
                <a:latin typeface="Calibri"/>
              </a:rPr>
              <a:t>error RMS de SoC</a:t>
            </a:r>
            <a:br>
              <a:rPr sz="1300" b="0" i="0">
                <a:solidFill>
                  <a:srgbClr val="404040"/>
                </a:solidFill>
                <a:latin typeface="Calibri"/>
              </a:rPr>
            </a:br>
            <a:r>
              <a:rPr sz="1300" b="0" i="0">
                <a:solidFill>
                  <a:srgbClr val="404040"/>
                </a:solidFill>
                <a:latin typeface="Calibri"/>
              </a:rPr>
              <a:t>(TPS + DIP)</a:t>
            </a:r>
            <a:endParaRPr/>
          </a:p>
        </p:txBody>
      </p:sp>
      <p:sp>
        <p:nvSpPr>
          <p:cNvPr id="1745900469" name="TextBox 6"/>
          <p:cNvSpPr txBox="1"/>
          <p:nvPr/>
        </p:nvSpPr>
        <p:spPr bwMode="auto">
          <a:xfrm>
            <a:off x="8503920" y="324612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4000" b="1" i="0">
                <a:solidFill>
                  <a:srgbClr val="1F3B73"/>
                </a:solidFill>
                <a:latin typeface="Calibri"/>
              </a:rPr>
              <a:t>0.042</a:t>
            </a:r>
            <a:endParaRPr/>
          </a:p>
        </p:txBody>
      </p:sp>
      <p:sp>
        <p:nvSpPr>
          <p:cNvPr id="251920662" name="TextBox 7"/>
          <p:cNvSpPr txBox="1"/>
          <p:nvPr/>
        </p:nvSpPr>
        <p:spPr bwMode="auto">
          <a:xfrm>
            <a:off x="8503920" y="3995928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0">
                <a:solidFill>
                  <a:srgbClr val="404040"/>
                </a:solidFill>
                <a:latin typeface="Calibri"/>
              </a:rPr>
              <a:t>error máximo</a:t>
            </a:r>
            <a:endParaRPr/>
          </a:p>
        </p:txBody>
      </p:sp>
      <p:sp>
        <p:nvSpPr>
          <p:cNvPr id="50211682" name="TextBox 8"/>
          <p:cNvSpPr txBox="1"/>
          <p:nvPr/>
        </p:nvSpPr>
        <p:spPr bwMode="auto">
          <a:xfrm>
            <a:off x="8503920" y="47548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4000" b="1" i="0">
                <a:solidFill>
                  <a:srgbClr val="1F3B73"/>
                </a:solidFill>
                <a:latin typeface="Calibri"/>
              </a:rPr>
              <a:t>0.040</a:t>
            </a:r>
            <a:endParaRPr/>
          </a:p>
        </p:txBody>
      </p:sp>
      <p:sp>
        <p:nvSpPr>
          <p:cNvPr id="53206766" name="TextBox 9"/>
          <p:cNvSpPr txBox="1"/>
          <p:nvPr/>
        </p:nvSpPr>
        <p:spPr bwMode="auto">
          <a:xfrm>
            <a:off x="8503920" y="5504687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0">
                <a:solidFill>
                  <a:srgbClr val="404040"/>
                </a:solidFill>
                <a:latin typeface="Calibri"/>
              </a:rPr>
              <a:t>error RMS con</a:t>
            </a:r>
            <a:br>
              <a:rPr sz="1300" b="0" i="0">
                <a:solidFill>
                  <a:srgbClr val="404040"/>
                </a:solidFill>
                <a:latin typeface="Calibri"/>
              </a:rPr>
            </a:br>
            <a:r>
              <a:rPr sz="1300" b="0" i="0">
                <a:solidFill>
                  <a:srgbClr val="404040"/>
                </a:solidFill>
                <a:latin typeface="Calibri"/>
              </a:rPr>
              <a:t>la TPS sola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505530" name="TextBox 1"/>
          <p:cNvSpPr txBox="1"/>
          <p:nvPr/>
        </p:nvSpPr>
        <p:spPr bwMode="auto">
          <a:xfrm>
            <a:off x="548639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Cómo estamos corriendo los puntos de KMC</a:t>
            </a:r>
            <a:endParaRPr/>
          </a:p>
        </p:txBody>
      </p:sp>
      <p:sp>
        <p:nvSpPr>
          <p:cNvPr id="825405313" name="TextBox 2"/>
          <p:cNvSpPr txBox="1"/>
          <p:nvPr/>
        </p:nvSpPr>
        <p:spPr bwMode="auto">
          <a:xfrm>
            <a:off x="548640" y="1005840"/>
            <a:ext cx="11081159" cy="198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s-ES" sz="1300" b="0" i="1">
                <a:solidFill>
                  <a:srgbClr val="404040"/>
                </a:solidFill>
                <a:latin typeface="Calibri"/>
              </a:rPr>
              <a:t>A REVISAR: NO SÉ SI LO ESTOY CORRIENDO BIEN</a:t>
            </a:r>
            <a:endParaRPr/>
          </a:p>
        </p:txBody>
      </p:sp>
      <p:sp>
        <p:nvSpPr>
          <p:cNvPr id="1427506164" name="TextBox 3"/>
          <p:cNvSpPr txBox="1"/>
          <p:nvPr/>
        </p:nvSpPr>
        <p:spPr bwMode="auto">
          <a:xfrm>
            <a:off x="548640" y="1463040"/>
            <a:ext cx="6717959" cy="3007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800"/>
              </a:spcAft>
              <a:buChar char="•"/>
              <a:defRPr/>
            </a:pPr>
            <a:r>
              <a:rPr sz="1500" b="1" i="0">
                <a:solidFill>
                  <a:srgbClr val="404040"/>
                </a:solidFill>
                <a:latin typeface="Calibri"/>
              </a:rPr>
              <a:t>Programa: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KMC, red CS-40×20×40.</a:t>
            </a:r>
            <a:endParaRPr/>
          </a:p>
          <a:p>
            <a:pPr marL="256032" indent="-256032" algn="l">
              <a:spcAft>
                <a:spcPts val="800"/>
              </a:spcAft>
              <a:buChar char="•"/>
              <a:defRPr/>
            </a:pPr>
            <a:r>
              <a:rPr sz="1500" b="1" i="0">
                <a:solidFill>
                  <a:srgbClr val="404040"/>
                </a:solidFill>
                <a:latin typeface="Calibri"/>
              </a:rPr>
              <a:t>Cada punto: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./kmc_fast  Ξ  ℓ  réplica  g  →  descarga hasta el potencial de corte</a:t>
            </a:r>
            <a:r>
              <a:rPr lang="es-ES" sz="1500" b="0" i="0">
                <a:solidFill>
                  <a:srgbClr val="404040"/>
                </a:solidFill>
                <a:latin typeface="Calibri"/>
              </a:rPr>
              <a:t>.</a:t>
            </a:r>
            <a:endParaRPr/>
          </a:p>
          <a:p>
            <a:pPr marL="256032" indent="-256032" algn="l">
              <a:spcAft>
                <a:spcPts val="800"/>
              </a:spcAft>
              <a:buChar char="•"/>
              <a:defRPr/>
            </a:pPr>
            <a:r>
              <a:rPr sz="1500" b="1" i="0">
                <a:solidFill>
                  <a:srgbClr val="404040"/>
                </a:solidFill>
                <a:latin typeface="Calibri"/>
              </a:rPr>
              <a:t>Réplicas: </a:t>
            </a:r>
            <a:r>
              <a:rPr lang="es-ES" sz="1500" b="0" i="0">
                <a:solidFill>
                  <a:srgbClr val="404040"/>
                </a:solidFill>
                <a:latin typeface="Calibri"/>
              </a:rPr>
              <a:t>se le pone el nombre de la simulacion generada.</a:t>
            </a:r>
            <a:endParaRPr/>
          </a:p>
          <a:p>
            <a:pPr marL="256032" indent="-256032" algn="l">
              <a:spcAft>
                <a:spcPts val="800"/>
              </a:spcAft>
              <a:buChar char="•"/>
              <a:defRPr/>
            </a:pPr>
            <a:r>
              <a:rPr sz="1500" b="1" i="0">
                <a:solidFill>
                  <a:srgbClr val="404040"/>
                </a:solidFill>
                <a:latin typeface="Calibri"/>
              </a:rPr>
              <a:t>Dónde: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Serafín,</a:t>
            </a:r>
            <a:r>
              <a:rPr lang="es-ES" sz="1500" b="0" i="0">
                <a:solidFill>
                  <a:srgbClr val="404040"/>
                </a:solidFill>
                <a:latin typeface="Calibri"/>
              </a:rPr>
              <a:t>??.</a:t>
            </a:r>
            <a:endParaRPr/>
          </a:p>
          <a:p>
            <a:pPr marL="256032" indent="-256032" algn="l">
              <a:spcAft>
                <a:spcPts val="800"/>
              </a:spcAft>
              <a:buChar char="•"/>
              <a:defRPr/>
            </a:pPr>
            <a:r>
              <a:rPr sz="1500" b="1" i="0">
                <a:solidFill>
                  <a:srgbClr val="404040"/>
                </a:solidFill>
                <a:latin typeface="Calibri"/>
              </a:rPr>
              <a:t>Tope: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8 h por corrida. </a:t>
            </a:r>
            <a:r>
              <a:rPr lang="es-ES" sz="1500" b="0" i="0">
                <a:solidFill>
                  <a:srgbClr val="404040"/>
                </a:solidFill>
                <a:latin typeface="Calibri"/>
              </a:rPr>
              <a:t>A CHEKEAR</a:t>
            </a:r>
            <a:endParaRPr lang="es-ES" sz="1500" b="0" i="0">
              <a:solidFill>
                <a:srgbClr val="404040"/>
              </a:solidFill>
              <a:latin typeface="Calibri"/>
            </a:endParaRPr>
          </a:p>
          <a:p>
            <a:pPr marL="256032" indent="-256032" algn="l">
              <a:spcAft>
                <a:spcPts val="799"/>
              </a:spcAft>
              <a:buChar char="•"/>
              <a:defRPr/>
            </a:pPr>
            <a:endParaRPr/>
          </a:p>
          <a:p>
            <a:pPr marL="256032" indent="-256032" algn="l">
              <a:spcAft>
                <a:spcPts val="799"/>
              </a:spcAft>
              <a:buChar char="•"/>
              <a:defRPr/>
            </a:pPr>
            <a:endParaRPr/>
          </a:p>
          <a:p>
            <a:pPr marL="256032" indent="-256032" algn="l">
              <a:spcAft>
                <a:spcPts val="799"/>
              </a:spcAft>
              <a:buChar char="•"/>
              <a:defRPr/>
            </a:pPr>
            <a:r>
              <a:rPr lang="es-ES" sz="1500" b="0" i="0">
                <a:solidFill>
                  <a:srgbClr val="404040"/>
                </a:solidFill>
                <a:latin typeface="Calibri"/>
              </a:rPr>
              <a:t>Ejemplo de corrida: </a:t>
            </a:r>
            <a:r>
              <a:rPr lang="es-ES" sz="1500" b="1" i="0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./kmc_fast -1.024 -0.504 1 -4</a:t>
            </a:r>
            <a:endParaRPr b="1"/>
          </a:p>
          <a:p>
            <a:pPr algn="l">
              <a:spcAft>
                <a:spcPts val="800"/>
              </a:spcAft>
              <a:defRPr/>
            </a:pPr>
            <a:endParaRPr/>
          </a:p>
        </p:txBody>
      </p:sp>
      <p:sp>
        <p:nvSpPr>
          <p:cNvPr id="299503194" name="TextBox 4"/>
          <p:cNvSpPr txBox="1"/>
          <p:nvPr/>
        </p:nvSpPr>
        <p:spPr bwMode="auto">
          <a:xfrm>
            <a:off x="7500221" y="1143000"/>
            <a:ext cx="3988798" cy="1742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550" b="1" i="0">
                <a:solidFill>
                  <a:srgbClr val="1F3B73"/>
                </a:solidFill>
                <a:latin typeface="Calibri"/>
              </a:rPr>
              <a:t>Dudas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350" b="0" i="0">
                <a:solidFill>
                  <a:srgbClr val="404040"/>
                </a:solidFill>
                <a:latin typeface="Calibri"/>
              </a:rPr>
              <a:t>El tamaño de red y el corte de potencial son los adecuados?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350" b="0" i="0">
                <a:solidFill>
                  <a:srgbClr val="404040"/>
                </a:solidFill>
                <a:latin typeface="Calibri"/>
              </a:rPr>
              <a:t>Cuántas réplicas hacen falta por punto?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350" b="0" i="0">
                <a:solidFill>
                  <a:srgbClr val="404040"/>
                </a:solidFill>
                <a:latin typeface="Calibri"/>
              </a:rPr>
              <a:t>log ℓ &lt; −3.3: no termina ni en 48 h. Se puede acelerar, o no hace falta esa zona</a:t>
            </a:r>
            <a:r>
              <a:rPr lang="es-ES" sz="1350" b="0" i="0">
                <a:solidFill>
                  <a:srgbClr val="404040"/>
                </a:solidFill>
                <a:latin typeface="Calibri"/>
              </a:rPr>
              <a:t>?,  o como lo comparo</a:t>
            </a:r>
            <a:r>
              <a:rPr sz="1350" b="0" i="0">
                <a:solidFill>
                  <a:srgbClr val="404040"/>
                </a:solidFill>
                <a:latin typeface="Calibri"/>
              </a:rPr>
              <a:t>?</a:t>
            </a:r>
            <a:endParaRPr/>
          </a:p>
          <a:p>
            <a:pPr algn="l">
              <a:spcAft>
                <a:spcPts val="400"/>
              </a:spcAft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092517" name="TextBox 1"/>
          <p:cNvSpPr txBox="1"/>
          <p:nvPr/>
        </p:nvSpPr>
        <p:spPr bwMode="auto">
          <a:xfrm>
            <a:off x="548640" y="320040"/>
            <a:ext cx="11069639" cy="41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s-ES" sz="2700" b="1" i="0">
                <a:solidFill>
                  <a:srgbClr val="1F3B73"/>
                </a:solidFill>
                <a:latin typeface="Calibri"/>
              </a:rPr>
              <a:t>Consultas</a:t>
            </a:r>
            <a:endParaRPr/>
          </a:p>
        </p:txBody>
      </p:sp>
      <p:sp>
        <p:nvSpPr>
          <p:cNvPr id="1246664189" name="TextBox 2"/>
          <p:cNvSpPr txBox="1"/>
          <p:nvPr/>
        </p:nvSpPr>
        <p:spPr bwMode="auto">
          <a:xfrm>
            <a:off x="548640" y="1508758"/>
            <a:ext cx="5258879" cy="818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700" b="1" i="0">
                <a:solidFill>
                  <a:srgbClr val="1F3B73"/>
                </a:solidFill>
                <a:latin typeface="Calibri"/>
              </a:rPr>
              <a:t>¿Es esperable?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500" b="0" i="0">
                <a:solidFill>
                  <a:srgbClr val="404040"/>
                </a:solidFill>
                <a:latin typeface="Calibri"/>
              </a:rPr>
              <a:t>g = −4: el borde del KMC está ~0.4 más abajo que en el continuo.</a:t>
            </a:r>
            <a:endParaRPr sz="1500" b="0" i="0">
              <a:solidFill>
                <a:srgbClr val="404040"/>
              </a:solidFill>
              <a:latin typeface="Calibri"/>
            </a:endParaRPr>
          </a:p>
          <a:p>
            <a:pPr algn="l">
              <a:spcAft>
                <a:spcPts val="398"/>
              </a:spcAft>
              <a:defRPr/>
            </a:pPr>
            <a:r>
              <a:rPr sz="1500" b="0" i="0">
                <a:solidFill>
                  <a:srgbClr val="404040"/>
                </a:solidFill>
                <a:latin typeface="Calibri"/>
              </a:rPr>
              <a:t>g = +3: la transición del KMC es más ancha y empieza antes.</a:t>
            </a:r>
            <a:endParaRPr/>
          </a:p>
        </p:txBody>
      </p:sp>
      <p:sp>
        <p:nvSpPr>
          <p:cNvPr id="2062077374" name="TextBox 3"/>
          <p:cNvSpPr txBox="1"/>
          <p:nvPr/>
        </p:nvSpPr>
        <p:spPr bwMode="auto">
          <a:xfrm flipH="0" flipV="0">
            <a:off x="6309358" y="1508758"/>
            <a:ext cx="5259599" cy="76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700" b="1" i="0">
                <a:solidFill>
                  <a:srgbClr val="1F3B73"/>
                </a:solidFill>
                <a:latin typeface="Calibri"/>
              </a:rPr>
              <a:t>Ξ alto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500" b="0" i="0">
                <a:solidFill>
                  <a:srgbClr val="404040"/>
                </a:solidFill>
                <a:latin typeface="Calibri"/>
              </a:rPr>
              <a:t>En la franja</a:t>
            </a:r>
            <a:r>
              <a:rPr lang="es-ES" sz="1500" b="0" i="0">
                <a:solidFill>
                  <a:srgbClr val="404040"/>
                </a:solidFill>
                <a:latin typeface="Calibri"/>
              </a:rPr>
              <a:t> </a:t>
            </a:r>
            <a:r>
              <a:rPr sz="1500" b="0" i="0">
                <a:solidFill>
                  <a:srgbClr val="404040"/>
                </a:solidFill>
                <a:latin typeface="Calibri"/>
              </a:rPr>
              <a:t> el KMC da un SoC menor que justo debajo, en todos los g. Física o algo de la simulación?</a:t>
            </a:r>
            <a:endParaRPr/>
          </a:p>
        </p:txBody>
      </p:sp>
      <p:sp>
        <p:nvSpPr>
          <p:cNvPr id="1744113255" name="TextBox 4"/>
          <p:cNvSpPr txBox="1"/>
          <p:nvPr/>
        </p:nvSpPr>
        <p:spPr bwMode="auto">
          <a:xfrm>
            <a:off x="640080" y="4114800"/>
            <a:ext cx="5280119" cy="767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700" b="1" i="0">
                <a:solidFill>
                  <a:srgbClr val="1F3B73"/>
                </a:solidFill>
                <a:latin typeface="Calibri"/>
              </a:rPr>
              <a:t>ℓ chico</a:t>
            </a:r>
            <a:endParaRPr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pPr>
            <a:r>
              <a:rPr sz="1500" b="0" i="0">
                <a:solidFill>
                  <a:srgbClr val="404040"/>
                </a:solidFill>
                <a:latin typeface="Calibri"/>
              </a:rPr>
              <a:t>Con log ℓ &lt; −3.3 las corridas no term</a:t>
            </a:r>
            <a:r>
              <a:rPr lang="en-US" sz="1500" b="0" i="0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inan ni en 48 h. Necesitamos esa zona? Se pueden acelerar?</a:t>
            </a:r>
            <a:r>
              <a:rPr lang="en-US" sz="1500" b="0" i="0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osea meter un limite de tiempo</a:t>
            </a:r>
            <a:r>
              <a:rPr lang="es-ES" sz="1500" b="0" i="0" u="none" strike="noStrike" cap="none" spc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.</a:t>
            </a:r>
            <a:endParaRPr/>
          </a:p>
        </p:txBody>
      </p:sp>
      <p:sp>
        <p:nvSpPr>
          <p:cNvPr id="2045583769" name="TextBox 5"/>
          <p:cNvSpPr txBox="1"/>
          <p:nvPr/>
        </p:nvSpPr>
        <p:spPr bwMode="auto">
          <a:xfrm>
            <a:off x="6309358" y="4114800"/>
            <a:ext cx="5265359" cy="996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700" b="1" i="0">
                <a:solidFill>
                  <a:srgbClr val="1F3B73"/>
                </a:solidFill>
                <a:latin typeface="Calibri"/>
              </a:rPr>
              <a:t>Siguiente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500" b="0" i="0">
                <a:solidFill>
                  <a:srgbClr val="404040"/>
                </a:solidFill>
                <a:latin typeface="Calibri"/>
              </a:rPr>
              <a:t>Los 9 g pasan a 96 puntos (en el continuo, con 96 los 9 g superan 40 dB) y corren solos en el cluster. Los nodos reservados de Serafín vencen </a:t>
            </a:r>
            <a:r>
              <a:rPr lang="es-ES" sz="1500" b="0" i="0">
                <a:solidFill>
                  <a:srgbClr val="404040"/>
                </a:solidFill>
                <a:latin typeface="Calibri"/>
              </a:rPr>
              <a:t>en los proximos dias.</a:t>
            </a:r>
            <a:endParaRPr/>
          </a:p>
        </p:txBody>
      </p:sp>
      <p:sp>
        <p:nvSpPr>
          <p:cNvPr id="1525213964" name=""/>
          <p:cNvSpPr txBox="1"/>
          <p:nvPr/>
        </p:nvSpPr>
        <p:spPr bwMode="auto">
          <a:xfrm rot="0" flipH="0" flipV="0">
            <a:off x="1087968" y="2976562"/>
            <a:ext cx="7041278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/>
              <a:t>probar g-8 a  g+4  con intervvalos de a 1 </a:t>
            </a:r>
            <a:br>
              <a:rPr lang="es-ES"/>
            </a:br>
            <a:r>
              <a:rPr lang="es-ES"/>
              <a:t>tirar mas puntos en los lugar que mas diff vemos con respecto al continuo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349432" name="TextBox 1"/>
          <p:cNvSpPr txBox="1"/>
          <p:nvPr/>
        </p:nvSpPr>
        <p:spPr bwMode="auto">
          <a:xfrm>
            <a:off x="640080" y="2377440"/>
            <a:ext cx="11000159" cy="1097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600" b="1" i="0">
                <a:solidFill>
                  <a:srgbClr val="1F3B73"/>
                </a:solidFill>
                <a:latin typeface="Calibri"/>
              </a:rPr>
              <a:t>Apéndice: cómo funciona cada paso</a:t>
            </a:r>
            <a:r>
              <a:rPr lang="es-ES" sz="2000" b="0" i="0">
                <a:solidFill>
                  <a:srgbClr val="1F3B73"/>
                </a:solidFill>
                <a:latin typeface="Calibri"/>
              </a:rPr>
              <a:t> (no hace falta verlo; más para cuando escriba la tesis)</a:t>
            </a:r>
            <a:endParaRPr/>
          </a:p>
        </p:txBody>
      </p:sp>
      <p:sp>
        <p:nvSpPr>
          <p:cNvPr id="885670067" name="TextBox 2"/>
          <p:cNvSpPr txBox="1"/>
          <p:nvPr/>
        </p:nvSpPr>
        <p:spPr bwMode="auto"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900" b="0" i="0">
                <a:solidFill>
                  <a:srgbClr val="404040"/>
                </a:solidFill>
                <a:latin typeface="Calibri"/>
              </a:rPr>
              <a:t>el problema · los 8 pasos de la reconstrucción con KMC real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713840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El problema: cada punto de KMC cuesta horas</a:t>
            </a:r>
            <a:endParaRPr/>
          </a:p>
        </p:txBody>
      </p:sp>
      <p:pic>
        <p:nvPicPr>
          <p:cNvPr id="2020633665" name="Picture 2" descr="problema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2550977"/>
            <a:ext cx="6949440" cy="2579005"/>
          </a:xfrm>
          <a:prstGeom prst="rect">
            <a:avLst/>
          </a:prstGeom>
        </p:spPr>
      </p:pic>
      <p:sp>
        <p:nvSpPr>
          <p:cNvPr id="569966251" name="TextBox 3"/>
          <p:cNvSpPr txBox="1"/>
          <p:nvPr/>
        </p:nvSpPr>
        <p:spPr bwMode="auto">
          <a:xfrm>
            <a:off x="7863840" y="1554480"/>
            <a:ext cx="370332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defRPr/>
            </a:pPr>
            <a:r>
              <a:rPr sz="1700" b="1" i="0">
                <a:solidFill>
                  <a:srgbClr val="1F3B73"/>
                </a:solidFill>
                <a:latin typeface="Calibri"/>
              </a:rPr>
              <a:t>La idea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500" b="0" i="0">
                <a:solidFill>
                  <a:srgbClr val="404040"/>
                </a:solidFill>
                <a:latin typeface="Calibri"/>
              </a:rPr>
              <a:t>Correr KMC en pocos puntos (64) del plano (log Ξ, log ℓ).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500" b="0" i="0">
                <a:solidFill>
                  <a:srgbClr val="404040"/>
                </a:solidFill>
                <a:latin typeface="Calibri"/>
              </a:rPr>
              <a:t>Reconstruir el mapa completo de 128 × 128 a partir de esos puntos.</a:t>
            </a:r>
            <a:endParaRPr/>
          </a:p>
          <a:p>
            <a:pPr algn="l">
              <a:spcAft>
                <a:spcPts val="400"/>
              </a:spcAft>
              <a:defRPr/>
            </a:pPr>
            <a:r>
              <a:rPr sz="1500" b="0" i="0">
                <a:solidFill>
                  <a:srgbClr val="404040"/>
                </a:solidFill>
                <a:latin typeface="Calibri"/>
              </a:rPr>
              <a:t>Primero se afinó todo con el modelo del continuo, donde sí se conoce la imagen completa y se puede medir el error.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95626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 KMC real, g = −4: de los 64 puntos al mapa final</a:t>
            </a:r>
            <a:endParaRPr/>
          </a:p>
        </p:txBody>
      </p:sp>
      <p:sp>
        <p:nvSpPr>
          <p:cNvPr id="1054896535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paso 1 de 8</a:t>
            </a:r>
            <a:endParaRPr/>
          </a:p>
        </p:txBody>
      </p:sp>
      <p:pic>
        <p:nvPicPr>
          <p:cNvPr id="715160314" name="Picture 3" descr="kmc_pasos_g-4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08759" y="1463040"/>
            <a:ext cx="9144000" cy="4572000"/>
          </a:xfrm>
          <a:prstGeom prst="rect">
            <a:avLst/>
          </a:prstGeom>
        </p:spPr>
      </p:pic>
      <p:sp>
        <p:nvSpPr>
          <p:cNvPr id="895228420" name="TextBox 4"/>
          <p:cNvSpPr txBox="1"/>
          <p:nvPr/>
        </p:nvSpPr>
        <p:spPr bwMode="auto"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1. Los 64 valores de SoC del KMC: lo único que hay.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786122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 KMC real, g = −4: de los 64 puntos al mapa final</a:t>
            </a:r>
            <a:endParaRPr/>
          </a:p>
        </p:txBody>
      </p:sp>
      <p:sp>
        <p:nvSpPr>
          <p:cNvPr id="1431068603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paso 2 de 8</a:t>
            </a:r>
            <a:endParaRPr/>
          </a:p>
        </p:txBody>
      </p:sp>
      <p:pic>
        <p:nvPicPr>
          <p:cNvPr id="1793637279" name="Picture 3" descr="kmc_pasos_g-4_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08759" y="1463040"/>
            <a:ext cx="9144000" cy="4572000"/>
          </a:xfrm>
          <a:prstGeom prst="rect">
            <a:avLst/>
          </a:prstGeom>
        </p:spPr>
      </p:pic>
      <p:sp>
        <p:nvSpPr>
          <p:cNvPr id="1889974844" name="TextBox 4"/>
          <p:cNvSpPr txBox="1"/>
          <p:nvPr/>
        </p:nvSpPr>
        <p:spPr bwMode="auto"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2. TPS sola (scipy, thin-plate spline): se pasa de 0 y de 1 y ondula en el frente. Sola no sirve.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1674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 KMC real, g = −4: de los 64 puntos al mapa final</a:t>
            </a:r>
            <a:endParaRPr/>
          </a:p>
        </p:txBody>
      </p:sp>
      <p:sp>
        <p:nvSpPr>
          <p:cNvPr id="879373989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paso 3 de 8</a:t>
            </a:r>
            <a:endParaRPr/>
          </a:p>
        </p:txBody>
      </p:sp>
      <p:pic>
        <p:nvPicPr>
          <p:cNvPr id="88812842" name="Picture 3" descr="kmc_pasos_g-4_3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08759" y="1463040"/>
            <a:ext cx="9144000" cy="4572000"/>
          </a:xfrm>
          <a:prstGeom prst="rect">
            <a:avLst/>
          </a:prstGeom>
        </p:spPr>
      </p:pic>
      <p:sp>
        <p:nvSpPr>
          <p:cNvPr id="891650782" name="TextBox 4"/>
          <p:cNvSpPr txBox="1"/>
          <p:nvPr/>
        </p:nvSpPr>
        <p:spPr bwMode="auto"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3. Borde: aristas cortas de Delaunay entre un punto ≈ 0 y uno alto; sus puntos medios (★) → recta. El salto es real: a 1 px, el KMC da 0.77 y 0.00.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699748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 KMC real, g = −4: de los 64 puntos al mapa final</a:t>
            </a:r>
            <a:endParaRPr/>
          </a:p>
        </p:txBody>
      </p:sp>
      <p:sp>
        <p:nvSpPr>
          <p:cNvPr id="1376109251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paso 4 de 8</a:t>
            </a:r>
            <a:endParaRPr/>
          </a:p>
        </p:txBody>
      </p:sp>
      <p:pic>
        <p:nvPicPr>
          <p:cNvPr id="1419884851" name="Picture 3" descr="kmc_pasos_g-4_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08759" y="1463040"/>
            <a:ext cx="9144000" cy="4572000"/>
          </a:xfrm>
          <a:prstGeom prst="rect">
            <a:avLst/>
          </a:prstGeom>
        </p:spPr>
      </p:pic>
      <p:sp>
        <p:nvSpPr>
          <p:cNvPr id="927871664" name="TextBox 4"/>
          <p:cNvSpPr txBox="1"/>
          <p:nvPr/>
        </p:nvSpPr>
        <p:spPr bwMode="auto"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4. Debajo de la recta, 0. Arriba, TPS solo con los puntos de arriba, alineada al borde.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015327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 KMC real, g = −4: de los 64 puntos al mapa final</a:t>
            </a:r>
            <a:endParaRPr/>
          </a:p>
        </p:txBody>
      </p:sp>
      <p:sp>
        <p:nvSpPr>
          <p:cNvPr id="624722466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paso 5 de 8</a:t>
            </a:r>
            <a:endParaRPr/>
          </a:p>
        </p:txBody>
      </p:sp>
      <p:pic>
        <p:nvPicPr>
          <p:cNvPr id="192933837" name="Picture 3" descr="kmc_pasos_g-4_5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08759" y="1463040"/>
            <a:ext cx="9144000" cy="4572000"/>
          </a:xfrm>
          <a:prstGeom prst="rect">
            <a:avLst/>
          </a:prstGeom>
        </p:spPr>
      </p:pic>
      <p:sp>
        <p:nvSpPr>
          <p:cNvPr id="876725746" name="TextBox 4"/>
          <p:cNvSpPr txBox="1"/>
          <p:nvPr/>
        </p:nvSpPr>
        <p:spPr bwMode="auto"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5. + cotas y proyección monótona (el SoC no sube con ℓ ni con Ξ) = TPS con restricciones físicas.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300209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 KMC real, g = −4: de los 64 puntos al mapa final</a:t>
            </a:r>
            <a:endParaRPr/>
          </a:p>
        </p:txBody>
      </p:sp>
      <p:sp>
        <p:nvSpPr>
          <p:cNvPr id="1981439696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paso 6 de 8</a:t>
            </a:r>
            <a:endParaRPr/>
          </a:p>
        </p:txBody>
      </p:sp>
      <p:pic>
        <p:nvPicPr>
          <p:cNvPr id="1347531919" name="Picture 3" descr="kmc_pasos_g-4_6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08759" y="1463040"/>
            <a:ext cx="9144000" cy="4572000"/>
          </a:xfrm>
          <a:prstGeom prst="rect">
            <a:avLst/>
          </a:prstGeom>
        </p:spPr>
      </p:pic>
      <p:sp>
        <p:nvSpPr>
          <p:cNvPr id="305756816" name="TextBox 4"/>
          <p:cNvSpPr txBox="1"/>
          <p:nvPr/>
        </p:nvSpPr>
        <p:spPr bwMode="auto"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6. DIP: la red ve los puntos + ceros debajo del borde; 2 semillas, queda la que mejor ajusta los puntos.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620480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 KMC real, g = −4: de los 64 puntos al mapa final</a:t>
            </a:r>
            <a:endParaRPr/>
          </a:p>
        </p:txBody>
      </p:sp>
      <p:sp>
        <p:nvSpPr>
          <p:cNvPr id="1995205075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paso 7 de 8</a:t>
            </a:r>
            <a:endParaRPr/>
          </a:p>
        </p:txBody>
      </p:sp>
      <p:pic>
        <p:nvPicPr>
          <p:cNvPr id="2011337453" name="Picture 3" descr="kmc_pasos_g-4_7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08759" y="1463040"/>
            <a:ext cx="9144000" cy="4572000"/>
          </a:xfrm>
          <a:prstGeom prst="rect">
            <a:avLst/>
          </a:prstGeom>
        </p:spPr>
      </p:pic>
      <p:sp>
        <p:nvSpPr>
          <p:cNvPr id="1212647102" name="TextBox 4"/>
          <p:cNvSpPr txBox="1"/>
          <p:nvPr/>
        </p:nvSpPr>
        <p:spPr bwMode="auto"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7. Peso de la mezcla: 1 pegado al borde (TPS), 0 lejos (DIP).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06339" name="TextBox 1"/>
          <p:cNvSpPr txBox="1"/>
          <p:nvPr/>
        </p:nvSpPr>
        <p:spPr bwMode="auto"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2700" b="1" i="0">
                <a:solidFill>
                  <a:srgbClr val="1F3B73"/>
                </a:solidFill>
                <a:latin typeface="Calibri"/>
              </a:rPr>
              <a:t>Con KMC real, g = −4: de los 64 puntos al mapa final</a:t>
            </a:r>
            <a:endParaRPr/>
          </a:p>
        </p:txBody>
      </p:sp>
      <p:sp>
        <p:nvSpPr>
          <p:cNvPr id="1206397271" name="TextBox 2"/>
          <p:cNvSpPr txBox="1"/>
          <p:nvPr/>
        </p:nvSpPr>
        <p:spPr bwMode="auto">
          <a:xfrm>
            <a:off x="548640" y="1005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300" b="0" i="1">
                <a:solidFill>
                  <a:srgbClr val="404040"/>
                </a:solidFill>
                <a:latin typeface="Calibri"/>
              </a:rPr>
              <a:t>paso 8 de 8</a:t>
            </a:r>
            <a:endParaRPr/>
          </a:p>
        </p:txBody>
      </p:sp>
      <p:pic>
        <p:nvPicPr>
          <p:cNvPr id="348933326" name="Picture 3" descr="kmc_pasos_g-4_8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08759" y="1463040"/>
            <a:ext cx="9144000" cy="4572000"/>
          </a:xfrm>
          <a:prstGeom prst="rect">
            <a:avLst/>
          </a:prstGeom>
        </p:spPr>
      </p:pic>
      <p:sp>
        <p:nvSpPr>
          <p:cNvPr id="479348849" name="TextBox 4"/>
          <p:cNvSpPr txBox="1"/>
          <p:nvPr/>
        </p:nvSpPr>
        <p:spPr bwMode="auto"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sz="1400" b="0" i="0">
                <a:solidFill>
                  <a:srgbClr val="404040"/>
                </a:solidFill>
                <a:latin typeface="Calibri"/>
              </a:rPr>
              <a:t>8. Final = monótona(w·TPS + (1−w)·DIP). Si DIP no reproduce los puntos, queda solo la TPS.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5</cp:revision>
  <dcterms:created xsi:type="dcterms:W3CDTF">2013-01-27T09:14:16Z</dcterms:created>
  <dcterms:modified xsi:type="dcterms:W3CDTF">2026-10-05T18:31:50Z</dcterms:modified>
  <cp:category/>
</cp:coreProperties>
</file>