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a los pares vecinos 0 / no-0 (robusta a outliers). Debajo: 0.</a:t>
            </a:r>
          </a:p>
          <a:p>
            <a:pPr>
              <a:spcAft>
                <a:spcPts val="500"/>
              </a:spcAft>
              <a:defRPr sz="1600">
                <a:solidFill>
                  <a:srgbClr val="404040"/>
                </a:solidFill>
              </a:defRPr>
            </a:pPr>
            <a:r>
              <a:t>Arriba: TPS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40.8 dB con 64 puntos (fusión con guarda); 40.3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40.8 de media, 36.0 en el peor g, 7 de 9 g ≥ 38 dB. Solo TPS: 40.3 / 35.1, 7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a:t>
            </a:r>
          </a:p>
        </p:txBody>
      </p:sp>
      <p:graphicFrame>
        <p:nvGraphicFramePr>
          <p:cNvPr id="3" name="Table 2"/>
          <p:cNvGraphicFramePr>
            <a:graphicFrameLocks noGrp="1"/>
          </p:cNvGraphicFramePr>
          <p:nvPr/>
        </p:nvGraphicFramePr>
        <p:xfrm>
          <a:off x="731520" y="1371600"/>
          <a:ext cx="10698480" cy="2304288"/>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0.20</a:t>
                      </a:r>
                    </a:p>
                  </a:txBody>
                  <a:tcPr/>
                </a:tc>
                <a:tc>
                  <a:txBody>
                    <a:bodyPr/>
                    <a:lstStyle/>
                    <a:p>
                      <a:pPr>
                        <a:defRPr sz="1200" b="0"/>
                      </a:pPr>
                      <a:r>
                        <a:t>32.6</a:t>
                      </a:r>
                    </a:p>
                  </a:txBody>
                  <a:tcPr/>
                </a:tc>
                <a:tc>
                  <a:txBody>
                    <a:bodyPr/>
                    <a:lstStyle/>
                    <a:p>
                      <a:pPr>
                        <a:defRPr sz="1200" b="0"/>
                      </a:pPr>
                      <a:r>
                        <a:t>30.3</a:t>
                      </a:r>
                    </a:p>
                  </a:txBody>
                  <a:tcPr/>
                </a:tc>
              </a:tr>
              <a:tr h="384048">
                <a:tc>
                  <a:txBody>
                    <a:bodyPr/>
                    <a:lstStyle/>
                    <a:p>
                      <a:pPr>
                        <a:defRPr sz="1200" b="1"/>
                      </a:pPr>
                      <a:r>
                        <a:t>0.35</a:t>
                      </a:r>
                    </a:p>
                  </a:txBody>
                  <a:tcPr/>
                </a:tc>
                <a:tc>
                  <a:txBody>
                    <a:bodyPr/>
                    <a:lstStyle/>
                    <a:p>
                      <a:pPr>
                        <a:defRPr sz="1200" b="0"/>
                      </a:pPr>
                      <a:r>
                        <a:t>37.3</a:t>
                      </a:r>
                    </a:p>
                  </a:txBody>
                  <a:tcPr/>
                </a:tc>
                <a:tc>
                  <a:txBody>
                    <a:bodyPr/>
                    <a:lstStyle/>
                    <a:p>
                      <a:pPr>
                        <a:defRPr sz="1200" b="0"/>
                      </a:pPr>
                      <a:r>
                        <a:t>32.7</a:t>
                      </a:r>
                    </a:p>
                  </a:txBody>
                  <a:tcPr/>
                </a:tc>
              </a:tr>
              <a:tr h="384048">
                <a:tc>
                  <a:txBody>
                    <a:bodyPr/>
                    <a:lstStyle/>
                    <a:p>
                      <a:pPr>
                        <a:defRPr sz="1200" b="1"/>
                      </a:pPr>
                      <a:r>
                        <a:t>0.50</a:t>
                      </a:r>
                    </a:p>
                  </a:txBody>
                  <a:tcPr/>
                </a:tc>
                <a:tc>
                  <a:txBody>
                    <a:bodyPr/>
                    <a:lstStyle/>
                    <a:p>
                      <a:pPr>
                        <a:defRPr sz="1200" b="0"/>
                      </a:pPr>
                      <a:r>
                        <a:t>38.7</a:t>
                      </a:r>
                    </a:p>
                  </a:txBody>
                  <a:tcPr/>
                </a:tc>
                <a:tc>
                  <a:txBody>
                    <a:bodyPr/>
                    <a:lstStyle/>
                    <a:p>
                      <a:pPr>
                        <a:defRPr sz="1200" b="0"/>
                      </a:pPr>
                      <a:r>
                        <a:t>33.2</a:t>
                      </a:r>
                    </a:p>
                  </a:txBody>
                  <a:tcPr/>
                </a:tc>
              </a:tr>
              <a:tr h="384048">
                <a:tc>
                  <a:txBody>
                    <a:bodyPr/>
                    <a:lstStyle/>
                    <a:p>
                      <a:pPr>
                        <a:defRPr sz="1200" b="1"/>
                      </a:pPr>
                      <a:r>
                        <a:t>0.65</a:t>
                      </a:r>
                    </a:p>
                  </a:txBody>
                  <a:tcPr/>
                </a:tc>
                <a:tc>
                  <a:txBody>
                    <a:bodyPr/>
                    <a:lstStyle/>
                    <a:p>
                      <a:pPr>
                        <a:defRPr sz="1200" b="0"/>
                      </a:pPr>
                      <a:r>
                        <a:t>36.5</a:t>
                      </a:r>
                    </a:p>
                  </a:txBody>
                  <a:tcPr/>
                </a:tc>
                <a:tc>
                  <a:txBody>
                    <a:bodyPr/>
                    <a:lstStyle/>
                    <a:p>
                      <a:pPr>
                        <a:defRPr sz="1200" b="0"/>
                      </a:pPr>
                      <a:r>
                        <a:t>33.6</a:t>
                      </a:r>
                    </a:p>
                  </a:txBody>
                  <a:tcPr/>
                </a:tc>
              </a:tr>
              <a:tr h="384048">
                <a:tc>
                  <a:txBody>
                    <a:bodyPr/>
                    <a:lstStyle/>
                    <a:p>
                      <a:pPr>
                        <a:defRPr sz="1200" b="1"/>
                      </a:pPr>
                      <a:r>
                        <a:t>0.80</a:t>
                      </a:r>
                    </a:p>
                  </a:txBody>
                  <a:tcPr/>
                </a:tc>
                <a:tc>
                  <a:txBody>
                    <a:bodyPr/>
                    <a:lstStyle/>
                    <a:p>
                      <a:pPr>
                        <a:defRPr sz="1200" b="0"/>
                      </a:pPr>
                      <a:r>
                        <a:t>34.9</a:t>
                      </a:r>
                    </a:p>
                  </a:txBody>
                  <a:tcPr/>
                </a:tc>
                <a:tc>
                  <a:txBody>
                    <a:bodyPr/>
                    <a:lstStyle/>
                    <a:p>
                      <a:pPr>
                        <a:defRPr sz="1200" b="0"/>
                      </a:pPr>
                      <a:r>
                        <a:t>29.6</a:t>
                      </a:r>
                    </a:p>
                  </a:txBody>
                  <a:tcPr/>
                </a:tc>
              </a:tr>
            </a:tbl>
          </a:graphicData>
        </a:graphic>
      </p:graphicFrame>
      <p:sp>
        <p:nvSpPr>
          <p:cNvPr id="4" name="TextBox 3"/>
          <p:cNvSpPr txBox="1"/>
          <p:nvPr/>
        </p:nvSpPr>
        <p:spPr>
          <a:xfrm>
            <a:off x="731520" y="3767328"/>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la banda (~37.5 ± 1 dB con esta versión del muestreo), no el mejor caso.</a:t>
            </a:r>
          </a:p>
          <a:p>
            <a:pPr>
              <a:defRPr sz="1200" i="1">
                <a:solidFill>
                  <a:srgbClr val="404040"/>
                </a:solidFill>
              </a:defRPr>
            </a:pPr>
            <a:r>
              <a:t>(Filas 0.20 y 0.80: versión anterior del relleno.)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40.3</a:t>
                      </a:r>
                    </a:p>
                  </a:txBody>
                  <a:tcPr/>
                </a:tc>
                <a:tc>
                  <a:txBody>
                    <a:bodyPr/>
                    <a:lstStyle/>
                    <a:p>
                      <a:pPr>
                        <a:defRPr sz="1200" b="0"/>
                      </a:pPr>
                      <a:r>
                        <a:t>35.1</a:t>
                      </a:r>
                    </a:p>
                  </a:txBody>
                  <a:tcPr/>
                </a:tc>
                <a:tc>
                  <a:txBody>
                    <a:bodyPr/>
                    <a:lstStyle/>
                    <a:p>
                      <a:pPr>
                        <a:defRPr sz="1200" b="0"/>
                      </a:pPr>
                      <a:r>
                        <a:t>7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40.8</a:t>
                      </a:r>
                    </a:p>
                  </a:txBody>
                  <a:tcPr/>
                </a:tc>
                <a:tc>
                  <a:txBody>
                    <a:bodyPr/>
                    <a:lstStyle/>
                    <a:p>
                      <a:pPr>
                        <a:defRPr sz="1200" b="0"/>
                      </a:pPr>
                      <a:r>
                        <a:t>36.0</a:t>
                      </a:r>
                    </a:p>
                  </a:txBody>
                  <a:tcPr/>
                </a:tc>
                <a:tc>
                  <a:txBody>
                    <a:bodyPr/>
                    <a:lstStyle/>
                    <a:p>
                      <a:pPr>
                        <a:defRPr sz="1200" b="0"/>
                      </a:pPr>
                      <a:r>
                        <a:t>7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399032"/>
            <a:ext cx="11521440" cy="4608576"/>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la receta robusta pierde ~2 dB y con σ = 0.03 ~6 dB (sin DIP). Falta DIP con ruido (en Mendieta).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