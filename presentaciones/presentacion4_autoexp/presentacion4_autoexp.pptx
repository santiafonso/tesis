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a los pares vecinos 0 / no-0 (robusta a outliers). Debajo: 0.</a:t>
            </a:r>
          </a:p>
          <a:p>
            <a:pPr>
              <a:spcAft>
                <a:spcPts val="500"/>
              </a:spcAft>
              <a:defRPr sz="1600">
                <a:solidFill>
                  <a:srgbClr val="404040"/>
                </a:solidFill>
              </a:defRPr>
            </a:pPr>
            <a:r>
              <a:t>Arriba: TPS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41.7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40.2 dB de media con 64 puntos,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7 de 9 g ≥ 38 dB. Le gana a DIP con ~164 puntos en los g duros (-4, -3.5, -3); DIP con 164 sigue siendo mejor en los g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a:t>
            </a:r>
          </a:p>
        </p:txBody>
      </p:sp>
      <p:graphicFrame>
        <p:nvGraphicFramePr>
          <p:cNvPr id="3" name="Table 2"/>
          <p:cNvGraphicFramePr>
            <a:graphicFrameLocks noGrp="1"/>
          </p:cNvGraphicFramePr>
          <p:nvPr/>
        </p:nvGraphicFramePr>
        <p:xfrm>
          <a:off x="731520" y="1371600"/>
          <a:ext cx="10698480" cy="2304288"/>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0.20</a:t>
                      </a:r>
                    </a:p>
                  </a:txBody>
                  <a:tcPr/>
                </a:tc>
                <a:tc>
                  <a:txBody>
                    <a:bodyPr/>
                    <a:lstStyle/>
                    <a:p>
                      <a:pPr>
                        <a:defRPr sz="1200" b="0"/>
                      </a:pPr>
                      <a:r>
                        <a:t>32.6</a:t>
                      </a:r>
                    </a:p>
                  </a:txBody>
                  <a:tcPr/>
                </a:tc>
                <a:tc>
                  <a:txBody>
                    <a:bodyPr/>
                    <a:lstStyle/>
                    <a:p>
                      <a:pPr>
                        <a:defRPr sz="1200" b="0"/>
                      </a:pPr>
                      <a:r>
                        <a:t>30.3</a:t>
                      </a:r>
                    </a:p>
                  </a:txBody>
                  <a:tcPr/>
                </a:tc>
              </a:tr>
              <a:tr h="384048">
                <a:tc>
                  <a:txBody>
                    <a:bodyPr/>
                    <a:lstStyle/>
                    <a:p>
                      <a:pPr>
                        <a:defRPr sz="1200" b="1"/>
                      </a:pPr>
                      <a:r>
                        <a:t>0.35</a:t>
                      </a:r>
                    </a:p>
                  </a:txBody>
                  <a:tcPr/>
                </a:tc>
                <a:tc>
                  <a:txBody>
                    <a:bodyPr/>
                    <a:lstStyle/>
                    <a:p>
                      <a:pPr>
                        <a:defRPr sz="1200" b="0"/>
                      </a:pPr>
                      <a:r>
                        <a:t>37.3</a:t>
                      </a:r>
                    </a:p>
                  </a:txBody>
                  <a:tcPr/>
                </a:tc>
                <a:tc>
                  <a:txBody>
                    <a:bodyPr/>
                    <a:lstStyle/>
                    <a:p>
                      <a:pPr>
                        <a:defRPr sz="1200" b="0"/>
                      </a:pPr>
                      <a:r>
                        <a:t>32.7</a:t>
                      </a:r>
                    </a:p>
                  </a:txBody>
                  <a:tcPr/>
                </a:tc>
              </a:tr>
              <a:tr h="384048">
                <a:tc>
                  <a:txBody>
                    <a:bodyPr/>
                    <a:lstStyle/>
                    <a:p>
                      <a:pPr>
                        <a:defRPr sz="1200" b="1"/>
                      </a:pPr>
                      <a:r>
                        <a:t>0.50</a:t>
                      </a:r>
                    </a:p>
                  </a:txBody>
                  <a:tcPr/>
                </a:tc>
                <a:tc>
                  <a:txBody>
                    <a:bodyPr/>
                    <a:lstStyle/>
                    <a:p>
                      <a:pPr>
                        <a:defRPr sz="1200" b="0"/>
                      </a:pPr>
                      <a:r>
                        <a:t>38.7</a:t>
                      </a:r>
                    </a:p>
                  </a:txBody>
                  <a:tcPr/>
                </a:tc>
                <a:tc>
                  <a:txBody>
                    <a:bodyPr/>
                    <a:lstStyle/>
                    <a:p>
                      <a:pPr>
                        <a:defRPr sz="1200" b="0"/>
                      </a:pPr>
                      <a:r>
                        <a:t>33.2</a:t>
                      </a:r>
                    </a:p>
                  </a:txBody>
                  <a:tcPr/>
                </a:tc>
              </a:tr>
              <a:tr h="384048">
                <a:tc>
                  <a:txBody>
                    <a:bodyPr/>
                    <a:lstStyle/>
                    <a:p>
                      <a:pPr>
                        <a:defRPr sz="1200" b="1"/>
                      </a:pPr>
                      <a:r>
                        <a:t>0.65</a:t>
                      </a:r>
                    </a:p>
                  </a:txBody>
                  <a:tcPr/>
                </a:tc>
                <a:tc>
                  <a:txBody>
                    <a:bodyPr/>
                    <a:lstStyle/>
                    <a:p>
                      <a:pPr>
                        <a:defRPr sz="1200" b="0"/>
                      </a:pPr>
                      <a:r>
                        <a:t>36.5</a:t>
                      </a:r>
                    </a:p>
                  </a:txBody>
                  <a:tcPr/>
                </a:tc>
                <a:tc>
                  <a:txBody>
                    <a:bodyPr/>
                    <a:lstStyle/>
                    <a:p>
                      <a:pPr>
                        <a:defRPr sz="1200" b="0"/>
                      </a:pPr>
                      <a:r>
                        <a:t>33.6</a:t>
                      </a:r>
                    </a:p>
                  </a:txBody>
                  <a:tcPr/>
                </a:tc>
              </a:tr>
              <a:tr h="384048">
                <a:tc>
                  <a:txBody>
                    <a:bodyPr/>
                    <a:lstStyle/>
                    <a:p>
                      <a:pPr>
                        <a:defRPr sz="1200" b="1"/>
                      </a:pPr>
                      <a:r>
                        <a:t>0.80</a:t>
                      </a:r>
                    </a:p>
                  </a:txBody>
                  <a:tcPr/>
                </a:tc>
                <a:tc>
                  <a:txBody>
                    <a:bodyPr/>
                    <a:lstStyle/>
                    <a:p>
                      <a:pPr>
                        <a:defRPr sz="1200" b="0"/>
                      </a:pPr>
                      <a:r>
                        <a:t>34.9</a:t>
                      </a:r>
                    </a:p>
                  </a:txBody>
                  <a:tcPr/>
                </a:tc>
                <a:tc>
                  <a:txBody>
                    <a:bodyPr/>
                    <a:lstStyle/>
                    <a:p>
                      <a:pPr>
                        <a:defRPr sz="1200" b="0"/>
                      </a:pPr>
                      <a:r>
                        <a:t>29.6</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la banda (~37.5 ± 1 dB con esta versión del muestreo), no el mejor caso.</a:t>
            </a:r>
          </a:p>
          <a:p>
            <a:pPr>
              <a:defRPr sz="1200" i="1">
                <a:solidFill>
                  <a:srgbClr val="404040"/>
                </a:solidFill>
              </a:defRPr>
            </a:pPr>
            <a:r>
              <a:t>(Filas 0.20 y 0.80: versión anterior del relleno.)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304288"/>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por +4 dB a la interpolación con los mismos puntos; la receta de la tesis (afinada para ~328 puntos) no. Estudio 'profes_grid_uniform' de Optuna en Mendieta.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a:t>
            </a:r>
          </a:p>
        </p:txBody>
      </p:sp>
      <p:graphicFrame>
        <p:nvGraphicFramePr>
          <p:cNvPr id="3" name="Table 2"/>
          <p:cNvGraphicFramePr>
            <a:graphicFrameLocks noGrp="1"/>
          </p:cNvGraphicFramePr>
          <p:nvPr/>
        </p:nvGraphicFramePr>
        <p:xfrm>
          <a:off x="731520" y="1371600"/>
          <a:ext cx="10698480" cy="2304288"/>
        </p:xfrm>
        <a:graphic>
          <a:graphicData uri="http://schemas.openxmlformats.org/drawingml/2006/table">
            <a:tbl>
              <a:tblPr firstRow="1" bandRow="1">
                <a:tableStyleId>{5C22544A-7EE6-4342-B048-85BDC9FD1C3A}</a:tableStyleId>
              </a:tblPr>
              <a:tblGrid>
                <a:gridCol w="4572000"/>
                <a:gridCol w="1645920"/>
                <a:gridCol w="1645920"/>
                <a:gridCol w="2834640"/>
              </a:tblGrid>
              <a:tr h="384048">
                <a:tc>
                  <a:txBody>
                    <a:bodyPr/>
                    <a:lstStyle/>
                    <a:p>
                      <a:pPr>
                        <a:defRPr sz="1300" b="1"/>
                      </a:pPr>
                      <a:r>
                        <a:t>reconstrucción (mismos 64 puntos, 3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-4 / -2 / -0.5</a:t>
                      </a:r>
                    </a:p>
                  </a:txBody>
                  <a:tcPr/>
                </a:tc>
              </a:tr>
              <a:tr h="384048">
                <a:tc>
                  <a:txBody>
                    <a:bodyPr/>
                    <a:lstStyle/>
                    <a:p>
                      <a:pPr>
                        <a:defRPr sz="1200" b="1"/>
                      </a:pPr>
                      <a:r>
                        <a:t>TPS sola (con monotonía)</a:t>
                      </a:r>
                    </a:p>
                  </a:txBody>
                  <a:tcPr/>
                </a:tc>
                <a:tc>
                  <a:txBody>
                    <a:bodyPr/>
                    <a:lstStyle/>
                    <a:p>
                      <a:pPr>
                        <a:defRPr sz="1200" b="0"/>
                      </a:pPr>
                      <a:r>
                        <a:t>40.4</a:t>
                      </a:r>
                    </a:p>
                  </a:txBody>
                  <a:tcPr/>
                </a:tc>
                <a:tc>
                  <a:txBody>
                    <a:bodyPr/>
                    <a:lstStyle/>
                    <a:p>
                      <a:pPr>
                        <a:defRPr sz="1200" b="0"/>
                      </a:pPr>
                      <a:r>
                        <a:t>36.8</a:t>
                      </a:r>
                    </a:p>
                  </a:txBody>
                  <a:tcPr/>
                </a:tc>
                <a:tc>
                  <a:txBody>
                    <a:bodyPr/>
                    <a:lstStyle/>
                    <a:p>
                      <a:pPr>
                        <a:defRPr sz="1200" b="0"/>
                      </a:pPr>
                      <a:r>
                        <a:t>45.7 / 36.8 / 38.5</a:t>
                      </a:r>
                    </a:p>
                  </a:txBody>
                  <a:tcPr/>
                </a:tc>
              </a:tr>
              <a:tr h="384048">
                <a:tc>
                  <a:txBody>
                    <a:bodyPr/>
                    <a:lstStyle/>
                    <a:p>
                      <a:pPr>
                        <a:defRPr sz="1200" b="1"/>
                      </a:pPr>
                      <a:r>
                        <a:t>DIP (tesis) + ceros + franja TPS</a:t>
                      </a:r>
                    </a:p>
                  </a:txBody>
                  <a:tcPr/>
                </a:tc>
                <a:tc>
                  <a:txBody>
                    <a:bodyPr/>
                    <a:lstStyle/>
                    <a:p>
                      <a:pPr>
                        <a:defRPr sz="1200" b="0"/>
                      </a:pPr>
                      <a:r>
                        <a:t>39.3</a:t>
                      </a:r>
                    </a:p>
                  </a:txBody>
                  <a:tcPr/>
                </a:tc>
                <a:tc>
                  <a:txBody>
                    <a:bodyPr/>
                    <a:lstStyle/>
                    <a:p>
                      <a:pPr>
                        <a:defRPr sz="1200" b="0"/>
                      </a:pPr>
                      <a:r>
                        <a:t>38.0</a:t>
                      </a:r>
                    </a:p>
                  </a:txBody>
                  <a:tcPr/>
                </a:tc>
                <a:tc>
                  <a:txBody>
                    <a:bodyPr/>
                    <a:lstStyle/>
                    <a:p>
                      <a:pPr>
                        <a:defRPr sz="1200" b="0"/>
                      </a:pPr>
                      <a:r>
                        <a:t>41.7 / 38.0 / 38.1</a:t>
                      </a:r>
                    </a:p>
                  </a:txBody>
                  <a:tcPr/>
                </a:tc>
              </a:tr>
              <a:tr h="384048">
                <a:tc>
                  <a:txBody>
                    <a:bodyPr/>
                    <a:lstStyle/>
                    <a:p>
                      <a:pPr>
                        <a:defRPr sz="1200" b="1"/>
                      </a:pPr>
                      <a:r>
                        <a:t>DIP ('vase') + ceros + franja TPS</a:t>
                      </a:r>
                    </a:p>
                  </a:txBody>
                  <a:tcPr/>
                </a:tc>
                <a:tc>
                  <a:txBody>
                    <a:bodyPr/>
                    <a:lstStyle/>
                    <a:p>
                      <a:pPr>
                        <a:defRPr sz="1200" b="0"/>
                      </a:pPr>
                      <a:r>
                        <a:t>35.4</a:t>
                      </a:r>
                    </a:p>
                  </a:txBody>
                  <a:tcPr/>
                </a:tc>
                <a:tc>
                  <a:txBody>
                    <a:bodyPr/>
                    <a:lstStyle/>
                    <a:p>
                      <a:pPr>
                        <a:defRPr sz="1200" b="0"/>
                      </a:pPr>
                      <a:r>
                        <a:t>30.8</a:t>
                      </a:r>
                    </a:p>
                  </a:txBody>
                  <a:tcPr/>
                </a:tc>
                <a:tc>
                  <a:txBody>
                    <a:bodyPr/>
                    <a:lstStyle/>
                    <a:p>
                      <a:pPr>
                        <a:defRPr sz="1200" b="0"/>
                      </a:pPr>
                      <a:r>
                        <a:t>30.8 / 36.5 / 38.9</a:t>
                      </a:r>
                    </a:p>
                  </a:txBody>
                  <a:tcPr/>
                </a:tc>
              </a:tr>
              <a:tr h="384048">
                <a:tc>
                  <a:txBody>
                    <a:bodyPr/>
                    <a:lstStyle/>
                    <a:p>
                      <a:pPr>
                        <a:defRPr sz="1200" b="1"/>
                      </a:pPr>
                      <a:r>
                        <a:t>Fusión TPS + DIP tesis (B = 20 px)</a:t>
                      </a:r>
                    </a:p>
                  </a:txBody>
                  <a:tcPr/>
                </a:tc>
                <a:tc>
                  <a:txBody>
                    <a:bodyPr/>
                    <a:lstStyle/>
                    <a:p>
                      <a:pPr>
                        <a:defRPr sz="1200" b="0"/>
                      </a:pPr>
                      <a:r>
                        <a:t>41.8</a:t>
                      </a:r>
                    </a:p>
                  </a:txBody>
                  <a:tcPr/>
                </a:tc>
                <a:tc>
                  <a:txBody>
                    <a:bodyPr/>
                    <a:lstStyle/>
                    <a:p>
                      <a:pPr>
                        <a:defRPr sz="1200" b="0"/>
                      </a:pPr>
                      <a:r>
                        <a:t>39.5</a:t>
                      </a:r>
                    </a:p>
                  </a:txBody>
                  <a:tcPr/>
                </a:tc>
                <a:tc>
                  <a:txBody>
                    <a:bodyPr/>
                    <a:lstStyle/>
                    <a:p>
                      <a:pPr>
                        <a:defRPr sz="1200" b="0"/>
                      </a:pPr>
                    </a:p>
                  </a:txBody>
                  <a:tcPr/>
                </a:tc>
              </a:tr>
              <a:tr h="384048">
                <a:tc>
                  <a:txBody>
                    <a:bodyPr/>
                    <a:lstStyle/>
                    <a:p>
                      <a:pPr>
                        <a:defRPr sz="1200" b="1"/>
                      </a:pPr>
                      <a:r>
                        <a:t>Fusión TPS + DIP intermedio (B = 10 px)</a:t>
                      </a:r>
                    </a:p>
                  </a:txBody>
                  <a:tcPr/>
                </a:tc>
                <a:tc>
                  <a:txBody>
                    <a:bodyPr/>
                    <a:lstStyle/>
                    <a:p>
                      <a:pPr>
                        <a:defRPr sz="1200" b="0"/>
                      </a:pPr>
                      <a:r>
                        <a:t>41.7</a:t>
                      </a:r>
                    </a:p>
                  </a:txBody>
                  <a:tcPr/>
                </a:tc>
                <a:tc>
                  <a:txBody>
                    <a:bodyPr/>
                    <a:lstStyle/>
                    <a:p>
                      <a:pPr>
                        <a:defRPr sz="1200" b="0"/>
                      </a:pPr>
                      <a:r>
                        <a:t>39.8</a:t>
                      </a:r>
                    </a:p>
                  </a:txBody>
                  <a:tcPr/>
                </a:tc>
                <a:tc>
                  <a:txBody>
                    <a:bodyPr/>
                    <a:lstStyle/>
                    <a:p>
                      <a:pPr>
                        <a:defRPr sz="1200" b="0"/>
                      </a:pPr>
                      <a:r>
                        <a:t>43.8 / 39.8 / 41.5</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DIP va mejor en la meseta y en la zona suave; la TPS, en el frente abrupto. Juntas, los 3 g quedan ≥ 39.5 dB. Validación en 9 g: en curso.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estudio en Mendieta. La config 'vase' del paper es la mejor para DIP con 64 puntos. En el muestreo nuevo, la grilla (6 columnas × 5 filas) resultó ser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KMC es estocástico. La TPS pasa exacto por cada punto (copia el ruido); DIP es un prior pensado para imágenes ruidosas. Hay que medirlo con ruido simulado del tamaño del de KMC.</a:t>
            </a:r>
          </a:p>
          <a:p>
            <a:pPr lvl="1">
              <a:spcAft>
                <a:spcPts val="500"/>
              </a:spcAft>
              <a:defRPr sz="1300">
                <a:solidFill>
                  <a:srgbClr val="404040"/>
                </a:solidFill>
              </a:defRPr>
            </a:pPr>
            <a:r>
              <a:t>Validar la fusión en los 9 g (DIP corriendo en Mendieta).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