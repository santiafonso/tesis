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a:t>
            </a:r>
          </a:p>
        </p:txBody>
      </p:sp>
      <p:graphicFrame>
        <p:nvGraphicFramePr>
          <p:cNvPr id="3" name="Table 2"/>
          <p:cNvGraphicFramePr>
            <a:graphicFrameLocks noGrp="1"/>
          </p:cNvGraphicFramePr>
          <p:nvPr/>
        </p:nvGraphicFramePr>
        <p:xfrm>
          <a:off x="731520" y="1371600"/>
          <a:ext cx="9875520" cy="1920240"/>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a:t>
                      </a:r>
                    </a:p>
                  </a:txBody>
                  <a:tcPr/>
                </a:tc>
                <a:tc>
                  <a:txBody>
                    <a:bodyPr/>
                    <a:lstStyle/>
                    <a:p>
                      <a:pPr>
                        <a:defRPr sz="1200" b="0"/>
                      </a:pPr>
                      <a:r>
                        <a:t>39.9</a:t>
                      </a:r>
                    </a:p>
                  </a:txBody>
                  <a:tcPr/>
                </a:tc>
                <a:tc>
                  <a:txBody>
                    <a:bodyPr/>
                    <a:lstStyle/>
                    <a:p>
                      <a:pPr>
                        <a:defRPr sz="1200" b="0"/>
                      </a:pPr>
                      <a:r>
                        <a:t>39.0</a:t>
                      </a:r>
                    </a:p>
                  </a:txBody>
                  <a:tcPr/>
                </a:tc>
                <a:tc>
                  <a:txBody>
                    <a:bodyPr/>
                    <a:lstStyle/>
                    <a:p>
                      <a:pPr>
                        <a:defRPr sz="1200" b="0"/>
                      </a:pPr>
                      <a:r>
                        <a:t>1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Sin DIP, en los g -2.5, -2, -1.5 y -1 (los otros 5 ya pasan los 40 con 64). Con 96 puntos, los 9 g superan los 40 dB.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