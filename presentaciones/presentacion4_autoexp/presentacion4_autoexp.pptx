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 84 con DIP, 88 sin DIP</a:t>
            </a:r>
          </a:p>
        </p:txBody>
      </p:sp>
      <p:graphicFrame>
        <p:nvGraphicFramePr>
          <p:cNvPr id="3" name="Table 2"/>
          <p:cNvGraphicFramePr>
            <a:graphicFrameLocks noGrp="1"/>
          </p:cNvGraphicFramePr>
          <p:nvPr/>
        </p:nvGraphicFramePr>
        <p:xfrm>
          <a:off x="731520" y="1371600"/>
          <a:ext cx="9875520" cy="3456432"/>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 (grilla 24)</a:t>
                      </a:r>
                    </a:p>
                  </a:txBody>
                  <a:tcPr/>
                </a:tc>
                <a:tc>
                  <a:txBody>
                    <a:bodyPr/>
                    <a:lstStyle/>
                    <a:p>
                      <a:pPr>
                        <a:defRPr sz="1200" b="0"/>
                      </a:pPr>
                      <a:r>
                        <a:t>40.6</a:t>
                      </a:r>
                    </a:p>
                  </a:txBody>
                  <a:tcPr/>
                </a:tc>
                <a:tc>
                  <a:txBody>
                    <a:bodyPr/>
                    <a:lstStyle/>
                    <a:p>
                      <a:pPr>
                        <a:defRPr sz="1200" b="0"/>
                      </a:pPr>
                      <a:r>
                        <a:t>38.7</a:t>
                      </a:r>
                    </a:p>
                  </a:txBody>
                  <a:tcPr/>
                </a:tc>
                <a:tc>
                  <a:txBody>
                    <a:bodyPr/>
                    <a:lstStyle/>
                    <a:p>
                      <a:pPr>
                        <a:defRPr sz="1200" b="0"/>
                      </a:pPr>
                      <a:r>
                        <a:t>3 de 4</a:t>
                      </a:r>
                    </a:p>
                  </a:txBody>
                  <a:tcPr/>
                </a:tc>
              </a:tr>
              <a:tr h="384048">
                <a:tc>
                  <a:txBody>
                    <a:bodyPr/>
                    <a:lstStyle/>
                    <a:p>
                      <a:pPr>
                        <a:defRPr sz="1200" b="1"/>
                      </a:pPr>
                      <a:r>
                        <a:t>84 puntos (grilla 36)</a:t>
                      </a:r>
                    </a:p>
                  </a:txBody>
                  <a:tcPr/>
                </a:tc>
                <a:tc>
                  <a:txBody>
                    <a:bodyPr/>
                    <a:lstStyle/>
                    <a:p>
                      <a:pPr>
                        <a:defRPr sz="1200" b="0"/>
                      </a:pPr>
                      <a:r>
                        <a:t>40.7</a:t>
                      </a:r>
                    </a:p>
                  </a:txBody>
                  <a:tcPr/>
                </a:tc>
                <a:tc>
                  <a:txBody>
                    <a:bodyPr/>
                    <a:lstStyle/>
                    <a:p>
                      <a:pPr>
                        <a:defRPr sz="1200" b="0"/>
                      </a:pPr>
                      <a:r>
                        <a:t>39.5</a:t>
                      </a:r>
                    </a:p>
                  </a:txBody>
                  <a:tcPr/>
                </a:tc>
                <a:tc>
                  <a:txBody>
                    <a:bodyPr/>
                    <a:lstStyle/>
                    <a:p>
                      <a:pPr>
                        <a:defRPr sz="1200" b="0"/>
                      </a:pPr>
                      <a:r>
                        <a:t>2 de 4</a:t>
                      </a:r>
                    </a:p>
                  </a:txBody>
                  <a:tcPr/>
                </a:tc>
              </a:tr>
              <a:tr h="384048">
                <a:tc>
                  <a:txBody>
                    <a:bodyPr/>
                    <a:lstStyle/>
                    <a:p>
                      <a:pPr>
                        <a:defRPr sz="1200" b="1"/>
                      </a:pPr>
                      <a:r>
                        <a:t>88 puntos (0.54 %, grilla 36)</a:t>
                      </a:r>
                    </a:p>
                  </a:txBody>
                  <a:tcPr/>
                </a:tc>
                <a:tc>
                  <a:txBody>
                    <a:bodyPr/>
                    <a:lstStyle/>
                    <a:p>
                      <a:pPr>
                        <a:defRPr sz="1200" b="0"/>
                      </a:pPr>
                      <a:r>
                        <a:t>41.6</a:t>
                      </a:r>
                    </a:p>
                  </a:txBody>
                  <a:tcPr/>
                </a:tc>
                <a:tc>
                  <a:txBody>
                    <a:bodyPr/>
                    <a:lstStyle/>
                    <a:p>
                      <a:pPr>
                        <a:defRPr sz="1200" b="0"/>
                      </a:pPr>
                      <a:r>
                        <a:t>41.2</a:t>
                      </a:r>
                    </a:p>
                  </a:txBody>
                  <a:tcPr/>
                </a:tc>
                <a:tc>
                  <a:txBody>
                    <a:bodyPr/>
                    <a:lstStyle/>
                    <a:p>
                      <a:pPr>
                        <a:defRPr sz="1200" b="0"/>
                      </a:pPr>
                      <a:r>
                        <a:t>4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r h="384048">
                <a:tc>
                  <a:txBody>
                    <a:bodyPr/>
                    <a:lstStyle/>
                    <a:p>
                      <a:pPr>
                        <a:defRPr sz="1200" b="1"/>
                      </a:pPr>
                      <a:r>
                        <a:t>80 puntos + DIP (fusión, 9 g)</a:t>
                      </a:r>
                    </a:p>
                  </a:txBody>
                  <a:tcPr/>
                </a:tc>
                <a:tc>
                  <a:txBody>
                    <a:bodyPr/>
                    <a:lstStyle/>
                    <a:p>
                      <a:pPr>
                        <a:defRPr sz="1200" b="0"/>
                      </a:pPr>
                      <a:r>
                        <a:t>43.3</a:t>
                      </a:r>
                    </a:p>
                  </a:txBody>
                  <a:tcPr/>
                </a:tc>
                <a:tc>
                  <a:txBody>
                    <a:bodyPr/>
                    <a:lstStyle/>
                    <a:p>
                      <a:pPr>
                        <a:defRPr sz="1200" b="0"/>
                      </a:pPr>
                      <a:r>
                        <a:t>39.8</a:t>
                      </a:r>
                    </a:p>
                  </a:txBody>
                  <a:tcPr/>
                </a:tc>
                <a:tc>
                  <a:txBody>
                    <a:bodyPr/>
                    <a:lstStyle/>
                    <a:p>
                      <a:pPr>
                        <a:defRPr sz="1200" b="0"/>
                      </a:pPr>
                      <a:r>
                        <a:t>8 de 9</a:t>
                      </a:r>
                    </a:p>
                  </a:txBody>
                  <a:tcPr/>
                </a:tc>
              </a:tr>
              <a:tr h="384048">
                <a:tc>
                  <a:txBody>
                    <a:bodyPr/>
                    <a:lstStyle/>
                    <a:p>
                      <a:pPr>
                        <a:defRPr sz="1200" b="1"/>
                      </a:pPr>
                      <a:r>
                        <a:t>84 puntos + DIP (fusión, 9 g)</a:t>
                      </a:r>
                    </a:p>
                  </a:txBody>
                  <a:tcPr/>
                </a:tc>
                <a:tc>
                  <a:txBody>
                    <a:bodyPr/>
                    <a:lstStyle/>
                    <a:p>
                      <a:pPr>
                        <a:defRPr sz="1200" b="0"/>
                      </a:pPr>
                      <a:r>
                        <a:t>43.4</a:t>
                      </a:r>
                    </a:p>
                  </a:txBody>
                  <a:tcPr/>
                </a:tc>
                <a:tc>
                  <a:txBody>
                    <a:bodyPr/>
                    <a:lstStyle/>
                    <a:p>
                      <a:pPr>
                        <a:defRPr sz="1200" b="0"/>
                      </a:pPr>
                      <a:r>
                        <a:t>40.2</a:t>
                      </a:r>
                    </a:p>
                  </a:txBody>
                  <a:tcPr/>
                </a:tc>
                <a:tc>
                  <a:txBody>
                    <a:bodyPr/>
                    <a:lstStyle/>
                    <a:p>
                      <a:pPr>
                        <a:defRPr sz="1200" b="0"/>
                      </a:pPr>
                      <a:r>
                        <a:t>9 de 9</a:t>
                      </a:r>
                    </a:p>
                  </a:txBody>
                  <a:tcPr/>
                </a:tc>
              </a:tr>
            </a:tbl>
          </a:graphicData>
        </a:graphic>
      </p:graphicFrame>
      <p:sp>
        <p:nvSpPr>
          <p:cNvPr id="4" name="TextBox 3"/>
          <p:cNvSpPr txBox="1"/>
          <p:nvPr/>
        </p:nvSpPr>
        <p:spPr>
          <a:xfrm>
            <a:off x="731520" y="4919472"/>
            <a:ext cx="10698480" cy="1280160"/>
          </a:xfrm>
          <a:prstGeom prst="rect">
            <a:avLst/>
          </a:prstGeom>
          <a:noFill/>
        </p:spPr>
        <p:txBody>
          <a:bodyPr wrap="square">
            <a:spAutoFit/>
          </a:bodyPr>
          <a:lstStyle/>
          <a:p>
            <a:pPr>
              <a:defRPr sz="1200" i="1">
                <a:solidFill>
                  <a:srgbClr val="404040"/>
                </a:solidFill>
              </a:defRPr>
            </a:pPr>
            <a:r>
              <a:t>Filas sin DIP: g -2.5, -2, -1.5 y -1 (los otros 5 ya pasan los 40 con 64). Mínimo validado en los 9 g: 84 puntos (0.51 %) con DIP (43.4, peor 40.2); 88 (0.54 %) sin DIP (42.9, peor 41.2). El DIP previo necesitaba ~328: unas 4 veces menos puntos, y sin mirar el mapa.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96 puntos, sin DIP: los 9 g sobre 40 dB</a:t>
            </a:r>
          </a:p>
        </p:txBody>
      </p:sp>
      <p:pic>
        <p:nvPicPr>
          <p:cNvPr id="3" name="Picture 2" descr="mejores_9g_96pts.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Mismo método que con 64 puntos: los 32 puntos extra van al relleno por validación cruzada, que los pone en la rampa pegada al borde de los g suaves (donde faltaba información).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otras formas (misma cantidad de puntos, al azar)</a:t>
            </a:r>
          </a:p>
        </p:txBody>
      </p:sp>
      <p:graphicFrame>
        <p:nvGraphicFramePr>
          <p:cNvPr id="3" name="Table 2"/>
          <p:cNvGraphicFramePr>
            <a:graphicFrameLocks noGrp="1"/>
          </p:cNvGraphicFramePr>
          <p:nvPr/>
        </p:nvGraphicFramePr>
        <p:xfrm>
          <a:off x="731520" y="1371600"/>
          <a:ext cx="10607039" cy="2304288"/>
        </p:xfrm>
        <a:graphic>
          <a:graphicData uri="http://schemas.openxmlformats.org/drawingml/2006/table">
            <a:tbl>
              <a:tblPr firstRow="1" bandRow="1">
                <a:tableStyleId>{5C22544A-7EE6-4342-B048-85BDC9FD1C3A}</a:tableStyleId>
              </a:tblPr>
              <a:tblGrid>
                <a:gridCol w="3749039"/>
                <a:gridCol w="2286000"/>
                <a:gridCol w="2286000"/>
                <a:gridCol w="2286000"/>
              </a:tblGrid>
              <a:tr h="384048">
                <a:tc>
                  <a:txBody>
                    <a:bodyPr/>
                    <a:lstStyle/>
                    <a:p>
                      <a:pPr>
                        <a:defRPr sz="1300" b="1"/>
                      </a:pPr>
                      <a:r>
                        <a:t>imagen</a:t>
                      </a:r>
                    </a:p>
                  </a:txBody>
                  <a:tcPr/>
                </a:tc>
                <a:tc>
                  <a:txBody>
                    <a:bodyPr/>
                    <a:lstStyle/>
                    <a:p>
                      <a:pPr>
                        <a:defRPr sz="1300" b="1"/>
                      </a:pPr>
                      <a:r>
                        <a:t>1 %: TPS / DIP</a:t>
                      </a:r>
                    </a:p>
                  </a:txBody>
                  <a:tcPr/>
                </a:tc>
                <a:tc>
                  <a:txBody>
                    <a:bodyPr/>
                    <a:lstStyle/>
                    <a:p>
                      <a:pPr>
                        <a:defRPr sz="1300" b="1"/>
                      </a:pPr>
                      <a:r>
                        <a:t>5 %: TPS / DIP</a:t>
                      </a:r>
                    </a:p>
                  </a:txBody>
                  <a:tcPr/>
                </a:tc>
                <a:tc>
                  <a:txBody>
                    <a:bodyPr/>
                    <a:lstStyle/>
                    <a:p>
                      <a:pPr>
                        <a:defRPr sz="1300" b="1"/>
                      </a:pPr>
                      <a:r>
                        <a:t>10 %: TPS / DIP</a:t>
                      </a:r>
                    </a:p>
                  </a:txBody>
                  <a:tcPr/>
                </a:tc>
              </a:tr>
              <a:tr h="384048">
                <a:tc>
                  <a:txBody>
                    <a:bodyPr/>
                    <a:lstStyle/>
                    <a:p>
                      <a:pPr>
                        <a:defRPr sz="1200" b="1"/>
                      </a:pPr>
                      <a:r>
                        <a:t>Gauss (suave)</a:t>
                      </a:r>
                    </a:p>
                  </a:txBody>
                  <a:tcPr/>
                </a:tc>
                <a:tc>
                  <a:txBody>
                    <a:bodyPr/>
                    <a:lstStyle/>
                    <a:p>
                      <a:pPr>
                        <a:defRPr sz="1200" b="0"/>
                      </a:pPr>
                      <a:r>
                        <a:t>51.0 / 11.7</a:t>
                      </a:r>
                    </a:p>
                  </a:txBody>
                  <a:tcPr/>
                </a:tc>
                <a:tc>
                  <a:txBody>
                    <a:bodyPr/>
                    <a:lstStyle/>
                    <a:p>
                      <a:pPr>
                        <a:defRPr sz="1200" b="0"/>
                      </a:pPr>
                      <a:r>
                        <a:t>56.7 / 51.6</a:t>
                      </a:r>
                    </a:p>
                  </a:txBody>
                  <a:tcPr/>
                </a:tc>
                <a:tc>
                  <a:txBody>
                    <a:bodyPr/>
                    <a:lstStyle/>
                    <a:p>
                      <a:pPr>
                        <a:defRPr sz="1200" b="0"/>
                      </a:pPr>
                      <a:r>
                        <a:t>57.1 / 53.3</a:t>
                      </a:r>
                    </a:p>
                  </a:txBody>
                  <a:tcPr/>
                </a:tc>
              </a:tr>
              <a:tr h="384048">
                <a:tc>
                  <a:txBody>
                    <a:bodyPr/>
                    <a:lstStyle/>
                    <a:p>
                      <a:pPr>
                        <a:defRPr sz="1200" b="1"/>
                      </a:pPr>
                      <a:r>
                        <a:t>Himmelblau (suave, 4 pozos)</a:t>
                      </a:r>
                    </a:p>
                  </a:txBody>
                  <a:tcPr/>
                </a:tc>
                <a:tc>
                  <a:txBody>
                    <a:bodyPr/>
                    <a:lstStyle/>
                    <a:p>
                      <a:pPr>
                        <a:defRPr sz="1200" b="0"/>
                      </a:pPr>
                      <a:r>
                        <a:t>29.6 / 29.1</a:t>
                      </a:r>
                    </a:p>
                  </a:txBody>
                  <a:tcPr/>
                </a:tc>
                <a:tc>
                  <a:txBody>
                    <a:bodyPr/>
                    <a:lstStyle/>
                    <a:p>
                      <a:pPr>
                        <a:defRPr sz="1200" b="0"/>
                      </a:pPr>
                      <a:r>
                        <a:t>42.7 / 41.4</a:t>
                      </a:r>
                    </a:p>
                  </a:txBody>
                  <a:tcPr/>
                </a:tc>
                <a:tc>
                  <a:txBody>
                    <a:bodyPr/>
                    <a:lstStyle/>
                    <a:p>
                      <a:pPr>
                        <a:defRPr sz="1200" b="0"/>
                      </a:pPr>
                      <a:r>
                        <a:t>48.7 / 47.6</a:t>
                      </a:r>
                    </a:p>
                  </a:txBody>
                  <a:tcPr/>
                </a:tc>
              </a:tr>
              <a:tr h="384048">
                <a:tc>
                  <a:txBody>
                    <a:bodyPr/>
                    <a:lstStyle/>
                    <a:p>
                      <a:pPr>
                        <a:defRPr sz="1200" b="1"/>
                      </a:pPr>
                      <a:r>
                        <a:t>Rosenbrock (cresta angosta)</a:t>
                      </a:r>
                    </a:p>
                  </a:txBody>
                  <a:tcPr/>
                </a:tc>
                <a:tc>
                  <a:txBody>
                    <a:bodyPr/>
                    <a:lstStyle/>
                    <a:p>
                      <a:pPr>
                        <a:defRPr sz="1200" b="0"/>
                      </a:pPr>
                      <a:r>
                        <a:t>26.3 / 25.7</a:t>
                      </a:r>
                    </a:p>
                  </a:txBody>
                  <a:tcPr/>
                </a:tc>
                <a:tc>
                  <a:txBody>
                    <a:bodyPr/>
                    <a:lstStyle/>
                    <a:p>
                      <a:pPr>
                        <a:defRPr sz="1200" b="0"/>
                      </a:pPr>
                      <a:r>
                        <a:t>35.7 / 38.3</a:t>
                      </a:r>
                    </a:p>
                  </a:txBody>
                  <a:tcPr/>
                </a:tc>
                <a:tc>
                  <a:txBody>
                    <a:bodyPr/>
                    <a:lstStyle/>
                    <a:p>
                      <a:pPr>
                        <a:defRPr sz="1200" b="0"/>
                      </a:pPr>
                      <a:r>
                        <a:t>40.9 / 46.1</a:t>
                      </a:r>
                    </a:p>
                  </a:txBody>
                  <a:tcPr/>
                </a:tc>
              </a:tr>
              <a:tr h="384048">
                <a:tc>
                  <a:txBody>
                    <a:bodyPr/>
                    <a:lstStyle/>
                    <a:p>
                      <a:pPr>
                        <a:defRPr sz="1200" b="1"/>
                      </a:pPr>
                      <a:r>
                        <a:t>Tablero (saltos)</a:t>
                      </a:r>
                    </a:p>
                  </a:txBody>
                  <a:tcPr/>
                </a:tc>
                <a:tc>
                  <a:txBody>
                    <a:bodyPr/>
                    <a:lstStyle/>
                    <a:p>
                      <a:pPr>
                        <a:defRPr sz="1200" b="0"/>
                      </a:pPr>
                      <a:r>
                        <a:t>6.5 / 5.7</a:t>
                      </a:r>
                    </a:p>
                  </a:txBody>
                  <a:tcPr/>
                </a:tc>
                <a:tc>
                  <a:txBody>
                    <a:bodyPr/>
                    <a:lstStyle/>
                    <a:p>
                      <a:pPr>
                        <a:defRPr sz="1200" b="0"/>
                      </a:pPr>
                      <a:r>
                        <a:t>10.6 / 16.0</a:t>
                      </a:r>
                    </a:p>
                  </a:txBody>
                  <a:tcPr/>
                </a:tc>
                <a:tc>
                  <a:txBody>
                    <a:bodyPr/>
                    <a:lstStyle/>
                    <a:p>
                      <a:pPr>
                        <a:defRPr sz="1200" b="0"/>
                      </a:pPr>
                      <a:r>
                        <a:t>12.4 / 20.0</a:t>
                      </a:r>
                    </a:p>
                  </a:txBody>
                  <a:tcPr/>
                </a:tc>
              </a:tr>
              <a:tr h="384048">
                <a:tc>
                  <a:txBody>
                    <a:bodyPr/>
                    <a:lstStyle/>
                    <a:p>
                      <a:pPr>
                        <a:defRPr sz="1200" b="1"/>
                      </a:pPr>
                      <a:r>
                        <a:t>Barrido de frecuencia</a:t>
                      </a:r>
                    </a:p>
                  </a:txBody>
                  <a:tcPr/>
                </a:tc>
                <a:tc>
                  <a:txBody>
                    <a:bodyPr/>
                    <a:lstStyle/>
                    <a:p>
                      <a:pPr>
                        <a:defRPr sz="1200" b="0"/>
                      </a:pPr>
                      <a:r>
                        <a:t>6.7 / 6.9</a:t>
                      </a:r>
                    </a:p>
                  </a:txBody>
                  <a:tcPr/>
                </a:tc>
                <a:tc>
                  <a:txBody>
                    <a:bodyPr/>
                    <a:lstStyle/>
                    <a:p>
                      <a:pPr>
                        <a:defRPr sz="1200" b="0"/>
                      </a:pPr>
                      <a:r>
                        <a:t>6.9 / 7.2</a:t>
                      </a:r>
                    </a:p>
                  </a:txBody>
                  <a:tcPr/>
                </a:tc>
                <a:tc>
                  <a:txBody>
                    <a:bodyPr/>
                    <a:lstStyle/>
                    <a:p>
                      <a:pPr>
                        <a:defRPr sz="1200" b="0"/>
                      </a:pPr>
                      <a:r>
                        <a:t>7.3 / 7.4</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En formas suaves la TPS gana o empata siempre (DIP hasta puede fallar: Gauss 1 %). En estructuras finas o saltos DIP gana, pero solo con suficientes puntos (5-10 %). El barrido de frecuencia no lo reconstruye ninguno: el detalle es más fino que la separación entre puntos (Nyquist).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3D</a:t>
            </a:r>
          </a:p>
        </p:txBody>
      </p:sp>
      <p:pic>
        <p:nvPicPr>
          <p:cNvPr id="3" name="Picture 2" descr="tps_vs_dip_3d.png"/>
          <p:cNvPicPr>
            <a:picLocks noChangeAspect="1"/>
          </p:cNvPicPr>
          <p:nvPr/>
        </p:nvPicPr>
        <p:blipFill>
          <a:blip r:embed="rId2"/>
          <a:stretch>
            <a:fillRect/>
          </a:stretch>
        </p:blipFill>
        <p:spPr>
          <a:xfrm>
            <a:off x="3267455" y="1280160"/>
            <a:ext cx="5654040"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Rosenbrock: la TPS deja la cresta ondulada, DIP la sigue lisa. Himmelblau: iguales. Tablero: la TPS no puede hacer escalones (es una chapa que se dobla), DIP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