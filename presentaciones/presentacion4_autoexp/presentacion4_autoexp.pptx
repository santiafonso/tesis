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Nota: el interp2d del link ya no existe en scipy moderno; se usaron griddata y RBFInterpolator, que son sus reemplazos.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por RANSAC a los pares vecinos 0 / no-0. Debajo: 0.</a:t>
            </a:r>
          </a:p>
          <a:p>
            <a:pPr>
              <a:spcAft>
                <a:spcPts val="500"/>
              </a:spcAft>
              <a:defRPr sz="1600">
                <a:solidFill>
                  <a:srgbClr val="404040"/>
                </a:solidFill>
              </a:defRPr>
            </a:pPr>
            <a:r>
              <a:t>Arriba: TPS (suavizado 1e-4)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41.8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41.3 dB con 64 puntos (fusión con guarda); 40.6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Fusión: 41.3 de media, 37.7 en el peor g, 8 de 9 g ≥ 38 dB. Solo TPS: 40.6 / 36.2, 8 de 9. Le ganan a DIP con ~164 puntos en los g duros; DIP con 164 sigue arriba en los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Las mejores reconstrucciones hasta ahora (64 puntos, 9 g)</a:t>
            </a:r>
          </a:p>
        </p:txBody>
      </p:sp>
      <p:pic>
        <p:nvPicPr>
          <p:cNvPr id="3" name="Picture 2" descr="mejores_9g.png"/>
          <p:cNvPicPr>
            <a:picLocks noChangeAspect="1"/>
          </p:cNvPicPr>
          <p:nvPr/>
        </p:nvPicPr>
        <p:blipFill>
          <a:blip r:embed="rId2"/>
          <a:stretch>
            <a:fillRect/>
          </a:stretch>
        </p:blipFill>
        <p:spPr>
          <a:xfrm>
            <a:off x="662303" y="1280160"/>
            <a:ext cx="10864345"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original. Medio: reconstrucción con los 64 puntos consultados (en blanco). Abajo: |error|. El error que queda está en la rampa de los g suaves (-2.5, -2,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 (sin DIP, 9 g)</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0.35</a:t>
                      </a:r>
                    </a:p>
                  </a:txBody>
                  <a:tcPr/>
                </a:tc>
                <a:tc>
                  <a:txBody>
                    <a:bodyPr/>
                    <a:lstStyle/>
                    <a:p>
                      <a:pPr>
                        <a:defRPr sz="1200" b="0"/>
                      </a:pPr>
                      <a:r>
                        <a:t>38.4</a:t>
                      </a:r>
                    </a:p>
                  </a:txBody>
                  <a:tcPr/>
                </a:tc>
                <a:tc>
                  <a:txBody>
                    <a:bodyPr/>
                    <a:lstStyle/>
                    <a:p>
                      <a:pPr>
                        <a:defRPr sz="1200" b="0"/>
                      </a:pPr>
                      <a:r>
                        <a:t>35.8</a:t>
                      </a:r>
                    </a:p>
                  </a:txBody>
                  <a:tcPr/>
                </a:tc>
              </a:tr>
              <a:tr h="384048">
                <a:tc>
                  <a:txBody>
                    <a:bodyPr/>
                    <a:lstStyle/>
                    <a:p>
                      <a:pPr>
                        <a:defRPr sz="1200" b="1"/>
                      </a:pPr>
                      <a:r>
                        <a:t>0.50</a:t>
                      </a:r>
                    </a:p>
                  </a:txBody>
                  <a:tcPr/>
                </a:tc>
                <a:tc>
                  <a:txBody>
                    <a:bodyPr/>
                    <a:lstStyle/>
                    <a:p>
                      <a:pPr>
                        <a:defRPr sz="1200" b="0"/>
                      </a:pPr>
                      <a:r>
                        <a:t>40.6</a:t>
                      </a:r>
                    </a:p>
                  </a:txBody>
                  <a:tcPr/>
                </a:tc>
                <a:tc>
                  <a:txBody>
                    <a:bodyPr/>
                    <a:lstStyle/>
                    <a:p>
                      <a:pPr>
                        <a:defRPr sz="1200" b="0"/>
                      </a:pPr>
                      <a:r>
                        <a:t>36.2</a:t>
                      </a:r>
                    </a:p>
                  </a:txBody>
                  <a:tcPr/>
                </a:tc>
              </a:tr>
              <a:tr h="384048">
                <a:tc>
                  <a:txBody>
                    <a:bodyPr/>
                    <a:lstStyle/>
                    <a:p>
                      <a:pPr>
                        <a:defRPr sz="1200" b="1"/>
                      </a:pPr>
                      <a:r>
                        <a:t>0.65</a:t>
                      </a:r>
                    </a:p>
                  </a:txBody>
                  <a:tcPr/>
                </a:tc>
                <a:tc>
                  <a:txBody>
                    <a:bodyPr/>
                    <a:lstStyle/>
                    <a:p>
                      <a:pPr>
                        <a:defRPr sz="1200" b="0"/>
                      </a:pPr>
                      <a:r>
                        <a:t>37.7</a:t>
                      </a:r>
                    </a:p>
                  </a:txBody>
                  <a:tcPr/>
                </a:tc>
                <a:tc>
                  <a:txBody>
                    <a:bodyPr/>
                    <a:lstStyle/>
                    <a:p>
                      <a:pPr>
                        <a:defRPr sz="1200" b="0"/>
                      </a:pPr>
                      <a:r>
                        <a:t>35.6</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~38.9 ± 1.3 dB de media. El peor g casi no depende de la grilla.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688336"/>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r h="384048">
                <a:tc>
                  <a:txBody>
                    <a:bodyPr/>
                    <a:lstStyle/>
                    <a:p>
                      <a:pPr>
                        <a:defRPr sz="1200" b="1"/>
                      </a:pPr>
                      <a:r>
                        <a:t>DIP, mejor de Optuna (181 trials): meshgrid, skip 0, LR ~5e-3, 3000 it</a:t>
                      </a:r>
                    </a:p>
                  </a:txBody>
                  <a:tcPr/>
                </a:tc>
                <a:tc>
                  <a:txBody>
                    <a:bodyPr/>
                    <a:lstStyle/>
                    <a:p>
                      <a:pPr>
                        <a:defRPr sz="1200" b="0"/>
                      </a:pPr>
                      <a:r>
                        <a:t>29.9</a:t>
                      </a:r>
                    </a:p>
                  </a:txBody>
                  <a:tcPr/>
                </a:tc>
                <a:tc>
                  <a:txBody>
                    <a:bodyPr/>
                    <a:lstStyle/>
                    <a:p>
                      <a:pPr>
                        <a:defRPr sz="1200" b="0"/>
                      </a:pPr>
                      <a:r>
                        <a:t>26.2</a:t>
                      </a:r>
                    </a:p>
                  </a:txBody>
                  <a:tcPr/>
                </a:tc>
              </a:tr>
            </a:tbl>
          </a:graphicData>
        </a:graphic>
      </p:graphicFrame>
      <p:sp>
        <p:nvSpPr>
          <p:cNvPr id="4" name="TextBox 3"/>
          <p:cNvSpPr txBox="1"/>
          <p:nvPr/>
        </p:nvSpPr>
        <p:spPr>
          <a:xfrm>
            <a:off x="731520" y="4151376"/>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a la interpolación con los mismos puntos (+4 dB; +5.5 con Optuna); la receta de la tesis (afinada para ~328 puntos) no. Todos los mejores trials son la config 'vase' afinada; el muestreo uniforme nunca aparece arriba.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 (9 g)</a:t>
            </a:r>
          </a:p>
        </p:txBody>
      </p:sp>
      <p:graphicFrame>
        <p:nvGraphicFramePr>
          <p:cNvPr id="3" name="Table 2"/>
          <p:cNvGraphicFramePr>
            <a:graphicFrameLocks noGrp="1"/>
          </p:cNvGraphicFramePr>
          <p:nvPr/>
        </p:nvGraphicFramePr>
        <p:xfrm>
          <a:off x="731520" y="1371600"/>
          <a:ext cx="10698480" cy="1920240"/>
        </p:xfrm>
        <a:graphic>
          <a:graphicData uri="http://schemas.openxmlformats.org/drawingml/2006/table">
            <a:tbl>
              <a:tblPr firstRow="1" bandRow="1">
                <a:tableStyleId>{5C22544A-7EE6-4342-B048-85BDC9FD1C3A}</a:tableStyleId>
              </a:tblPr>
              <a:tblGrid>
                <a:gridCol w="5120640"/>
                <a:gridCol w="1737360"/>
                <a:gridCol w="1737360"/>
                <a:gridCol w="2103120"/>
              </a:tblGrid>
              <a:tr h="384048">
                <a:tc>
                  <a:txBody>
                    <a:bodyPr/>
                    <a:lstStyle/>
                    <a:p>
                      <a:pPr>
                        <a:defRPr sz="1300" b="1"/>
                      </a:pPr>
                      <a:r>
                        <a:t>reconstrucción (mismos 64 puntos, 9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g ≥ 38 dB</a:t>
                      </a:r>
                    </a:p>
                  </a:txBody>
                  <a:tcPr/>
                </a:tc>
              </a:tr>
              <a:tr h="384048">
                <a:tc>
                  <a:txBody>
                    <a:bodyPr/>
                    <a:lstStyle/>
                    <a:p>
                      <a:pPr>
                        <a:defRPr sz="1200" b="1"/>
                      </a:pPr>
                      <a:r>
                        <a:t>TPS sola (acantilado + monotonía + RANSAC)</a:t>
                      </a:r>
                    </a:p>
                  </a:txBody>
                  <a:tcPr/>
                </a:tc>
                <a:tc>
                  <a:txBody>
                    <a:bodyPr/>
                    <a:lstStyle/>
                    <a:p>
                      <a:pPr>
                        <a:defRPr sz="1200" b="0"/>
                      </a:pPr>
                      <a:r>
                        <a:t>40.6</a:t>
                      </a:r>
                    </a:p>
                  </a:txBody>
                  <a:tcPr/>
                </a:tc>
                <a:tc>
                  <a:txBody>
                    <a:bodyPr/>
                    <a:lstStyle/>
                    <a:p>
                      <a:pPr>
                        <a:defRPr sz="1200" b="0"/>
                      </a:pPr>
                      <a:r>
                        <a:t>36.2</a:t>
                      </a:r>
                    </a:p>
                  </a:txBody>
                  <a:tcPr/>
                </a:tc>
                <a:tc>
                  <a:txBody>
                    <a:bodyPr/>
                    <a:lstStyle/>
                    <a:p>
                      <a:pPr>
                        <a:defRPr sz="1200" b="0"/>
                      </a:pPr>
                      <a:r>
                        <a:t>8 / 9</a:t>
                      </a:r>
                    </a:p>
                  </a:txBody>
                  <a:tcPr/>
                </a:tc>
              </a:tr>
              <a:tr h="384048">
                <a:tc>
                  <a:txBody>
                    <a:bodyPr/>
                    <a:lstStyle/>
                    <a:p>
                      <a:pPr>
                        <a:defRPr sz="1200" b="1"/>
                      </a:pPr>
                      <a:r>
                        <a:t>DIP (receta tesis) + ceros + franja TPS, sin fusionar</a:t>
                      </a:r>
                    </a:p>
                  </a:txBody>
                  <a:tcPr/>
                </a:tc>
                <a:tc>
                  <a:txBody>
                    <a:bodyPr/>
                    <a:lstStyle/>
                    <a:p>
                      <a:pPr>
                        <a:defRPr sz="1200" b="0"/>
                      </a:pPr>
                      <a:r>
                        <a:t>37.0</a:t>
                      </a:r>
                    </a:p>
                  </a:txBody>
                  <a:tcPr/>
                </a:tc>
                <a:tc>
                  <a:txBody>
                    <a:bodyPr/>
                    <a:lstStyle/>
                    <a:p>
                      <a:pPr>
                        <a:defRPr sz="1200" b="0"/>
                      </a:pPr>
                      <a:r>
                        <a:t>31.3</a:t>
                      </a:r>
                    </a:p>
                  </a:txBody>
                  <a:tcPr/>
                </a:tc>
                <a:tc>
                  <a:txBody>
                    <a:bodyPr/>
                    <a:lstStyle/>
                    <a:p>
                      <a:pPr>
                        <a:defRPr sz="1200" b="0"/>
                      </a:pPr>
                    </a:p>
                  </a:txBody>
                  <a:tcPr/>
                </a:tc>
              </a:tr>
              <a:tr h="384048">
                <a:tc>
                  <a:txBody>
                    <a:bodyPr/>
                    <a:lstStyle/>
                    <a:p>
                      <a:pPr>
                        <a:defRPr sz="1200" b="1"/>
                      </a:pPr>
                      <a:r>
                        <a:t>Fusión TPS + DIP (B = 20 px), sin guarda (TPS sin suavizar)</a:t>
                      </a:r>
                    </a:p>
                  </a:txBody>
                  <a:tcPr/>
                </a:tc>
                <a:tc>
                  <a:txBody>
                    <a:bodyPr/>
                    <a:lstStyle/>
                    <a:p>
                      <a:pPr>
                        <a:defRPr sz="1200" b="0"/>
                      </a:pPr>
                      <a:r>
                        <a:t>40.3</a:t>
                      </a:r>
                    </a:p>
                  </a:txBody>
                  <a:tcPr/>
                </a:tc>
                <a:tc>
                  <a:txBody>
                    <a:bodyPr/>
                    <a:lstStyle/>
                    <a:p>
                      <a:pPr>
                        <a:defRPr sz="1200" b="0"/>
                      </a:pPr>
                      <a:r>
                        <a:t>32.5</a:t>
                      </a:r>
                    </a:p>
                  </a:txBody>
                  <a:tcPr/>
                </a:tc>
                <a:tc>
                  <a:txBody>
                    <a:bodyPr/>
                    <a:lstStyle/>
                    <a:p>
                      <a:pPr>
                        <a:defRPr sz="1200" b="0"/>
                      </a:pPr>
                    </a:p>
                  </a:txBody>
                  <a:tcPr/>
                </a:tc>
              </a:tr>
              <a:tr h="384048">
                <a:tc>
                  <a:txBody>
                    <a:bodyPr/>
                    <a:lstStyle/>
                    <a:p>
                      <a:pPr>
                        <a:defRPr sz="1200" b="1"/>
                      </a:pPr>
                      <a:r>
                        <a:t>Fusión TPS + DIP + guarda de falla de DIP</a:t>
                      </a:r>
                    </a:p>
                  </a:txBody>
                  <a:tcPr/>
                </a:tc>
                <a:tc>
                  <a:txBody>
                    <a:bodyPr/>
                    <a:lstStyle/>
                    <a:p>
                      <a:pPr>
                        <a:defRPr sz="1200" b="0"/>
                      </a:pPr>
                      <a:r>
                        <a:t>41.3</a:t>
                      </a:r>
                    </a:p>
                  </a:txBody>
                  <a:tcPr/>
                </a:tc>
                <a:tc>
                  <a:txBody>
                    <a:bodyPr/>
                    <a:lstStyle/>
                    <a:p>
                      <a:pPr>
                        <a:defRPr sz="1200" b="0"/>
                      </a:pPr>
                      <a:r>
                        <a:t>37.7</a:t>
                      </a:r>
                    </a:p>
                  </a:txBody>
                  <a:tcPr/>
                </a:tc>
                <a:tc>
                  <a:txBody>
                    <a:bodyPr/>
                    <a:lstStyle/>
                    <a:p>
                      <a:pPr>
                        <a:defRPr sz="1200" b="0"/>
                      </a:pPr>
                      <a:r>
                        <a:t>8 / 9</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La fusión gana en 6 de 9 g, pero cuando DIP falla arrastra todo.</a:t>
            </a:r>
          </a:p>
          <a:p>
            <a:pPr>
              <a:defRPr sz="1200" i="1">
                <a:solidFill>
                  <a:srgbClr val="404040"/>
                </a:solidFill>
              </a:defRPr>
            </a:pPr>
            <a:r>
              <a:t>Guarda sin mirar el mapa: si DIP no reproduce los puntos reales consultados (RMS del residuo &gt; 0.02; cuando anda es ≤ 0.008 y cuando falla ≥ 0.03), en ese g se usa solo la TPS.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Quién rellena cada zona: 0 / TPS / DIP</a:t>
            </a:r>
          </a:p>
        </p:txBody>
      </p:sp>
      <p:pic>
        <p:nvPicPr>
          <p:cNvPr id="3" name="Picture 2" descr="zonas_tps_dip.png"/>
          <p:cNvPicPr>
            <a:picLocks noChangeAspect="1"/>
          </p:cNvPicPr>
          <p:nvPr/>
        </p:nvPicPr>
        <p:blipFill>
          <a:blip r:embed="rId2"/>
          <a:stretch>
            <a:fillRect/>
          </a:stretch>
        </p:blipFill>
        <p:spPr>
          <a:xfrm>
            <a:off x="333756" y="2039112"/>
            <a:ext cx="11521440" cy="3328415"/>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Debajo del borde (salto a 0): 0 directo. Pegado al borde: interpolación TPS. Lejos del borde, en la zona lisa: DIP. El paso entre TPS y DIP es gradual (peso exp(−(d/20)²)).</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En KMC no sabemos la forma exacta: el método chequea sus supuestos</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Todo se afinó con los 9 diagramas del modelo del continuo. En KMC la estructura es parecida (mesetas, rampas, acantilado) pero con otra distribución.</a:t>
            </a:r>
          </a:p>
          <a:p>
            <a:pPr>
              <a:spcAft>
                <a:spcPts val="500"/>
              </a:spcAft>
              <a:defRPr sz="1500">
                <a:solidFill>
                  <a:srgbClr val="404040"/>
                </a:solidFill>
              </a:defRPr>
            </a:pPr>
            <a:r>
              <a:t>Cada supuesto se verifica con los propios puntos y, si no se cumple, se apaga:</a:t>
            </a:r>
          </a:p>
          <a:p>
            <a:pPr lvl="1">
              <a:spcAft>
                <a:spcPts val="500"/>
              </a:spcAft>
              <a:defRPr sz="1200">
                <a:solidFill>
                  <a:srgbClr val="404040"/>
                </a:solidFill>
              </a:defRPr>
            </a:pPr>
            <a:r>
              <a:t>Monotonía: solo si ningún par de puntos la viola (más allá del ruido). Si ya la grilla la viola, no se hace bisección y todo el presupuesto va al relleno genérico.</a:t>
            </a:r>
          </a:p>
          <a:p>
            <a:pPr lvl="1">
              <a:spcAft>
                <a:spcPts val="500"/>
              </a:spcAft>
              <a:defRPr sz="1200">
                <a:solidFill>
                  <a:srgbClr val="404040"/>
                </a:solidFill>
              </a:defRPr>
            </a:pPr>
            <a:r>
              <a:t>Acantilado: solo si casi todos los puntos debajo del borde valen 0. Borde recto, curvo (parábola / cúbica por RANSAC) o por tramos, elegido con los propios cruces.</a:t>
            </a:r>
          </a:p>
          <a:p>
            <a:pPr lvl="1">
              <a:spcAft>
                <a:spcPts val="500"/>
              </a:spcAft>
              <a:defRPr sz="1200">
                <a:solidFill>
                  <a:srgbClr val="404040"/>
                </a:solidFill>
              </a:defRPr>
            </a:pPr>
            <a:r>
              <a:t>Compresión vertical: la elige la validación cruzada entre 4 valores.</a:t>
            </a:r>
          </a:p>
          <a:p>
            <a:pPr>
              <a:spcAft>
                <a:spcPts val="500"/>
              </a:spcAft>
              <a:defRPr sz="1500">
                <a:solidFill>
                  <a:srgbClr val="404040"/>
                </a:solidFill>
              </a:defRPr>
            </a:pPr>
            <a:r>
              <a:t>En los 9 diagramas originales no cambia nada (mismos puntos, mismo resultado).</a:t>
            </a:r>
          </a:p>
          <a:p>
            <a:pPr>
              <a:spcAft>
                <a:spcPts val="500"/>
              </a:spcAft>
              <a:defRPr sz="1500">
                <a:solidFill>
                  <a:srgbClr val="404040"/>
                </a:solidFill>
              </a:defRPr>
            </a:pPr>
            <a:r>
              <a:t>Diagramas de fase nuevos (g = +2, +4): 36.6 y 38.4 dB vs 32.4 y 34.5 del baseline. En formas totalmente distintas (Gauss, Rosenbrock, Himmelblau) ya no se rompe: cae a lo genérico.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Misma estructura, otra geometría</a:t>
            </a:r>
          </a:p>
        </p:txBody>
      </p:sp>
      <p:pic>
        <p:nvPicPr>
          <p:cNvPr id="3" name="Picture 2" descr="deformados.png"/>
          <p:cNvPicPr>
            <a:picLocks noChangeAspect="1"/>
          </p:cNvPicPr>
          <p:nvPr/>
        </p:nvPicPr>
        <p:blipFill>
          <a:blip r:embed="rId2"/>
          <a:stretch>
            <a:fillRect/>
          </a:stretch>
        </p:blipFill>
        <p:spPr>
          <a:xfrm>
            <a:off x="1280769" y="1280160"/>
            <a:ext cx="96274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Los 3 g (-4, -2, -0.5) deformados: acantilado corrido, con otra inclinación, arqueado o en S. El método le gana al baseline por ~9 dB; lo más difícil es el frente en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Ruido tipo KMC: la receta se puede hacer robusta</a:t>
            </a:r>
          </a:p>
        </p:txBody>
      </p:sp>
      <p:pic>
        <p:nvPicPr>
          <p:cNvPr id="3" name="Picture 2" descr="ruido.png"/>
          <p:cNvPicPr>
            <a:picLocks noChangeAspect="1"/>
          </p:cNvPicPr>
          <p:nvPr/>
        </p:nvPicPr>
        <p:blipFill>
          <a:blip r:embed="rId2"/>
          <a:stretch>
            <a:fillRect/>
          </a:stretch>
        </p:blipFill>
        <p:spPr>
          <a:xfrm>
            <a:off x="1751076" y="1300495"/>
            <a:ext cx="8686800" cy="4805649"/>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Cada punto con ruido gaussiano de desvío σ (fijo por punto). Umbral de 'vale 0' = 3σ, salto mínimo ~5σ y recta del acantilado por RANSAC. σ hay que estimarlo en KMC con corridas repetidas.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ruido, DIP sí suma (fusión)</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1828800"/>
                <a:gridCol w="2194560"/>
                <a:gridCol w="2011680"/>
                <a:gridCol w="2194560"/>
                <a:gridCol w="2468880"/>
              </a:tblGrid>
              <a:tr h="384048">
                <a:tc>
                  <a:txBody>
                    <a:bodyPr/>
                    <a:lstStyle/>
                    <a:p>
                      <a:pPr>
                        <a:defRPr sz="1300" b="1"/>
                      </a:pPr>
                      <a:r>
                        <a:t>ruido σ (4 g)</a:t>
                      </a:r>
                    </a:p>
                  </a:txBody>
                  <a:tcPr/>
                </a:tc>
                <a:tc>
                  <a:txBody>
                    <a:bodyPr/>
                    <a:lstStyle/>
                    <a:p>
                      <a:pPr>
                        <a:defRPr sz="1300" b="1"/>
                      </a:pPr>
                      <a:r>
                        <a:t>TPS robusta sola</a:t>
                      </a:r>
                    </a:p>
                  </a:txBody>
                  <a:tcPr/>
                </a:tc>
                <a:tc>
                  <a:txBody>
                    <a:bodyPr/>
                    <a:lstStyle/>
                    <a:p>
                      <a:pPr>
                        <a:defRPr sz="1300" b="1"/>
                      </a:pPr>
                      <a:r>
                        <a:t>DIP solo</a:t>
                      </a:r>
                    </a:p>
                  </a:txBody>
                  <a:tcPr/>
                </a:tc>
                <a:tc>
                  <a:txBody>
                    <a:bodyPr/>
                    <a:lstStyle/>
                    <a:p>
                      <a:pPr>
                        <a:defRPr sz="1300" b="1"/>
                      </a:pPr>
                      <a:r>
                        <a:t>fusión TPS + DIP</a:t>
                      </a:r>
                    </a:p>
                  </a:txBody>
                  <a:tcPr/>
                </a:tc>
                <a:tc>
                  <a:txBody>
                    <a:bodyPr/>
                    <a:lstStyle/>
                    <a:p>
                      <a:pPr>
                        <a:defRPr sz="1300" b="1"/>
                      </a:pPr>
                      <a:r>
                        <a:t>SSIM TPS → fusión</a:t>
                      </a:r>
                    </a:p>
                  </a:txBody>
                  <a:tcPr/>
                </a:tc>
              </a:tr>
              <a:tr h="384048">
                <a:tc>
                  <a:txBody>
                    <a:bodyPr/>
                    <a:lstStyle/>
                    <a:p>
                      <a:pPr>
                        <a:defRPr sz="1200" b="1"/>
                      </a:pPr>
                      <a:r>
                        <a:t>0.01</a:t>
                      </a:r>
                    </a:p>
                  </a:txBody>
                  <a:tcPr/>
                </a:tc>
                <a:tc>
                  <a:txBody>
                    <a:bodyPr/>
                    <a:lstStyle/>
                    <a:p>
                      <a:pPr>
                        <a:defRPr sz="1200" b="0"/>
                      </a:pPr>
                      <a:r>
                        <a:t>38.3 (35.0)</a:t>
                      </a:r>
                    </a:p>
                  </a:txBody>
                  <a:tcPr/>
                </a:tc>
                <a:tc>
                  <a:txBody>
                    <a:bodyPr/>
                    <a:lstStyle/>
                    <a:p>
                      <a:pPr>
                        <a:defRPr sz="1200" b="0"/>
                      </a:pPr>
                      <a:r>
                        <a:t>35.8 (33.8)</a:t>
                      </a:r>
                    </a:p>
                  </a:txBody>
                  <a:tcPr/>
                </a:tc>
                <a:tc>
                  <a:txBody>
                    <a:bodyPr/>
                    <a:lstStyle/>
                    <a:p>
                      <a:pPr>
                        <a:defRPr sz="1200" b="0"/>
                      </a:pPr>
                      <a:r>
                        <a:t>39.0 (35.5)</a:t>
                      </a:r>
                    </a:p>
                  </a:txBody>
                  <a:tcPr/>
                </a:tc>
                <a:tc>
                  <a:txBody>
                    <a:bodyPr/>
                    <a:lstStyle/>
                    <a:p>
                      <a:pPr>
                        <a:defRPr sz="1200" b="0"/>
                      </a:pPr>
                      <a:r>
                        <a:t>0.983 → 0.990</a:t>
                      </a:r>
                    </a:p>
                  </a:txBody>
                  <a:tcPr/>
                </a:tc>
              </a:tr>
              <a:tr h="384048">
                <a:tc>
                  <a:txBody>
                    <a:bodyPr/>
                    <a:lstStyle/>
                    <a:p>
                      <a:pPr>
                        <a:defRPr sz="1200" b="1"/>
                      </a:pPr>
                      <a:r>
                        <a:t>0.03</a:t>
                      </a:r>
                    </a:p>
                  </a:txBody>
                  <a:tcPr/>
                </a:tc>
                <a:tc>
                  <a:txBody>
                    <a:bodyPr/>
                    <a:lstStyle/>
                    <a:p>
                      <a:pPr>
                        <a:defRPr sz="1200" b="0"/>
                      </a:pPr>
                      <a:r>
                        <a:t>34.2 (32.4)</a:t>
                      </a:r>
                    </a:p>
                  </a:txBody>
                  <a:tcPr/>
                </a:tc>
                <a:tc>
                  <a:txBody>
                    <a:bodyPr/>
                    <a:lstStyle/>
                    <a:p>
                      <a:pPr>
                        <a:defRPr sz="1200" b="0"/>
                      </a:pPr>
                      <a:r>
                        <a:t>33.0 (31.3)</a:t>
                      </a:r>
                    </a:p>
                  </a:txBody>
                  <a:tcPr/>
                </a:tc>
                <a:tc>
                  <a:txBody>
                    <a:bodyPr/>
                    <a:lstStyle/>
                    <a:p>
                      <a:pPr>
                        <a:defRPr sz="1200" b="0"/>
                      </a:pPr>
                      <a:r>
                        <a:t>34.9 (33.6)</a:t>
                      </a:r>
                    </a:p>
                  </a:txBody>
                  <a:tcPr/>
                </a:tc>
                <a:tc>
                  <a:txBody>
                    <a:bodyPr/>
                    <a:lstStyle/>
                    <a:p>
                      <a:pPr>
                        <a:defRPr sz="1200" b="0"/>
                      </a:pPr>
                      <a:r>
                        <a:t>0.963 → 0.982</a:t>
                      </a:r>
                    </a:p>
                  </a:txBody>
                  <a:tcPr/>
                </a:tc>
              </a:tr>
              <a:tr h="384048">
                <a:tc>
                  <a:txBody>
                    <a:bodyPr/>
                    <a:lstStyle/>
                    <a:p>
                      <a:pPr>
                        <a:defRPr sz="1200" b="1"/>
                      </a:pPr>
                      <a:r>
                        <a:t>0.05</a:t>
                      </a:r>
                    </a:p>
                  </a:txBody>
                  <a:tcPr/>
                </a:tc>
                <a:tc>
                  <a:txBody>
                    <a:bodyPr/>
                    <a:lstStyle/>
                    <a:p>
                      <a:pPr>
                        <a:defRPr sz="1200" b="0"/>
                      </a:pPr>
                      <a:r>
                        <a:t>31.4 (30.7)</a:t>
                      </a:r>
                    </a:p>
                  </a:txBody>
                  <a:tcPr/>
                </a:tc>
                <a:tc>
                  <a:txBody>
                    <a:bodyPr/>
                    <a:lstStyle/>
                    <a:p>
                      <a:pPr>
                        <a:defRPr sz="1200" b="0"/>
                      </a:pPr>
                      <a:r>
                        <a:t>29.6 (28.9)</a:t>
                      </a:r>
                    </a:p>
                  </a:txBody>
                  <a:tcPr/>
                </a:tc>
                <a:tc>
                  <a:txBody>
                    <a:bodyPr/>
                    <a:lstStyle/>
                    <a:p>
                      <a:pPr>
                        <a:defRPr sz="1200" b="0"/>
                      </a:pPr>
                      <a:r>
                        <a:t>32.6 (31.2)</a:t>
                      </a:r>
                    </a:p>
                  </a:txBody>
                  <a:tcPr/>
                </a:tc>
                <a:tc>
                  <a:txBody>
                    <a:bodyPr/>
                    <a:lstStyle/>
                    <a:p>
                      <a:pPr>
                        <a:defRPr sz="1200" b="0"/>
                      </a:pPr>
                      <a:r>
                        <a:t>0.939 → 0.968</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Media (peor g). Con ruido, DIP solo pierde contra la TPS, pero fusionado suma, y más cuanto más ruido (+0.7, +0.7, +1.2 dB), sobre todo en SSIM: DIP filtra el ruido que la TPS copia punto a punto. Guarda con ruido: 0.02 + 2σ.</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783080"/>
            <a:ext cx="11521440" cy="384048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181 trials en Mendieta. Mejor DIP con 64 puntos en grilla: 29.9 dB (config 'vase' del paper afinada); uniform siempre peor. En el muestreo nuevo, la grilla (6 columnas × 5 filas) es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a:p>
            <a:pPr>
              <a:spcAft>
                <a:spcPts val="500"/>
              </a:spcAft>
              <a:defRPr sz="1500">
                <a:solidFill>
                  <a:srgbClr val="404040"/>
                </a:solidFill>
              </a:defRPr>
            </a:pPr>
            <a:r>
              <a:t>Fusión sin guarda en 9 g: cuando DIP falla en un g (-4 dB), arrastra el promedio.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Listo para KMC: planificador de tandas (autoexp/kmc_planner.py)</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init --budget 64 --sigma σ  →  next  →  (correr KMC)  →  add resultados.csv  →  next ...  →  reconstruct</a:t>
            </a:r>
          </a:p>
          <a:p>
            <a:pPr>
              <a:spcAft>
                <a:spcPts val="500"/>
              </a:spcAft>
              <a:defRPr sz="1700">
                <a:solidFill>
                  <a:srgbClr val="404040"/>
                </a:solidFill>
              </a:defRPr>
            </a:pPr>
            <a:r>
              <a:t>Cada 'next' devuelve la tanda siguiente en (log Ξ, log ℓ), para correr en paralelo en el cluster.</a:t>
            </a:r>
          </a:p>
          <a:p>
            <a:pPr>
              <a:spcAft>
                <a:spcPts val="500"/>
              </a:spcAft>
              <a:defRPr sz="1700">
                <a:solidFill>
                  <a:srgbClr val="404040"/>
                </a:solidFill>
              </a:defRPr>
            </a:pPr>
            <a:r>
              <a:t>Con 64 puntos: 9 tandas = 30 (grilla) + 4-5 rondas de ~5 (bisección) + 3-4 rondas de 4 (relleno).</a:t>
            </a:r>
          </a:p>
          <a:p>
            <a:pPr>
              <a:spcAft>
                <a:spcPts val="500"/>
              </a:spcAft>
              <a:defRPr sz="1700">
                <a:solidFill>
                  <a:srgbClr val="404040"/>
                </a:solidFill>
              </a:defRPr>
            </a:pPr>
            <a:r>
              <a:t>Probado de punta a punta contra el modelo del continuo (simulate): g=-4 46.2 dB, g=-2 38.6, g=-0.5 39.4; g=-2 con ruido σ=0.01: 37.6.</a:t>
            </a:r>
          </a:p>
          <a:p>
            <a:pPr>
              <a:spcAft>
                <a:spcPts val="500"/>
              </a:spcAft>
              <a:defRPr sz="1700">
                <a:solidFill>
                  <a:srgbClr val="404040"/>
                </a:solidFill>
              </a:defRPr>
            </a:pPr>
            <a:r>
              <a:t>σ se estima con corridas repetidas de KMC (NRUNS) y fija todos los umbrales solo.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 con guarda.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con σ = 0.01 se pierden ~1.5 dB y con σ = 0.03 ~5 dB (fusión con DIP). Con ruido DIP suma más (sobre todo SSIM). Hay que estimar σ de KMC con corridas repetidas.</a:t>
            </a:r>
          </a:p>
          <a:p>
            <a:pPr lvl="1">
              <a:spcAft>
                <a:spcPts val="500"/>
              </a:spcAft>
              <a:defRPr sz="1300">
                <a:solidFill>
                  <a:srgbClr val="404040"/>
                </a:solidFill>
              </a:defRPr>
            </a:pPr>
            <a:r>
              <a:t>Guarda de DIP: si DIP no ajusta los puntos reales, se usa solo la TPS (o se relanza DIP con otra semilla).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