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011680"/>
            <a:ext cx="10972800" cy="1828800"/>
          </a:xfrm>
          <a:prstGeom prst="rect">
            <a:avLst/>
          </a:prstGeom>
          <a:noFill/>
        </p:spPr>
        <p:txBody>
          <a:bodyPr wrap="square">
            <a:spAutoFit/>
          </a:bodyPr>
          <a:lstStyle/>
          <a:p>
            <a:pPr>
              <a:defRPr sz="3600" b="1">
                <a:solidFill>
                  <a:srgbClr val="1F3B73"/>
                </a:solidFill>
              </a:defRPr>
            </a:pPr>
            <a:r>
              <a:t>Reconstruir el diagrama de fases con 64 puntos</a:t>
            </a:r>
          </a:p>
        </p:txBody>
      </p:sp>
      <p:sp>
        <p:nvSpPr>
          <p:cNvPr id="3" name="TextBox 2"/>
          <p:cNvSpPr txBox="1"/>
          <p:nvPr/>
        </p:nvSpPr>
        <p:spPr>
          <a:xfrm>
            <a:off x="640080" y="3657600"/>
            <a:ext cx="10972800" cy="1371600"/>
          </a:xfrm>
          <a:prstGeom prst="rect">
            <a:avLst/>
          </a:prstGeom>
          <a:noFill/>
        </p:spPr>
        <p:txBody>
          <a:bodyPr wrap="square">
            <a:spAutoFit/>
          </a:bodyPr>
          <a:lstStyle/>
          <a:p>
            <a:pPr>
              <a:defRPr sz="1900">
                <a:solidFill>
                  <a:srgbClr val="404040"/>
                </a:solidFill>
              </a:defRPr>
            </a:pPr>
            <a:r>
              <a:t>Loop de experimentación automática: muestreo activo + interpolación + DIP  ·  Santiago Afonso  ·  (en curso: se actualiza con cada resultado nuevo)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Resumen: dónde estamos</a:t>
            </a:r>
          </a:p>
        </p:txBody>
      </p:sp>
      <p:pic>
        <p:nvPicPr>
          <p:cNvPr id="3" name="Picture 2" descr="resumen.png"/>
          <p:cNvPicPr>
            <a:picLocks noChangeAspect="1"/>
          </p:cNvPicPr>
          <p:nvPr/>
        </p:nvPicPr>
        <p:blipFill>
          <a:blip r:embed="rId2"/>
          <a:stretch>
            <a:fillRect/>
          </a:stretch>
        </p:blipFill>
        <p:spPr>
          <a:xfrm>
            <a:off x="1688259" y="1280160"/>
            <a:ext cx="8812432"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Arriba: cada paso, con el mismo presupuesto de 64 puntos. Abajo: original vs. reconstrucción de 64 puntos, sin DIP, en 4 de los 9 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El problema y el objetivo</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700">
                <a:solidFill>
                  <a:srgbClr val="404040"/>
                </a:solidFill>
              </a:defRPr>
            </a:pPr>
            <a:r>
              <a:t>Cada punto del diagrama con KMC cuesta horas: la pregunta de la tesis es con cuántos puntos se puede reconstruir el mapa completo de forma confiable.</a:t>
            </a:r>
          </a:p>
          <a:p>
            <a:pPr>
              <a:spcAft>
                <a:spcPts val="500"/>
              </a:spcAft>
              <a:defRPr sz="1700">
                <a:solidFill>
                  <a:srgbClr val="404040"/>
                </a:solidFill>
              </a:defRPr>
            </a:pPr>
            <a:r>
              <a:t>Objetivo fijado: ≤ 64 puntos (0.4 % de una imagen de 128×128) y &gt; 38 dB de PSNR.</a:t>
            </a:r>
          </a:p>
          <a:p>
            <a:pPr>
              <a:spcAft>
                <a:spcPts val="500"/>
              </a:spcAft>
              <a:defRPr sz="1700">
                <a:solidFill>
                  <a:srgbClr val="404040"/>
                </a:solidFill>
              </a:defRPr>
            </a:pPr>
            <a:r>
              <a:t>Hasta la entrega anterior, DIP con ~82 puntos daba 14 a 36 dB según el g, y hacían falta ~164 a 328 puntos (ubicados mirando el mapa denso) para pasar los 40 dB.</a:t>
            </a:r>
          </a:p>
          <a:p>
            <a:pPr>
              <a:spcAft>
                <a:spcPts val="500"/>
              </a:spcAft>
              <a:defRPr sz="1700">
                <a:solidFill>
                  <a:srgbClr val="404040"/>
                </a:solidFill>
              </a:defRPr>
            </a:pPr>
            <a:r>
              <a:t>Regla clave: ningún método puede mirar el mapa. Solo puede consultar puntos, igual que se haría con KMC.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Cómo se armó el loop automático</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700">
                <a:solidFill>
                  <a:srgbClr val="404040"/>
                </a:solidFill>
              </a:defRPr>
            </a:pPr>
            <a:r>
              <a:t>Oráculo (fijo): la única forma de ver valores del mapa. Cuenta las consultas, corta en 64 y las registra.</a:t>
            </a:r>
          </a:p>
          <a:p>
            <a:pPr>
              <a:spcAft>
                <a:spcPts val="500"/>
              </a:spcAft>
              <a:defRPr sz="1700">
                <a:solidFill>
                  <a:srgbClr val="404040"/>
                </a:solidFill>
              </a:defRPr>
            </a:pPr>
            <a:r>
              <a:t>Evaluador (fijo): PSNR / SSIM / PSNR en la banda de frontera; verifica el presupuesto y que los valores registrados sean los reales. Deja una figura por corrida.</a:t>
            </a:r>
          </a:p>
          <a:p>
            <a:pPr>
              <a:spcAft>
                <a:spcPts val="500"/>
              </a:spcAft>
              <a:defRPr sz="1700">
                <a:solidFill>
                  <a:srgbClr val="404040"/>
                </a:solidFill>
              </a:defRPr>
            </a:pPr>
            <a:r>
              <a:t>Desarrollo con 3 g (-4, -2, -0.5); todo lo que gana se valida en los 9 g negativos.</a:t>
            </a:r>
          </a:p>
          <a:p>
            <a:pPr>
              <a:spcAft>
                <a:spcPts val="500"/>
              </a:spcAft>
              <a:defRPr sz="1700">
                <a:solidFill>
                  <a:srgbClr val="404040"/>
                </a:solidFill>
              </a:defRPr>
            </a:pPr>
            <a:r>
              <a:t>Cada intento cambia una sola cosa, se mide y se anota en la bitácora (autoexp/experimentos.md). Si empeora, se revierte.</a:t>
            </a:r>
          </a:p>
          <a:p>
            <a:pPr>
              <a:spcAft>
                <a:spcPts val="500"/>
              </a:spcAft>
              <a:defRPr sz="1700">
                <a:solidFill>
                  <a:srgbClr val="404040"/>
                </a:solidFill>
              </a:defRPr>
            </a:pPr>
            <a:r>
              <a:t>Interpolación y muestreo corren en local (segundos); DIP corre en Mendieta (A30, ~20 min por trial). Optuna busca hiperparámetros de DIP en paralelo.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Punto de partida: interpolación de scipy (punto 6 de la reunión)</a:t>
            </a:r>
          </a:p>
        </p:txBody>
      </p:sp>
      <p:sp>
        <p:nvSpPr>
          <p:cNvPr id="3" name="TextBox 2"/>
          <p:cNvSpPr txBox="1"/>
          <p:nvPr/>
        </p:nvSpPr>
        <p:spPr>
          <a:xfrm>
            <a:off x="457200" y="1280160"/>
            <a:ext cx="4114800" cy="5303520"/>
          </a:xfrm>
          <a:prstGeom prst="rect">
            <a:avLst/>
          </a:prstGeom>
          <a:noFill/>
        </p:spPr>
        <p:txBody>
          <a:bodyPr wrap="square">
            <a:spAutoFit/>
          </a:bodyPr>
          <a:lstStyle/>
          <a:p>
            <a:pPr>
              <a:spcAft>
                <a:spcPts val="500"/>
              </a:spcAft>
              <a:defRPr sz="1400">
                <a:solidFill>
                  <a:srgbClr val="404040"/>
                </a:solidFill>
              </a:defRPr>
            </a:pPr>
            <a:r>
              <a:t>Grilla 8×8 = 64 puntos, cuatro interpoladores de scipy.</a:t>
            </a:r>
          </a:p>
          <a:p>
            <a:pPr>
              <a:spcAft>
                <a:spcPts val="500"/>
              </a:spcAft>
              <a:defRPr sz="1400">
                <a:solidFill>
                  <a:srgbClr val="404040"/>
                </a:solidFill>
              </a:defRPr>
            </a:pPr>
            <a:r>
              <a:t>El mejor es la RBF thin-plate spline (TPS): 24.4 dB de media, 21.2 en el peor g.</a:t>
            </a:r>
          </a:p>
          <a:p>
            <a:pPr>
              <a:spcAft>
                <a:spcPts val="500"/>
              </a:spcAft>
              <a:defRPr sz="1400">
                <a:solidFill>
                  <a:srgbClr val="404040"/>
                </a:solidFill>
              </a:defRPr>
            </a:pPr>
            <a:r>
              <a:t>El interp2d del link se eliminó en scipy 1.14. Con su motor interno (RectBivariateSpline en grilla): linear 23.3, cubic 24.1, quintic 21.9 dB; la TPS (RBFInterpolator) 24.4. Equivalentes.</a:t>
            </a:r>
          </a:p>
          <a:p>
            <a:pPr>
              <a:spcAft>
                <a:spcPts val="500"/>
              </a:spcAft>
              <a:defRPr sz="1400">
                <a:solidFill>
                  <a:srgbClr val="404040"/>
                </a:solidFill>
              </a:defRPr>
            </a:pPr>
            <a:r>
              <a:t>Con los mismos 64 puntos, DIP con la receta de la tesis da 25.0: prácticamente igual.</a:t>
            </a:r>
          </a:p>
        </p:txBody>
      </p:sp>
      <p:pic>
        <p:nvPicPr>
          <p:cNvPr id="4" name="Picture 3" descr="baselines.png"/>
          <p:cNvPicPr>
            <a:picLocks noChangeAspect="1"/>
          </p:cNvPicPr>
          <p:nvPr/>
        </p:nvPicPr>
        <p:blipFill>
          <a:blip r:embed="rId2"/>
          <a:stretch>
            <a:fillRect/>
          </a:stretch>
        </p:blipFill>
        <p:spPr>
          <a:xfrm>
            <a:off x="4873752" y="1884317"/>
            <a:ext cx="6949440" cy="409520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La observación que cambió todo</a:t>
            </a:r>
          </a:p>
        </p:txBody>
      </p:sp>
      <p:pic>
        <p:nvPicPr>
          <p:cNvPr id="3" name="Picture 2" descr="perfiles.png"/>
          <p:cNvPicPr>
            <a:picLocks noChangeAspect="1"/>
          </p:cNvPicPr>
          <p:nvPr/>
        </p:nvPicPr>
        <p:blipFill>
          <a:blip r:embed="rId2"/>
          <a:stretch>
            <a:fillRect/>
          </a:stretch>
        </p:blipFill>
        <p:spPr>
          <a:xfrm>
            <a:off x="552619" y="1280160"/>
            <a:ext cx="11083713"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En todos los g, el perfil vertical es meseta → rampa suave → salto a 0 EXACTO. Debajo del acantilado el mapa vale 0; arriba es suave.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Muestreo: dónde gastar los 64 puntos</a:t>
            </a:r>
          </a:p>
        </p:txBody>
      </p:sp>
      <p:sp>
        <p:nvSpPr>
          <p:cNvPr id="3" name="TextBox 2"/>
          <p:cNvSpPr txBox="1"/>
          <p:nvPr/>
        </p:nvSpPr>
        <p:spPr>
          <a:xfrm>
            <a:off x="457200" y="1280160"/>
            <a:ext cx="4663440" cy="5303520"/>
          </a:xfrm>
          <a:prstGeom prst="rect">
            <a:avLst/>
          </a:prstGeom>
          <a:noFill/>
        </p:spPr>
        <p:txBody>
          <a:bodyPr wrap="square">
            <a:spAutoFit/>
          </a:bodyPr>
          <a:lstStyle/>
          <a:p>
            <a:pPr>
              <a:spcAft>
                <a:spcPts val="500"/>
              </a:spcAft>
              <a:defRPr sz="1300">
                <a:solidFill>
                  <a:srgbClr val="404040"/>
                </a:solidFill>
              </a:defRPr>
            </a:pPr>
            <a:r>
              <a:t>1) Grilla de 30 puntos (6 columnas): idea global y en qué columnas hay salto a 0.</a:t>
            </a:r>
          </a:p>
          <a:p>
            <a:pPr>
              <a:spcAft>
                <a:spcPts val="500"/>
              </a:spcAft>
              <a:defRPr sz="1300">
                <a:solidFill>
                  <a:srgbClr val="404040"/>
                </a:solidFill>
              </a:defRPr>
            </a:pPr>
            <a:r>
              <a:t>2) Bisección (método de bisección del análisis numérico; retoma el prototipo de búsqueda binaria del 15/9): en cada columna con salto, búsqueda binaria vertical ('¿vale 0 o no?'). Ubica el acantilado a 1 px con ~5 consultas por columna.</a:t>
            </a:r>
          </a:p>
          <a:p>
            <a:pPr>
              <a:spcAft>
                <a:spcPts val="500"/>
              </a:spcAft>
              <a:defRPr sz="1300">
                <a:solidFill>
                  <a:srgbClr val="404040"/>
                </a:solidFill>
              </a:defRPr>
            </a:pPr>
            <a:r>
              <a:t>3) Relleno por validación cruzada: cada punto se predice con los demás y los puntos nuevos van donde el modelo más se equivoca (tandas de 4).</a:t>
            </a:r>
          </a:p>
          <a:p>
            <a:pPr>
              <a:spcAft>
                <a:spcPts val="500"/>
              </a:spcAft>
              <a:defRPr sz="1300">
                <a:solidFill>
                  <a:srgbClr val="404040"/>
                </a:solidFill>
              </a:defRPr>
            </a:pPr>
            <a:r>
              <a:t>Con KMC: son ~10 rondas de corridas en paralelo, no 64 corridas en serie.</a:t>
            </a:r>
          </a:p>
        </p:txBody>
      </p:sp>
      <p:pic>
        <p:nvPicPr>
          <p:cNvPr id="4" name="Picture 3" descr="muestreo_-2.0.png"/>
          <p:cNvPicPr>
            <a:picLocks noChangeAspect="1"/>
          </p:cNvPicPr>
          <p:nvPr/>
        </p:nvPicPr>
        <p:blipFill>
          <a:blip r:embed="rId2"/>
          <a:stretch>
            <a:fillRect/>
          </a:stretch>
        </p:blipFill>
        <p:spPr>
          <a:xfrm>
            <a:off x="5422392" y="2410070"/>
            <a:ext cx="6400800" cy="30436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Reconstrucción: interpolar respetando la forma del mapa</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600">
                <a:solidFill>
                  <a:srgbClr val="404040"/>
                </a:solidFill>
              </a:defRPr>
            </a:pPr>
            <a:r>
              <a:t>Acantilado: recta ajustada por RANSAC a los pares vecinos 0 / no-0. Debajo: 0.</a:t>
            </a:r>
          </a:p>
          <a:p>
            <a:pPr>
              <a:spcAft>
                <a:spcPts val="500"/>
              </a:spcAft>
              <a:defRPr sz="1600">
                <a:solidFill>
                  <a:srgbClr val="404040"/>
                </a:solidFill>
              </a:defRPr>
            </a:pPr>
            <a:r>
              <a:t>Arriba: TPS (suavizado 1e-4) solo con los puntos de arriba: no interpola a través del salto.</a:t>
            </a:r>
          </a:p>
          <a:p>
            <a:pPr lvl="1">
              <a:spcAft>
                <a:spcPts val="500"/>
              </a:spcAft>
              <a:defRPr sz="1300">
                <a:solidFill>
                  <a:srgbClr val="404040"/>
                </a:solidFill>
              </a:defRPr>
            </a:pPr>
            <a:r>
              <a:t>Rampa: cerca del borde, TPS en coordenadas alineadas al borde (el perfil se traslada paralelo al frente). Ancho de la franja adaptativo según lo abrupto del frente, medido con el valor justo arriba del acantilado (g=-4: 0.81; g suaves: ~0.10).</a:t>
            </a:r>
          </a:p>
          <a:p>
            <a:pPr lvl="1">
              <a:spcAft>
                <a:spcPts val="500"/>
              </a:spcAft>
              <a:defRPr sz="1300">
                <a:solidFill>
                  <a:srgbClr val="404040"/>
                </a:solidFill>
              </a:defRPr>
            </a:pPr>
            <a:r>
              <a:t>Zona que se desvanece (x ≈ 85): distancia vertical comprimida (depende casi solo de x).</a:t>
            </a:r>
          </a:p>
          <a:p>
            <a:pPr>
              <a:spcAft>
                <a:spcPts val="500"/>
              </a:spcAft>
              <a:defRPr sz="1600">
                <a:solidFill>
                  <a:srgbClr val="404040"/>
                </a:solidFill>
              </a:defRPr>
            </a:pPr>
            <a:r>
              <a:t>Monotonía: el mapa real nunca sube hacia abajo ni hacia la derecha (0 violaciones en los 9 g; SoC_max baja al crecer ℓ y Ξ).</a:t>
            </a:r>
          </a:p>
          <a:p>
            <a:pPr lvl="1">
              <a:spcAft>
                <a:spcPts val="500"/>
              </a:spcAft>
              <a:defRPr sz="1300">
                <a:solidFill>
                  <a:srgbClr val="404040"/>
                </a:solidFill>
              </a:defRPr>
            </a:pPr>
            <a:r>
              <a:t>Se recorta a las cotas exactas que dan los puntos consultados y se proyecta sobre mapas monótonos (Dykstra + regresión isotónica). Borra las ondulaciones de la TPS.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El recorrido, paso a paso</a:t>
            </a:r>
          </a:p>
        </p:txBody>
      </p:sp>
      <p:pic>
        <p:nvPicPr>
          <p:cNvPr id="3" name="Picture 2" descr="progreso.png"/>
          <p:cNvPicPr>
            <a:picLocks noChangeAspect="1"/>
          </p:cNvPicPr>
          <p:nvPr/>
        </p:nvPicPr>
        <p:blipFill>
          <a:blip r:embed="rId2"/>
          <a:stretch>
            <a:fillRect/>
          </a:stretch>
        </p:blipFill>
        <p:spPr>
          <a:xfrm>
            <a:off x="609037" y="1280160"/>
            <a:ext cx="10970876"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Media y peor g en los 3 g de desarrollo. De 24.4 dB (grilla + TPS) a 41.8 dB (fusión con DIP).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Validación en los 9 g: 41.3 dB con 64 puntos (fusión con guarda); 40.6 sin DIP</a:t>
            </a:r>
          </a:p>
        </p:txBody>
      </p:sp>
      <p:pic>
        <p:nvPicPr>
          <p:cNvPr id="3" name="Picture 2" descr="val9_vs_dip.png"/>
          <p:cNvPicPr>
            <a:picLocks noChangeAspect="1"/>
          </p:cNvPicPr>
          <p:nvPr/>
        </p:nvPicPr>
        <p:blipFill>
          <a:blip r:embed="rId2"/>
          <a:stretch>
            <a:fillRect/>
          </a:stretch>
        </p:blipFill>
        <p:spPr>
          <a:xfrm>
            <a:off x="333756" y="1372678"/>
            <a:ext cx="11521440" cy="4661283"/>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Fusión: 41.3 de media, 37.7 en el peor g, 8 de 9 g ≥ 38 dB. Solo TPS: 40.6 / 36.2, 8 de 9. Le ganan a DIP con ~164 puntos en los g duros; DIP con 164 sigue arriba en los suaves.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Las mejores reconstrucciones hasta ahora (64 puntos, 9 g)</a:t>
            </a:r>
          </a:p>
        </p:txBody>
      </p:sp>
      <p:pic>
        <p:nvPicPr>
          <p:cNvPr id="3" name="Picture 2" descr="mejores_9g.png"/>
          <p:cNvPicPr>
            <a:picLocks noChangeAspect="1"/>
          </p:cNvPicPr>
          <p:nvPr/>
        </p:nvPicPr>
        <p:blipFill>
          <a:blip r:embed="rId2"/>
          <a:stretch>
            <a:fillRect/>
          </a:stretch>
        </p:blipFill>
        <p:spPr>
          <a:xfrm>
            <a:off x="662303" y="1280160"/>
            <a:ext cx="10864345"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Arriba: original. Medio: reconstrucción con los 64 puntos consultados (en blanco). Abajo: |error|. El error que queda está en la rampa de los g suaves (-2.5, -2,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Comparación visual con el mejor DIP previo</a:t>
            </a:r>
          </a:p>
        </p:txBody>
      </p:sp>
      <p:pic>
        <p:nvPicPr>
          <p:cNvPr id="3" name="Picture 2" descr="comparacion_rec.png"/>
          <p:cNvPicPr>
            <a:picLocks noChangeAspect="1"/>
          </p:cNvPicPr>
          <p:nvPr/>
        </p:nvPicPr>
        <p:blipFill>
          <a:blip r:embed="rId2"/>
          <a:stretch>
            <a:fillRect/>
          </a:stretch>
        </p:blipFill>
        <p:spPr>
          <a:xfrm>
            <a:off x="4608576" y="1280160"/>
            <a:ext cx="2971800" cy="53492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Mapas de error (misma grilla)</a:t>
            </a:r>
          </a:p>
        </p:txBody>
      </p:sp>
      <p:pic>
        <p:nvPicPr>
          <p:cNvPr id="3" name="Picture 2" descr="comparacion_err.png"/>
          <p:cNvPicPr>
            <a:picLocks noChangeAspect="1"/>
          </p:cNvPicPr>
          <p:nvPr/>
        </p:nvPicPr>
        <p:blipFill>
          <a:blip r:embed="rId2"/>
          <a:stretch>
            <a:fillRect/>
          </a:stretch>
        </p:blipFill>
        <p:spPr>
          <a:xfrm>
            <a:off x="4608576" y="1280160"/>
            <a:ext cx="2971800" cy="5349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Robustez: ¿depende de dónde cae la grilla? (sin DIP, 9 g)</a:t>
            </a:r>
          </a:p>
        </p:txBody>
      </p:sp>
      <p:graphicFrame>
        <p:nvGraphicFramePr>
          <p:cNvPr id="3" name="Table 2"/>
          <p:cNvGraphicFramePr>
            <a:graphicFrameLocks noGrp="1"/>
          </p:cNvGraphicFramePr>
          <p:nvPr/>
        </p:nvGraphicFramePr>
        <p:xfrm>
          <a:off x="731520" y="1371600"/>
          <a:ext cx="10698480" cy="1536192"/>
        </p:xfrm>
        <a:graphic>
          <a:graphicData uri="http://schemas.openxmlformats.org/drawingml/2006/table">
            <a:tbl>
              <a:tblPr firstRow="1" bandRow="1">
                <a:tableStyleId>{5C22544A-7EE6-4342-B048-85BDC9FD1C3A}</a:tableStyleId>
              </a:tblPr>
              <a:tblGrid>
                <a:gridCol w="3566160"/>
                <a:gridCol w="3566160"/>
                <a:gridCol w="3566160"/>
              </a:tblGrid>
              <a:tr h="384048">
                <a:tc>
                  <a:txBody>
                    <a:bodyPr/>
                    <a:lstStyle/>
                    <a:p>
                      <a:pPr>
                        <a:defRPr sz="1300" b="1"/>
                      </a:pPr>
                      <a:r>
                        <a:t>offset de la grilla</a:t>
                      </a:r>
                    </a:p>
                  </a:txBody>
                  <a:tcPr/>
                </a:tc>
                <a:tc>
                  <a:txBody>
                    <a:bodyPr/>
                    <a:lstStyle/>
                    <a:p>
                      <a:pPr>
                        <a:defRPr sz="1300" b="1"/>
                      </a:pPr>
                      <a:r>
                        <a:t>media 9 g [dB]</a:t>
                      </a:r>
                    </a:p>
                  </a:txBody>
                  <a:tcPr/>
                </a:tc>
                <a:tc>
                  <a:txBody>
                    <a:bodyPr/>
                    <a:lstStyle/>
                    <a:p>
                      <a:pPr>
                        <a:defRPr sz="1300" b="1"/>
                      </a:pPr>
                      <a:r>
                        <a:t>peor g [dB]</a:t>
                      </a:r>
                    </a:p>
                  </a:txBody>
                  <a:tcPr/>
                </a:tc>
              </a:tr>
              <a:tr h="384048">
                <a:tc>
                  <a:txBody>
                    <a:bodyPr/>
                    <a:lstStyle/>
                    <a:p>
                      <a:pPr>
                        <a:defRPr sz="1200" b="1"/>
                      </a:pPr>
                      <a:r>
                        <a:t>0.35</a:t>
                      </a:r>
                    </a:p>
                  </a:txBody>
                  <a:tcPr/>
                </a:tc>
                <a:tc>
                  <a:txBody>
                    <a:bodyPr/>
                    <a:lstStyle/>
                    <a:p>
                      <a:pPr>
                        <a:defRPr sz="1200" b="0"/>
                      </a:pPr>
                      <a:r>
                        <a:t>38.4</a:t>
                      </a:r>
                    </a:p>
                  </a:txBody>
                  <a:tcPr/>
                </a:tc>
                <a:tc>
                  <a:txBody>
                    <a:bodyPr/>
                    <a:lstStyle/>
                    <a:p>
                      <a:pPr>
                        <a:defRPr sz="1200" b="0"/>
                      </a:pPr>
                      <a:r>
                        <a:t>35.8</a:t>
                      </a:r>
                    </a:p>
                  </a:txBody>
                  <a:tcPr/>
                </a:tc>
              </a:tr>
              <a:tr h="384048">
                <a:tc>
                  <a:txBody>
                    <a:bodyPr/>
                    <a:lstStyle/>
                    <a:p>
                      <a:pPr>
                        <a:defRPr sz="1200" b="1"/>
                      </a:pPr>
                      <a:r>
                        <a:t>0.50</a:t>
                      </a:r>
                    </a:p>
                  </a:txBody>
                  <a:tcPr/>
                </a:tc>
                <a:tc>
                  <a:txBody>
                    <a:bodyPr/>
                    <a:lstStyle/>
                    <a:p>
                      <a:pPr>
                        <a:defRPr sz="1200" b="0"/>
                      </a:pPr>
                      <a:r>
                        <a:t>40.6</a:t>
                      </a:r>
                    </a:p>
                  </a:txBody>
                  <a:tcPr/>
                </a:tc>
                <a:tc>
                  <a:txBody>
                    <a:bodyPr/>
                    <a:lstStyle/>
                    <a:p>
                      <a:pPr>
                        <a:defRPr sz="1200" b="0"/>
                      </a:pPr>
                      <a:r>
                        <a:t>36.2</a:t>
                      </a:r>
                    </a:p>
                  </a:txBody>
                  <a:tcPr/>
                </a:tc>
              </a:tr>
              <a:tr h="384048">
                <a:tc>
                  <a:txBody>
                    <a:bodyPr/>
                    <a:lstStyle/>
                    <a:p>
                      <a:pPr>
                        <a:defRPr sz="1200" b="1"/>
                      </a:pPr>
                      <a:r>
                        <a:t>0.65</a:t>
                      </a:r>
                    </a:p>
                  </a:txBody>
                  <a:tcPr/>
                </a:tc>
                <a:tc>
                  <a:txBody>
                    <a:bodyPr/>
                    <a:lstStyle/>
                    <a:p>
                      <a:pPr>
                        <a:defRPr sz="1200" b="0"/>
                      </a:pPr>
                      <a:r>
                        <a:t>37.7</a:t>
                      </a:r>
                    </a:p>
                  </a:txBody>
                  <a:tcPr/>
                </a:tc>
                <a:tc>
                  <a:txBody>
                    <a:bodyPr/>
                    <a:lstStyle/>
                    <a:p>
                      <a:pPr>
                        <a:defRPr sz="1200" b="0"/>
                      </a:pPr>
                      <a:r>
                        <a:t>35.6</a:t>
                      </a:r>
                    </a:p>
                  </a:txBody>
                  <a:tcPr/>
                </a:tc>
              </a:tr>
            </a:tbl>
          </a:graphicData>
        </a:graphic>
      </p:graphicFrame>
      <p:sp>
        <p:nvSpPr>
          <p:cNvPr id="4" name="TextBox 3"/>
          <p:cNvSpPr txBox="1"/>
          <p:nvPr/>
        </p:nvSpPr>
        <p:spPr>
          <a:xfrm>
            <a:off x="731520" y="2999232"/>
            <a:ext cx="10698480" cy="1280160"/>
          </a:xfrm>
          <a:prstGeom prst="rect">
            <a:avLst/>
          </a:prstGeom>
          <a:noFill/>
        </p:spPr>
        <p:txBody>
          <a:bodyPr wrap="square">
            <a:spAutoFit/>
          </a:bodyPr>
          <a:lstStyle/>
          <a:p>
            <a:pPr>
              <a:defRPr sz="1200" i="1">
                <a:solidFill>
                  <a:srgbClr val="404040"/>
                </a:solidFill>
              </a:defRPr>
            </a:pPr>
            <a:r>
              <a:t>Todo se afinó con offset 0.5, así que ese valor está algo favorecido. Lo honesto es reportar ~38.9 ± 1.3 dB de media. El peor g casi no depende de la grilla.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DIP con 64 puntos: hiperparámetros del paper vs. los de la tesis</a:t>
            </a:r>
          </a:p>
        </p:txBody>
      </p:sp>
      <p:graphicFrame>
        <p:nvGraphicFramePr>
          <p:cNvPr id="3" name="Table 2"/>
          <p:cNvGraphicFramePr>
            <a:graphicFrameLocks noGrp="1"/>
          </p:cNvGraphicFramePr>
          <p:nvPr/>
        </p:nvGraphicFramePr>
        <p:xfrm>
          <a:off x="731520" y="1371600"/>
          <a:ext cx="10698480" cy="2688336"/>
        </p:xfrm>
        <a:graphic>
          <a:graphicData uri="http://schemas.openxmlformats.org/drawingml/2006/table">
            <a:tbl>
              <a:tblPr firstRow="1" bandRow="1">
                <a:tableStyleId>{5C22544A-7EE6-4342-B048-85BDC9FD1C3A}</a:tableStyleId>
              </a:tblPr>
              <a:tblGrid>
                <a:gridCol w="6675120"/>
                <a:gridCol w="2011680"/>
                <a:gridCol w="2011680"/>
              </a:tblGrid>
              <a:tr h="384048">
                <a:tc>
                  <a:txBody>
                    <a:bodyPr/>
                    <a:lstStyle/>
                    <a:p>
                      <a:pPr>
                        <a:defRPr sz="1300" b="1"/>
                      </a:pPr>
                      <a:r>
                        <a:t>configuración (grilla 8×8, 64 pts)</a:t>
                      </a:r>
                    </a:p>
                  </a:txBody>
                  <a:tcPr/>
                </a:tc>
                <a:tc>
                  <a:txBody>
                    <a:bodyPr/>
                    <a:lstStyle/>
                    <a:p>
                      <a:pPr>
                        <a:defRPr sz="1300" b="1"/>
                      </a:pPr>
                      <a:r>
                        <a:t>media [dB]</a:t>
                      </a:r>
                    </a:p>
                  </a:txBody>
                  <a:tcPr/>
                </a:tc>
                <a:tc>
                  <a:txBody>
                    <a:bodyPr/>
                    <a:lstStyle/>
                    <a:p>
                      <a:pPr>
                        <a:defRPr sz="1300" b="1"/>
                      </a:pPr>
                      <a:r>
                        <a:t>peor [dB]</a:t>
                      </a:r>
                    </a:p>
                  </a:txBody>
                  <a:tcPr/>
                </a:tc>
              </a:tr>
              <a:tr h="384048">
                <a:tc>
                  <a:txBody>
                    <a:bodyPr/>
                    <a:lstStyle/>
                    <a:p>
                      <a:pPr>
                        <a:defRPr sz="1200" b="1"/>
                      </a:pPr>
                      <a:r>
                        <a:t>interpolación TPS (referencia)</a:t>
                      </a:r>
                    </a:p>
                  </a:txBody>
                  <a:tcPr/>
                </a:tc>
                <a:tc>
                  <a:txBody>
                    <a:bodyPr/>
                    <a:lstStyle/>
                    <a:p>
                      <a:pPr>
                        <a:defRPr sz="1200" b="0"/>
                      </a:pPr>
                      <a:r>
                        <a:t>24.4</a:t>
                      </a:r>
                    </a:p>
                  </a:txBody>
                  <a:tcPr/>
                </a:tc>
                <a:tc>
                  <a:txBody>
                    <a:bodyPr/>
                    <a:lstStyle/>
                    <a:p>
                      <a:pPr>
                        <a:defRPr sz="1200" b="0"/>
                      </a:pPr>
                      <a:r>
                        <a:t>21.2</a:t>
                      </a:r>
                    </a:p>
                  </a:txBody>
                  <a:tcPr/>
                </a:tc>
              </a:tr>
              <a:tr h="384048">
                <a:tc>
                  <a:txBody>
                    <a:bodyPr/>
                    <a:lstStyle/>
                    <a:p>
                      <a:pPr>
                        <a:defRPr sz="1200" b="1"/>
                      </a:pPr>
                      <a:r>
                        <a:t>DIP, receta de la tesis (LR 1e-3, reg 0.08, skip 4, bilinear)</a:t>
                      </a:r>
                    </a:p>
                  </a:txBody>
                  <a:tcPr/>
                </a:tc>
                <a:tc>
                  <a:txBody>
                    <a:bodyPr/>
                    <a:lstStyle/>
                    <a:p>
                      <a:pPr>
                        <a:defRPr sz="1200" b="0"/>
                      </a:pPr>
                      <a:r>
                        <a:t>25.0</a:t>
                      </a:r>
                    </a:p>
                  </a:txBody>
                  <a:tcPr/>
                </a:tc>
                <a:tc>
                  <a:txBody>
                    <a:bodyPr/>
                    <a:lstStyle/>
                    <a:p>
                      <a:pPr>
                        <a:defRPr sz="1200" b="0"/>
                      </a:pPr>
                      <a:r>
                        <a:t>21.9</a:t>
                      </a:r>
                    </a:p>
                  </a:txBody>
                  <a:tcPr/>
                </a:tc>
              </a:tr>
              <a:tr h="384048">
                <a:tc>
                  <a:txBody>
                    <a:bodyPr/>
                    <a:lstStyle/>
                    <a:p>
                      <a:pPr>
                        <a:defRPr sz="1200" b="1"/>
                      </a:pPr>
                      <a:r>
                        <a:t>DIP, paper 'kate' (noise 32, LR 0.01, skip 128, nearest)</a:t>
                      </a:r>
                    </a:p>
                  </a:txBody>
                  <a:tcPr/>
                </a:tc>
                <a:tc>
                  <a:txBody>
                    <a:bodyPr/>
                    <a:lstStyle/>
                    <a:p>
                      <a:pPr>
                        <a:defRPr sz="1200" b="0"/>
                      </a:pPr>
                      <a:r>
                        <a:t>18.1</a:t>
                      </a:r>
                    </a:p>
                  </a:txBody>
                  <a:tcPr/>
                </a:tc>
                <a:tc>
                  <a:txBody>
                    <a:bodyPr/>
                    <a:lstStyle/>
                    <a:p>
                      <a:pPr>
                        <a:defRPr sz="1200" b="0"/>
                      </a:pPr>
                      <a:r>
                        <a:t>13.7</a:t>
                      </a:r>
                    </a:p>
                  </a:txBody>
                  <a:tcPr/>
                </a:tc>
              </a:tr>
              <a:tr h="384048">
                <a:tc>
                  <a:txBody>
                    <a:bodyPr/>
                    <a:lstStyle/>
                    <a:p>
                      <a:pPr>
                        <a:defRPr sz="1200" b="1"/>
                      </a:pPr>
                      <a:r>
                        <a:t>DIP, paper 'vase' (meshgrid, LR 0.01, reg 0.03, skip 0, nearest)</a:t>
                      </a:r>
                    </a:p>
                  </a:txBody>
                  <a:tcPr/>
                </a:tc>
                <a:tc>
                  <a:txBody>
                    <a:bodyPr/>
                    <a:lstStyle/>
                    <a:p>
                      <a:pPr>
                        <a:defRPr sz="1200" b="0"/>
                      </a:pPr>
                      <a:r>
                        <a:t>28.5</a:t>
                      </a:r>
                    </a:p>
                  </a:txBody>
                  <a:tcPr/>
                </a:tc>
                <a:tc>
                  <a:txBody>
                    <a:bodyPr/>
                    <a:lstStyle/>
                    <a:p>
                      <a:pPr>
                        <a:defRPr sz="1200" b="0"/>
                      </a:pPr>
                      <a:r>
                        <a:t>25.3</a:t>
                      </a:r>
                    </a:p>
                  </a:txBody>
                  <a:tcPr/>
                </a:tc>
              </a:tr>
              <a:tr h="384048">
                <a:tc>
                  <a:txBody>
                    <a:bodyPr/>
                    <a:lstStyle/>
                    <a:p>
                      <a:pPr>
                        <a:defRPr sz="1200" b="1"/>
                      </a:pPr>
                      <a:r>
                        <a:t>DIP, 'vase' + muestreo uniforme</a:t>
                      </a:r>
                    </a:p>
                  </a:txBody>
                  <a:tcPr/>
                </a:tc>
                <a:tc>
                  <a:txBody>
                    <a:bodyPr/>
                    <a:lstStyle/>
                    <a:p>
                      <a:pPr>
                        <a:defRPr sz="1200" b="0"/>
                      </a:pPr>
                      <a:r>
                        <a:t>22.2</a:t>
                      </a:r>
                    </a:p>
                  </a:txBody>
                  <a:tcPr/>
                </a:tc>
                <a:tc>
                  <a:txBody>
                    <a:bodyPr/>
                    <a:lstStyle/>
                    <a:p>
                      <a:pPr>
                        <a:defRPr sz="1200" b="0"/>
                      </a:pPr>
                      <a:r>
                        <a:t>19.4</a:t>
                      </a:r>
                    </a:p>
                  </a:txBody>
                  <a:tcPr/>
                </a:tc>
              </a:tr>
              <a:tr h="384048">
                <a:tc>
                  <a:txBody>
                    <a:bodyPr/>
                    <a:lstStyle/>
                    <a:p>
                      <a:pPr>
                        <a:defRPr sz="1200" b="1"/>
                      </a:pPr>
                      <a:r>
                        <a:t>DIP, mejor de Optuna (181 trials): meshgrid, skip 0, LR ~5e-3, 3000 it</a:t>
                      </a:r>
                    </a:p>
                  </a:txBody>
                  <a:tcPr/>
                </a:tc>
                <a:tc>
                  <a:txBody>
                    <a:bodyPr/>
                    <a:lstStyle/>
                    <a:p>
                      <a:pPr>
                        <a:defRPr sz="1200" b="0"/>
                      </a:pPr>
                      <a:r>
                        <a:t>29.9</a:t>
                      </a:r>
                    </a:p>
                  </a:txBody>
                  <a:tcPr/>
                </a:tc>
                <a:tc>
                  <a:txBody>
                    <a:bodyPr/>
                    <a:lstStyle/>
                    <a:p>
                      <a:pPr>
                        <a:defRPr sz="1200" b="0"/>
                      </a:pPr>
                      <a:r>
                        <a:t>26.2</a:t>
                      </a:r>
                    </a:p>
                  </a:txBody>
                  <a:tcPr/>
                </a:tc>
              </a:tr>
            </a:tbl>
          </a:graphicData>
        </a:graphic>
      </p:graphicFrame>
      <p:sp>
        <p:nvSpPr>
          <p:cNvPr id="4" name="TextBox 3"/>
          <p:cNvSpPr txBox="1"/>
          <p:nvPr/>
        </p:nvSpPr>
        <p:spPr>
          <a:xfrm>
            <a:off x="731520" y="4151376"/>
            <a:ext cx="10698480" cy="1280160"/>
          </a:xfrm>
          <a:prstGeom prst="rect">
            <a:avLst/>
          </a:prstGeom>
          <a:noFill/>
        </p:spPr>
        <p:txBody>
          <a:bodyPr wrap="square">
            <a:spAutoFit/>
          </a:bodyPr>
          <a:lstStyle/>
          <a:p>
            <a:pPr>
              <a:defRPr sz="1200" i="1">
                <a:solidFill>
                  <a:srgbClr val="404040"/>
                </a:solidFill>
              </a:defRPr>
            </a:pPr>
            <a:r>
              <a:t>Con los hiperparámetros del paper para agujeros grandes, DIP le gana a la interpolación con los mismos puntos (+4 dB; +5.5 con Optuna); la receta de la tesis (afinada para ~328 puntos) no. Todos los mejores trials son la config 'vase' afinada; el muestreo uniforme nunca aparece arriba.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Híbrido: TPS pegada al borde + DIP en la zona suave (9 g)</a:t>
            </a:r>
          </a:p>
        </p:txBody>
      </p:sp>
      <p:graphicFrame>
        <p:nvGraphicFramePr>
          <p:cNvPr id="3" name="Table 2"/>
          <p:cNvGraphicFramePr>
            <a:graphicFrameLocks noGrp="1"/>
          </p:cNvGraphicFramePr>
          <p:nvPr/>
        </p:nvGraphicFramePr>
        <p:xfrm>
          <a:off x="731520" y="1371600"/>
          <a:ext cx="10698480" cy="1920240"/>
        </p:xfrm>
        <a:graphic>
          <a:graphicData uri="http://schemas.openxmlformats.org/drawingml/2006/table">
            <a:tbl>
              <a:tblPr firstRow="1" bandRow="1">
                <a:tableStyleId>{5C22544A-7EE6-4342-B048-85BDC9FD1C3A}</a:tableStyleId>
              </a:tblPr>
              <a:tblGrid>
                <a:gridCol w="5120640"/>
                <a:gridCol w="1737360"/>
                <a:gridCol w="1737360"/>
                <a:gridCol w="2103120"/>
              </a:tblGrid>
              <a:tr h="384048">
                <a:tc>
                  <a:txBody>
                    <a:bodyPr/>
                    <a:lstStyle/>
                    <a:p>
                      <a:pPr>
                        <a:defRPr sz="1300" b="1"/>
                      </a:pPr>
                      <a:r>
                        <a:t>reconstrucción (mismos 64 puntos, 9 g)</a:t>
                      </a:r>
                    </a:p>
                  </a:txBody>
                  <a:tcPr/>
                </a:tc>
                <a:tc>
                  <a:txBody>
                    <a:bodyPr/>
                    <a:lstStyle/>
                    <a:p>
                      <a:pPr>
                        <a:defRPr sz="1300" b="1"/>
                      </a:pPr>
                      <a:r>
                        <a:t>media [dB]</a:t>
                      </a:r>
                    </a:p>
                  </a:txBody>
                  <a:tcPr/>
                </a:tc>
                <a:tc>
                  <a:txBody>
                    <a:bodyPr/>
                    <a:lstStyle/>
                    <a:p>
                      <a:pPr>
                        <a:defRPr sz="1300" b="1"/>
                      </a:pPr>
                      <a:r>
                        <a:t>peor [dB]</a:t>
                      </a:r>
                    </a:p>
                  </a:txBody>
                  <a:tcPr/>
                </a:tc>
                <a:tc>
                  <a:txBody>
                    <a:bodyPr/>
                    <a:lstStyle/>
                    <a:p>
                      <a:pPr>
                        <a:defRPr sz="1300" b="1"/>
                      </a:pPr>
                      <a:r>
                        <a:t>g ≥ 38 dB</a:t>
                      </a:r>
                    </a:p>
                  </a:txBody>
                  <a:tcPr/>
                </a:tc>
              </a:tr>
              <a:tr h="384048">
                <a:tc>
                  <a:txBody>
                    <a:bodyPr/>
                    <a:lstStyle/>
                    <a:p>
                      <a:pPr>
                        <a:defRPr sz="1200" b="1"/>
                      </a:pPr>
                      <a:r>
                        <a:t>TPS sola (acantilado + monotonía + RANSAC)</a:t>
                      </a:r>
                    </a:p>
                  </a:txBody>
                  <a:tcPr/>
                </a:tc>
                <a:tc>
                  <a:txBody>
                    <a:bodyPr/>
                    <a:lstStyle/>
                    <a:p>
                      <a:pPr>
                        <a:defRPr sz="1200" b="0"/>
                      </a:pPr>
                      <a:r>
                        <a:t>40.6</a:t>
                      </a:r>
                    </a:p>
                  </a:txBody>
                  <a:tcPr/>
                </a:tc>
                <a:tc>
                  <a:txBody>
                    <a:bodyPr/>
                    <a:lstStyle/>
                    <a:p>
                      <a:pPr>
                        <a:defRPr sz="1200" b="0"/>
                      </a:pPr>
                      <a:r>
                        <a:t>36.2</a:t>
                      </a:r>
                    </a:p>
                  </a:txBody>
                  <a:tcPr/>
                </a:tc>
                <a:tc>
                  <a:txBody>
                    <a:bodyPr/>
                    <a:lstStyle/>
                    <a:p>
                      <a:pPr>
                        <a:defRPr sz="1200" b="0"/>
                      </a:pPr>
                      <a:r>
                        <a:t>8 / 9</a:t>
                      </a:r>
                    </a:p>
                  </a:txBody>
                  <a:tcPr/>
                </a:tc>
              </a:tr>
              <a:tr h="384048">
                <a:tc>
                  <a:txBody>
                    <a:bodyPr/>
                    <a:lstStyle/>
                    <a:p>
                      <a:pPr>
                        <a:defRPr sz="1200" b="1"/>
                      </a:pPr>
                      <a:r>
                        <a:t>DIP (receta tesis) + ceros + franja TPS, sin fusionar</a:t>
                      </a:r>
                    </a:p>
                  </a:txBody>
                  <a:tcPr/>
                </a:tc>
                <a:tc>
                  <a:txBody>
                    <a:bodyPr/>
                    <a:lstStyle/>
                    <a:p>
                      <a:pPr>
                        <a:defRPr sz="1200" b="0"/>
                      </a:pPr>
                      <a:r>
                        <a:t>37.0</a:t>
                      </a:r>
                    </a:p>
                  </a:txBody>
                  <a:tcPr/>
                </a:tc>
                <a:tc>
                  <a:txBody>
                    <a:bodyPr/>
                    <a:lstStyle/>
                    <a:p>
                      <a:pPr>
                        <a:defRPr sz="1200" b="0"/>
                      </a:pPr>
                      <a:r>
                        <a:t>31.3</a:t>
                      </a:r>
                    </a:p>
                  </a:txBody>
                  <a:tcPr/>
                </a:tc>
                <a:tc>
                  <a:txBody>
                    <a:bodyPr/>
                    <a:lstStyle/>
                    <a:p>
                      <a:pPr>
                        <a:defRPr sz="1200" b="0"/>
                      </a:pPr>
                    </a:p>
                  </a:txBody>
                  <a:tcPr/>
                </a:tc>
              </a:tr>
              <a:tr h="384048">
                <a:tc>
                  <a:txBody>
                    <a:bodyPr/>
                    <a:lstStyle/>
                    <a:p>
                      <a:pPr>
                        <a:defRPr sz="1200" b="1"/>
                      </a:pPr>
                      <a:r>
                        <a:t>Fusión TPS + DIP (B = 20 px), sin guarda (TPS sin suavizar)</a:t>
                      </a:r>
                    </a:p>
                  </a:txBody>
                  <a:tcPr/>
                </a:tc>
                <a:tc>
                  <a:txBody>
                    <a:bodyPr/>
                    <a:lstStyle/>
                    <a:p>
                      <a:pPr>
                        <a:defRPr sz="1200" b="0"/>
                      </a:pPr>
                      <a:r>
                        <a:t>40.3</a:t>
                      </a:r>
                    </a:p>
                  </a:txBody>
                  <a:tcPr/>
                </a:tc>
                <a:tc>
                  <a:txBody>
                    <a:bodyPr/>
                    <a:lstStyle/>
                    <a:p>
                      <a:pPr>
                        <a:defRPr sz="1200" b="0"/>
                      </a:pPr>
                      <a:r>
                        <a:t>32.5</a:t>
                      </a:r>
                    </a:p>
                  </a:txBody>
                  <a:tcPr/>
                </a:tc>
                <a:tc>
                  <a:txBody>
                    <a:bodyPr/>
                    <a:lstStyle/>
                    <a:p>
                      <a:pPr>
                        <a:defRPr sz="1200" b="0"/>
                      </a:pPr>
                    </a:p>
                  </a:txBody>
                  <a:tcPr/>
                </a:tc>
              </a:tr>
              <a:tr h="384048">
                <a:tc>
                  <a:txBody>
                    <a:bodyPr/>
                    <a:lstStyle/>
                    <a:p>
                      <a:pPr>
                        <a:defRPr sz="1200" b="1"/>
                      </a:pPr>
                      <a:r>
                        <a:t>Fusión TPS + DIP + guarda de falla de DIP</a:t>
                      </a:r>
                    </a:p>
                  </a:txBody>
                  <a:tcPr/>
                </a:tc>
                <a:tc>
                  <a:txBody>
                    <a:bodyPr/>
                    <a:lstStyle/>
                    <a:p>
                      <a:pPr>
                        <a:defRPr sz="1200" b="0"/>
                      </a:pPr>
                      <a:r>
                        <a:t>41.3</a:t>
                      </a:r>
                    </a:p>
                  </a:txBody>
                  <a:tcPr/>
                </a:tc>
                <a:tc>
                  <a:txBody>
                    <a:bodyPr/>
                    <a:lstStyle/>
                    <a:p>
                      <a:pPr>
                        <a:defRPr sz="1200" b="0"/>
                      </a:pPr>
                      <a:r>
                        <a:t>37.7</a:t>
                      </a:r>
                    </a:p>
                  </a:txBody>
                  <a:tcPr/>
                </a:tc>
                <a:tc>
                  <a:txBody>
                    <a:bodyPr/>
                    <a:lstStyle/>
                    <a:p>
                      <a:pPr>
                        <a:defRPr sz="1200" b="0"/>
                      </a:pPr>
                      <a:r>
                        <a:t>8 / 9</a:t>
                      </a:r>
                    </a:p>
                  </a:txBody>
                  <a:tcPr/>
                </a:tc>
              </a:tr>
            </a:tbl>
          </a:graphicData>
        </a:graphic>
      </p:graphicFrame>
      <p:sp>
        <p:nvSpPr>
          <p:cNvPr id="4" name="TextBox 3"/>
          <p:cNvSpPr txBox="1"/>
          <p:nvPr/>
        </p:nvSpPr>
        <p:spPr>
          <a:xfrm>
            <a:off x="731520" y="3383280"/>
            <a:ext cx="10698480" cy="1280160"/>
          </a:xfrm>
          <a:prstGeom prst="rect">
            <a:avLst/>
          </a:prstGeom>
          <a:noFill/>
        </p:spPr>
        <p:txBody>
          <a:bodyPr wrap="square">
            <a:spAutoFit/>
          </a:bodyPr>
          <a:lstStyle/>
          <a:p>
            <a:pPr>
              <a:defRPr sz="1200" i="1">
                <a:solidFill>
                  <a:srgbClr val="404040"/>
                </a:solidFill>
              </a:defRPr>
            </a:pPr>
            <a:r>
              <a:t>Fusión: final = monotonía( w·TPS + (1−w)·DIP ), w = exp(−(d/B)²), d = distancia al acantilado. La fusión gana en 6 de 9 g, pero cuando DIP falla arrastra todo.</a:t>
            </a:r>
          </a:p>
          <a:p>
            <a:pPr>
              <a:defRPr sz="1200" i="1">
                <a:solidFill>
                  <a:srgbClr val="404040"/>
                </a:solidFill>
              </a:defRPr>
            </a:pPr>
            <a:r>
              <a:t>Guarda sin mirar el mapa: si DIP no reproduce los puntos reales consultados (RMS del residuo &gt; 0.02; cuando anda es ≤ 0.008 y cuando falla ≥ 0.03), en ese g se usa solo la TPS.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Quién rellena cada zona: 0 / TPS / DIP</a:t>
            </a:r>
          </a:p>
        </p:txBody>
      </p:sp>
      <p:pic>
        <p:nvPicPr>
          <p:cNvPr id="3" name="Picture 2" descr="zonas_tps_dip.png"/>
          <p:cNvPicPr>
            <a:picLocks noChangeAspect="1"/>
          </p:cNvPicPr>
          <p:nvPr/>
        </p:nvPicPr>
        <p:blipFill>
          <a:blip r:embed="rId2"/>
          <a:stretch>
            <a:fillRect/>
          </a:stretch>
        </p:blipFill>
        <p:spPr>
          <a:xfrm>
            <a:off x="333756" y="2039112"/>
            <a:ext cx="11521440" cy="3328415"/>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Debajo del borde (salto a 0): 0 directo. Pegado al borde: interpolación TPS. Lejos del borde, en la zona lisa: DIP. El paso entre TPS y DIP es gradual (peso exp(−(d/20)²)).</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En KMC no sabemos la forma exacta: el método chequea sus supuestos</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500">
                <a:solidFill>
                  <a:srgbClr val="404040"/>
                </a:solidFill>
              </a:defRPr>
            </a:pPr>
            <a:r>
              <a:t>Todo se afinó con los 9 diagramas del modelo del continuo. En KMC la estructura es parecida (mesetas, rampas, acantilado) pero con otra distribución.</a:t>
            </a:r>
          </a:p>
          <a:p>
            <a:pPr>
              <a:spcAft>
                <a:spcPts val="500"/>
              </a:spcAft>
              <a:defRPr sz="1500">
                <a:solidFill>
                  <a:srgbClr val="404040"/>
                </a:solidFill>
              </a:defRPr>
            </a:pPr>
            <a:r>
              <a:t>Cada supuesto se verifica con los propios puntos y, si no se cumple, se apaga:</a:t>
            </a:r>
          </a:p>
          <a:p>
            <a:pPr lvl="1">
              <a:spcAft>
                <a:spcPts val="500"/>
              </a:spcAft>
              <a:defRPr sz="1200">
                <a:solidFill>
                  <a:srgbClr val="404040"/>
                </a:solidFill>
              </a:defRPr>
            </a:pPr>
            <a:r>
              <a:t>Monotonía: solo si ningún par de puntos la viola (más allá del ruido). Si ya la grilla la viola, no se hace bisección y todo el presupuesto va al relleno genérico.</a:t>
            </a:r>
          </a:p>
          <a:p>
            <a:pPr lvl="1">
              <a:spcAft>
                <a:spcPts val="500"/>
              </a:spcAft>
              <a:defRPr sz="1200">
                <a:solidFill>
                  <a:srgbClr val="404040"/>
                </a:solidFill>
              </a:defRPr>
            </a:pPr>
            <a:r>
              <a:t>Acantilado: solo si casi todos los puntos debajo del borde valen 0. Borde recto, curvo (parábola / cúbica por RANSAC) o por tramos, elegido con los propios cruces.</a:t>
            </a:r>
          </a:p>
          <a:p>
            <a:pPr lvl="1">
              <a:spcAft>
                <a:spcPts val="500"/>
              </a:spcAft>
              <a:defRPr sz="1200">
                <a:solidFill>
                  <a:srgbClr val="404040"/>
                </a:solidFill>
              </a:defRPr>
            </a:pPr>
            <a:r>
              <a:t>Compresión vertical: la elige la validación cruzada entre 4 valores.</a:t>
            </a:r>
          </a:p>
          <a:p>
            <a:pPr>
              <a:spcAft>
                <a:spcPts val="500"/>
              </a:spcAft>
              <a:defRPr sz="1500">
                <a:solidFill>
                  <a:srgbClr val="404040"/>
                </a:solidFill>
              </a:defRPr>
            </a:pPr>
            <a:r>
              <a:t>En los 9 diagramas originales no cambia nada (mismos puntos, mismo resultado).</a:t>
            </a:r>
          </a:p>
          <a:p>
            <a:pPr>
              <a:spcAft>
                <a:spcPts val="500"/>
              </a:spcAft>
              <a:defRPr sz="1500">
                <a:solidFill>
                  <a:srgbClr val="404040"/>
                </a:solidFill>
              </a:defRPr>
            </a:pPr>
            <a:r>
              <a:t>Diagramas de fase nuevos (g = +2, +4): 36.6 y 38.4 dB vs 32.4 y 34.5 del baseline. En formas totalmente distintas (Gauss, Rosenbrock, Himmelblau) ya no se rompe: cae a lo genérico.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Misma estructura, otra geometría</a:t>
            </a:r>
          </a:p>
        </p:txBody>
      </p:sp>
      <p:pic>
        <p:nvPicPr>
          <p:cNvPr id="3" name="Picture 2" descr="deformados.png"/>
          <p:cNvPicPr>
            <a:picLocks noChangeAspect="1"/>
          </p:cNvPicPr>
          <p:nvPr/>
        </p:nvPicPr>
        <p:blipFill>
          <a:blip r:embed="rId2"/>
          <a:stretch>
            <a:fillRect/>
          </a:stretch>
        </p:blipFill>
        <p:spPr>
          <a:xfrm>
            <a:off x="1280769" y="1280160"/>
            <a:ext cx="9627413"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Los 3 g (-4, -2, -0.5) deformados: acantilado corrido, con otra inclinación, arqueado o en S. El método le gana al baseline por ~9 dB; lo más difícil es el frente en 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Ruido tipo KMC: la receta se puede hacer robusta</a:t>
            </a:r>
          </a:p>
        </p:txBody>
      </p:sp>
      <p:pic>
        <p:nvPicPr>
          <p:cNvPr id="3" name="Picture 2" descr="ruido.png"/>
          <p:cNvPicPr>
            <a:picLocks noChangeAspect="1"/>
          </p:cNvPicPr>
          <p:nvPr/>
        </p:nvPicPr>
        <p:blipFill>
          <a:blip r:embed="rId2"/>
          <a:stretch>
            <a:fillRect/>
          </a:stretch>
        </p:blipFill>
        <p:spPr>
          <a:xfrm>
            <a:off x="1751076" y="1300495"/>
            <a:ext cx="8686800" cy="4805649"/>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Cada punto con ruido gaussiano de desvío σ (fijo por punto). Umbral de 'vale 0' = 3σ, salto mínimo ~5σ y recta del acantilado por RANSAC. σ hay que estimarlo en KMC con corridas repetidas.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Con ruido, DIP sí suma (fusión)</a:t>
            </a:r>
          </a:p>
        </p:txBody>
      </p:sp>
      <p:graphicFrame>
        <p:nvGraphicFramePr>
          <p:cNvPr id="3" name="Table 2"/>
          <p:cNvGraphicFramePr>
            <a:graphicFrameLocks noGrp="1"/>
          </p:cNvGraphicFramePr>
          <p:nvPr/>
        </p:nvGraphicFramePr>
        <p:xfrm>
          <a:off x="731520" y="1371600"/>
          <a:ext cx="10698480" cy="1536192"/>
        </p:xfrm>
        <a:graphic>
          <a:graphicData uri="http://schemas.openxmlformats.org/drawingml/2006/table">
            <a:tbl>
              <a:tblPr firstRow="1" bandRow="1">
                <a:tableStyleId>{5C22544A-7EE6-4342-B048-85BDC9FD1C3A}</a:tableStyleId>
              </a:tblPr>
              <a:tblGrid>
                <a:gridCol w="1828800"/>
                <a:gridCol w="2194560"/>
                <a:gridCol w="2011680"/>
                <a:gridCol w="2194560"/>
                <a:gridCol w="2468880"/>
              </a:tblGrid>
              <a:tr h="384048">
                <a:tc>
                  <a:txBody>
                    <a:bodyPr/>
                    <a:lstStyle/>
                    <a:p>
                      <a:pPr>
                        <a:defRPr sz="1300" b="1"/>
                      </a:pPr>
                      <a:r>
                        <a:t>ruido σ (4 g)</a:t>
                      </a:r>
                    </a:p>
                  </a:txBody>
                  <a:tcPr/>
                </a:tc>
                <a:tc>
                  <a:txBody>
                    <a:bodyPr/>
                    <a:lstStyle/>
                    <a:p>
                      <a:pPr>
                        <a:defRPr sz="1300" b="1"/>
                      </a:pPr>
                      <a:r>
                        <a:t>TPS robusta sola</a:t>
                      </a:r>
                    </a:p>
                  </a:txBody>
                  <a:tcPr/>
                </a:tc>
                <a:tc>
                  <a:txBody>
                    <a:bodyPr/>
                    <a:lstStyle/>
                    <a:p>
                      <a:pPr>
                        <a:defRPr sz="1300" b="1"/>
                      </a:pPr>
                      <a:r>
                        <a:t>DIP solo</a:t>
                      </a:r>
                    </a:p>
                  </a:txBody>
                  <a:tcPr/>
                </a:tc>
                <a:tc>
                  <a:txBody>
                    <a:bodyPr/>
                    <a:lstStyle/>
                    <a:p>
                      <a:pPr>
                        <a:defRPr sz="1300" b="1"/>
                      </a:pPr>
                      <a:r>
                        <a:t>fusión TPS + DIP</a:t>
                      </a:r>
                    </a:p>
                  </a:txBody>
                  <a:tcPr/>
                </a:tc>
                <a:tc>
                  <a:txBody>
                    <a:bodyPr/>
                    <a:lstStyle/>
                    <a:p>
                      <a:pPr>
                        <a:defRPr sz="1300" b="1"/>
                      </a:pPr>
                      <a:r>
                        <a:t>SSIM TPS → fusión</a:t>
                      </a:r>
                    </a:p>
                  </a:txBody>
                  <a:tcPr/>
                </a:tc>
              </a:tr>
              <a:tr h="384048">
                <a:tc>
                  <a:txBody>
                    <a:bodyPr/>
                    <a:lstStyle/>
                    <a:p>
                      <a:pPr>
                        <a:defRPr sz="1200" b="1"/>
                      </a:pPr>
                      <a:r>
                        <a:t>0.01</a:t>
                      </a:r>
                    </a:p>
                  </a:txBody>
                  <a:tcPr/>
                </a:tc>
                <a:tc>
                  <a:txBody>
                    <a:bodyPr/>
                    <a:lstStyle/>
                    <a:p>
                      <a:pPr>
                        <a:defRPr sz="1200" b="0"/>
                      </a:pPr>
                      <a:r>
                        <a:t>38.3 (35.0)</a:t>
                      </a:r>
                    </a:p>
                  </a:txBody>
                  <a:tcPr/>
                </a:tc>
                <a:tc>
                  <a:txBody>
                    <a:bodyPr/>
                    <a:lstStyle/>
                    <a:p>
                      <a:pPr>
                        <a:defRPr sz="1200" b="0"/>
                      </a:pPr>
                      <a:r>
                        <a:t>35.8 (33.8)</a:t>
                      </a:r>
                    </a:p>
                  </a:txBody>
                  <a:tcPr/>
                </a:tc>
                <a:tc>
                  <a:txBody>
                    <a:bodyPr/>
                    <a:lstStyle/>
                    <a:p>
                      <a:pPr>
                        <a:defRPr sz="1200" b="0"/>
                      </a:pPr>
                      <a:r>
                        <a:t>39.0 (35.5)</a:t>
                      </a:r>
                    </a:p>
                  </a:txBody>
                  <a:tcPr/>
                </a:tc>
                <a:tc>
                  <a:txBody>
                    <a:bodyPr/>
                    <a:lstStyle/>
                    <a:p>
                      <a:pPr>
                        <a:defRPr sz="1200" b="0"/>
                      </a:pPr>
                      <a:r>
                        <a:t>0.983 → 0.990</a:t>
                      </a:r>
                    </a:p>
                  </a:txBody>
                  <a:tcPr/>
                </a:tc>
              </a:tr>
              <a:tr h="384048">
                <a:tc>
                  <a:txBody>
                    <a:bodyPr/>
                    <a:lstStyle/>
                    <a:p>
                      <a:pPr>
                        <a:defRPr sz="1200" b="1"/>
                      </a:pPr>
                      <a:r>
                        <a:t>0.03</a:t>
                      </a:r>
                    </a:p>
                  </a:txBody>
                  <a:tcPr/>
                </a:tc>
                <a:tc>
                  <a:txBody>
                    <a:bodyPr/>
                    <a:lstStyle/>
                    <a:p>
                      <a:pPr>
                        <a:defRPr sz="1200" b="0"/>
                      </a:pPr>
                      <a:r>
                        <a:t>34.2 (32.4)</a:t>
                      </a:r>
                    </a:p>
                  </a:txBody>
                  <a:tcPr/>
                </a:tc>
                <a:tc>
                  <a:txBody>
                    <a:bodyPr/>
                    <a:lstStyle/>
                    <a:p>
                      <a:pPr>
                        <a:defRPr sz="1200" b="0"/>
                      </a:pPr>
                      <a:r>
                        <a:t>33.0 (31.3)</a:t>
                      </a:r>
                    </a:p>
                  </a:txBody>
                  <a:tcPr/>
                </a:tc>
                <a:tc>
                  <a:txBody>
                    <a:bodyPr/>
                    <a:lstStyle/>
                    <a:p>
                      <a:pPr>
                        <a:defRPr sz="1200" b="0"/>
                      </a:pPr>
                      <a:r>
                        <a:t>34.9 (33.6)</a:t>
                      </a:r>
                    </a:p>
                  </a:txBody>
                  <a:tcPr/>
                </a:tc>
                <a:tc>
                  <a:txBody>
                    <a:bodyPr/>
                    <a:lstStyle/>
                    <a:p>
                      <a:pPr>
                        <a:defRPr sz="1200" b="0"/>
                      </a:pPr>
                      <a:r>
                        <a:t>0.963 → 0.982</a:t>
                      </a:r>
                    </a:p>
                  </a:txBody>
                  <a:tcPr/>
                </a:tc>
              </a:tr>
              <a:tr h="384048">
                <a:tc>
                  <a:txBody>
                    <a:bodyPr/>
                    <a:lstStyle/>
                    <a:p>
                      <a:pPr>
                        <a:defRPr sz="1200" b="1"/>
                      </a:pPr>
                      <a:r>
                        <a:t>0.05</a:t>
                      </a:r>
                    </a:p>
                  </a:txBody>
                  <a:tcPr/>
                </a:tc>
                <a:tc>
                  <a:txBody>
                    <a:bodyPr/>
                    <a:lstStyle/>
                    <a:p>
                      <a:pPr>
                        <a:defRPr sz="1200" b="0"/>
                      </a:pPr>
                      <a:r>
                        <a:t>31.4 (30.7)</a:t>
                      </a:r>
                    </a:p>
                  </a:txBody>
                  <a:tcPr/>
                </a:tc>
                <a:tc>
                  <a:txBody>
                    <a:bodyPr/>
                    <a:lstStyle/>
                    <a:p>
                      <a:pPr>
                        <a:defRPr sz="1200" b="0"/>
                      </a:pPr>
                      <a:r>
                        <a:t>29.6 (28.9)</a:t>
                      </a:r>
                    </a:p>
                  </a:txBody>
                  <a:tcPr/>
                </a:tc>
                <a:tc>
                  <a:txBody>
                    <a:bodyPr/>
                    <a:lstStyle/>
                    <a:p>
                      <a:pPr>
                        <a:defRPr sz="1200" b="0"/>
                      </a:pPr>
                      <a:r>
                        <a:t>32.6 (31.2)</a:t>
                      </a:r>
                    </a:p>
                  </a:txBody>
                  <a:tcPr/>
                </a:tc>
                <a:tc>
                  <a:txBody>
                    <a:bodyPr/>
                    <a:lstStyle/>
                    <a:p>
                      <a:pPr>
                        <a:defRPr sz="1200" b="0"/>
                      </a:pPr>
                      <a:r>
                        <a:t>0.939 → 0.968</a:t>
                      </a:r>
                    </a:p>
                  </a:txBody>
                  <a:tcPr/>
                </a:tc>
              </a:tr>
            </a:tbl>
          </a:graphicData>
        </a:graphic>
      </p:graphicFrame>
      <p:sp>
        <p:nvSpPr>
          <p:cNvPr id="4" name="TextBox 3"/>
          <p:cNvSpPr txBox="1"/>
          <p:nvPr/>
        </p:nvSpPr>
        <p:spPr>
          <a:xfrm>
            <a:off x="731520" y="2999232"/>
            <a:ext cx="10698480" cy="1280160"/>
          </a:xfrm>
          <a:prstGeom prst="rect">
            <a:avLst/>
          </a:prstGeom>
          <a:noFill/>
        </p:spPr>
        <p:txBody>
          <a:bodyPr wrap="square">
            <a:spAutoFit/>
          </a:bodyPr>
          <a:lstStyle/>
          <a:p>
            <a:pPr>
              <a:defRPr sz="1200" i="1">
                <a:solidFill>
                  <a:srgbClr val="404040"/>
                </a:solidFill>
              </a:defRPr>
            </a:pPr>
            <a:r>
              <a:t>Media (peor g). Con ruido, DIP solo pierde contra la TPS, pero fusionado suma, y más cuanto más ruido (+0.7, +0.7, +1.2 dB), sobre todo en SSIM: DIP filtra el ruido que la TPS copia punto a punto. Guarda con ruido: 0.02 + 2σ.</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Punto 5 de la reunión: Rosenbrock de vuelta a 3D</a:t>
            </a:r>
          </a:p>
        </p:txBody>
      </p:sp>
      <p:pic>
        <p:nvPicPr>
          <p:cNvPr id="3" name="Picture 2" descr="rosenbrock_3d.png"/>
          <p:cNvPicPr>
            <a:picLocks noChangeAspect="1"/>
          </p:cNvPicPr>
          <p:nvPr/>
        </p:nvPicPr>
        <p:blipFill>
          <a:blip r:embed="rId2"/>
          <a:stretch>
            <a:fillRect/>
          </a:stretch>
        </p:blipFill>
        <p:spPr>
          <a:xfrm>
            <a:off x="333756" y="1783080"/>
            <a:ext cx="11521440" cy="384048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Con 1 % DIP recupera la forma pero la cresta angosta queda ondulada; con 5 % queda fiel. Con 64 puntos la TPS da una superficie reconocible pero con bultos.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¿Cuántos puntos hacen falta para 40 dB en todos los g? 84 con DIP, 88 sin DIP</a:t>
            </a:r>
          </a:p>
        </p:txBody>
      </p:sp>
      <p:graphicFrame>
        <p:nvGraphicFramePr>
          <p:cNvPr id="3" name="Table 2"/>
          <p:cNvGraphicFramePr>
            <a:graphicFrameLocks noGrp="1"/>
          </p:cNvGraphicFramePr>
          <p:nvPr/>
        </p:nvGraphicFramePr>
        <p:xfrm>
          <a:off x="731520" y="1371600"/>
          <a:ext cx="9875520" cy="3456432"/>
        </p:xfrm>
        <a:graphic>
          <a:graphicData uri="http://schemas.openxmlformats.org/drawingml/2006/table">
            <a:tbl>
              <a:tblPr firstRow="1" bandRow="1">
                <a:tableStyleId>{5C22544A-7EE6-4342-B048-85BDC9FD1C3A}</a:tableStyleId>
              </a:tblPr>
              <a:tblGrid>
                <a:gridCol w="2926080"/>
                <a:gridCol w="2926080"/>
                <a:gridCol w="2011680"/>
                <a:gridCol w="2011680"/>
              </a:tblGrid>
              <a:tr h="384048">
                <a:tc>
                  <a:txBody>
                    <a:bodyPr/>
                    <a:lstStyle/>
                    <a:p>
                      <a:pPr>
                        <a:defRPr sz="1300" b="1"/>
                      </a:pPr>
                      <a:r>
                        <a:t>presupuesto</a:t>
                      </a:r>
                    </a:p>
                  </a:txBody>
                  <a:tcPr/>
                </a:tc>
                <a:tc>
                  <a:txBody>
                    <a:bodyPr/>
                    <a:lstStyle/>
                    <a:p>
                      <a:pPr>
                        <a:defRPr sz="1300" b="1"/>
                      </a:pPr>
                      <a:r>
                        <a:t>media (4 g más difíciles)</a:t>
                      </a:r>
                    </a:p>
                  </a:txBody>
                  <a:tcPr/>
                </a:tc>
                <a:tc>
                  <a:txBody>
                    <a:bodyPr/>
                    <a:lstStyle/>
                    <a:p>
                      <a:pPr>
                        <a:defRPr sz="1300" b="1"/>
                      </a:pPr>
                      <a:r>
                        <a:t>peor g</a:t>
                      </a:r>
                    </a:p>
                  </a:txBody>
                  <a:tcPr/>
                </a:tc>
                <a:tc>
                  <a:txBody>
                    <a:bodyPr/>
                    <a:lstStyle/>
                    <a:p>
                      <a:pPr>
                        <a:defRPr sz="1300" b="1"/>
                      </a:pPr>
                      <a:r>
                        <a:t>g ≥ 40 dB</a:t>
                      </a:r>
                    </a:p>
                  </a:txBody>
                  <a:tcPr/>
                </a:tc>
              </a:tr>
              <a:tr h="384048">
                <a:tc>
                  <a:txBody>
                    <a:bodyPr/>
                    <a:lstStyle/>
                    <a:p>
                      <a:pPr>
                        <a:defRPr sz="1200" b="1"/>
                      </a:pPr>
                      <a:r>
                        <a:t>64 puntos (0.39 %)</a:t>
                      </a:r>
                    </a:p>
                  </a:txBody>
                  <a:tcPr/>
                </a:tc>
                <a:tc>
                  <a:txBody>
                    <a:bodyPr/>
                    <a:lstStyle/>
                    <a:p>
                      <a:pPr>
                        <a:defRPr sz="1200" b="0"/>
                      </a:pPr>
                      <a:r>
                        <a:t>38.7</a:t>
                      </a:r>
                    </a:p>
                  </a:txBody>
                  <a:tcPr/>
                </a:tc>
                <a:tc>
                  <a:txBody>
                    <a:bodyPr/>
                    <a:lstStyle/>
                    <a:p>
                      <a:pPr>
                        <a:defRPr sz="1200" b="0"/>
                      </a:pPr>
                      <a:r>
                        <a:t>37.7</a:t>
                      </a:r>
                    </a:p>
                  </a:txBody>
                  <a:tcPr/>
                </a:tc>
                <a:tc>
                  <a:txBody>
                    <a:bodyPr/>
                    <a:lstStyle/>
                    <a:p>
                      <a:pPr>
                        <a:defRPr sz="1200" b="0"/>
                      </a:pPr>
                      <a:r>
                        <a:t>0 de 4</a:t>
                      </a:r>
                    </a:p>
                  </a:txBody>
                  <a:tcPr/>
                </a:tc>
              </a:tr>
              <a:tr h="384048">
                <a:tc>
                  <a:txBody>
                    <a:bodyPr/>
                    <a:lstStyle/>
                    <a:p>
                      <a:pPr>
                        <a:defRPr sz="1200" b="1"/>
                      </a:pPr>
                      <a:r>
                        <a:t>72 puntos</a:t>
                      </a:r>
                    </a:p>
                  </a:txBody>
                  <a:tcPr/>
                </a:tc>
                <a:tc>
                  <a:txBody>
                    <a:bodyPr/>
                    <a:lstStyle/>
                    <a:p>
                      <a:pPr>
                        <a:defRPr sz="1200" b="0"/>
                      </a:pPr>
                      <a:r>
                        <a:t>38.9</a:t>
                      </a:r>
                    </a:p>
                  </a:txBody>
                  <a:tcPr/>
                </a:tc>
                <a:tc>
                  <a:txBody>
                    <a:bodyPr/>
                    <a:lstStyle/>
                    <a:p>
                      <a:pPr>
                        <a:defRPr sz="1200" b="0"/>
                      </a:pPr>
                      <a:r>
                        <a:t>37.6</a:t>
                      </a:r>
                    </a:p>
                  </a:txBody>
                  <a:tcPr/>
                </a:tc>
                <a:tc>
                  <a:txBody>
                    <a:bodyPr/>
                    <a:lstStyle/>
                    <a:p>
                      <a:pPr>
                        <a:defRPr sz="1200" b="0"/>
                      </a:pPr>
                      <a:r>
                        <a:t>0 de 4</a:t>
                      </a:r>
                    </a:p>
                  </a:txBody>
                  <a:tcPr/>
                </a:tc>
              </a:tr>
              <a:tr h="384048">
                <a:tc>
                  <a:txBody>
                    <a:bodyPr/>
                    <a:lstStyle/>
                    <a:p>
                      <a:pPr>
                        <a:defRPr sz="1200" b="1"/>
                      </a:pPr>
                      <a:r>
                        <a:t>80 puntos (grilla 24)</a:t>
                      </a:r>
                    </a:p>
                  </a:txBody>
                  <a:tcPr/>
                </a:tc>
                <a:tc>
                  <a:txBody>
                    <a:bodyPr/>
                    <a:lstStyle/>
                    <a:p>
                      <a:pPr>
                        <a:defRPr sz="1200" b="0"/>
                      </a:pPr>
                      <a:r>
                        <a:t>40.6</a:t>
                      </a:r>
                    </a:p>
                  </a:txBody>
                  <a:tcPr/>
                </a:tc>
                <a:tc>
                  <a:txBody>
                    <a:bodyPr/>
                    <a:lstStyle/>
                    <a:p>
                      <a:pPr>
                        <a:defRPr sz="1200" b="0"/>
                      </a:pPr>
                      <a:r>
                        <a:t>38.7</a:t>
                      </a:r>
                    </a:p>
                  </a:txBody>
                  <a:tcPr/>
                </a:tc>
                <a:tc>
                  <a:txBody>
                    <a:bodyPr/>
                    <a:lstStyle/>
                    <a:p>
                      <a:pPr>
                        <a:defRPr sz="1200" b="0"/>
                      </a:pPr>
                      <a:r>
                        <a:t>3 de 4</a:t>
                      </a:r>
                    </a:p>
                  </a:txBody>
                  <a:tcPr/>
                </a:tc>
              </a:tr>
              <a:tr h="384048">
                <a:tc>
                  <a:txBody>
                    <a:bodyPr/>
                    <a:lstStyle/>
                    <a:p>
                      <a:pPr>
                        <a:defRPr sz="1200" b="1"/>
                      </a:pPr>
                      <a:r>
                        <a:t>84 puntos (grilla 36)</a:t>
                      </a:r>
                    </a:p>
                  </a:txBody>
                  <a:tcPr/>
                </a:tc>
                <a:tc>
                  <a:txBody>
                    <a:bodyPr/>
                    <a:lstStyle/>
                    <a:p>
                      <a:pPr>
                        <a:defRPr sz="1200" b="0"/>
                      </a:pPr>
                      <a:r>
                        <a:t>40.7</a:t>
                      </a:r>
                    </a:p>
                  </a:txBody>
                  <a:tcPr/>
                </a:tc>
                <a:tc>
                  <a:txBody>
                    <a:bodyPr/>
                    <a:lstStyle/>
                    <a:p>
                      <a:pPr>
                        <a:defRPr sz="1200" b="0"/>
                      </a:pPr>
                      <a:r>
                        <a:t>39.5</a:t>
                      </a:r>
                    </a:p>
                  </a:txBody>
                  <a:tcPr/>
                </a:tc>
                <a:tc>
                  <a:txBody>
                    <a:bodyPr/>
                    <a:lstStyle/>
                    <a:p>
                      <a:pPr>
                        <a:defRPr sz="1200" b="0"/>
                      </a:pPr>
                      <a:r>
                        <a:t>2 de 4</a:t>
                      </a:r>
                    </a:p>
                  </a:txBody>
                  <a:tcPr/>
                </a:tc>
              </a:tr>
              <a:tr h="384048">
                <a:tc>
                  <a:txBody>
                    <a:bodyPr/>
                    <a:lstStyle/>
                    <a:p>
                      <a:pPr>
                        <a:defRPr sz="1200" b="1"/>
                      </a:pPr>
                      <a:r>
                        <a:t>88 puntos (0.54 %, grilla 36)</a:t>
                      </a:r>
                    </a:p>
                  </a:txBody>
                  <a:tcPr/>
                </a:tc>
                <a:tc>
                  <a:txBody>
                    <a:bodyPr/>
                    <a:lstStyle/>
                    <a:p>
                      <a:pPr>
                        <a:defRPr sz="1200" b="0"/>
                      </a:pPr>
                      <a:r>
                        <a:t>41.6</a:t>
                      </a:r>
                    </a:p>
                  </a:txBody>
                  <a:tcPr/>
                </a:tc>
                <a:tc>
                  <a:txBody>
                    <a:bodyPr/>
                    <a:lstStyle/>
                    <a:p>
                      <a:pPr>
                        <a:defRPr sz="1200" b="0"/>
                      </a:pPr>
                      <a:r>
                        <a:t>41.2</a:t>
                      </a:r>
                    </a:p>
                  </a:txBody>
                  <a:tcPr/>
                </a:tc>
                <a:tc>
                  <a:txBody>
                    <a:bodyPr/>
                    <a:lstStyle/>
                    <a:p>
                      <a:pPr>
                        <a:defRPr sz="1200" b="0"/>
                      </a:pPr>
                      <a:r>
                        <a:t>4 de 4</a:t>
                      </a:r>
                    </a:p>
                  </a:txBody>
                  <a:tcPr/>
                </a:tc>
              </a:tr>
              <a:tr h="384048">
                <a:tc>
                  <a:txBody>
                    <a:bodyPr/>
                    <a:lstStyle/>
                    <a:p>
                      <a:pPr>
                        <a:defRPr sz="1200" b="1"/>
                      </a:pPr>
                      <a:r>
                        <a:t>96 puntos (0.59 %)</a:t>
                      </a:r>
                    </a:p>
                  </a:txBody>
                  <a:tcPr/>
                </a:tc>
                <a:tc>
                  <a:txBody>
                    <a:bodyPr/>
                    <a:lstStyle/>
                    <a:p>
                      <a:pPr>
                        <a:defRPr sz="1200" b="0"/>
                      </a:pPr>
                      <a:r>
                        <a:t>41.8</a:t>
                      </a:r>
                    </a:p>
                  </a:txBody>
                  <a:tcPr/>
                </a:tc>
                <a:tc>
                  <a:txBody>
                    <a:bodyPr/>
                    <a:lstStyle/>
                    <a:p>
                      <a:pPr>
                        <a:defRPr sz="1200" b="0"/>
                      </a:pPr>
                      <a:r>
                        <a:t>40.2</a:t>
                      </a:r>
                    </a:p>
                  </a:txBody>
                  <a:tcPr/>
                </a:tc>
                <a:tc>
                  <a:txBody>
                    <a:bodyPr/>
                    <a:lstStyle/>
                    <a:p>
                      <a:pPr>
                        <a:defRPr sz="1200" b="0"/>
                      </a:pPr>
                      <a:r>
                        <a:t>4 de 4</a:t>
                      </a:r>
                    </a:p>
                  </a:txBody>
                  <a:tcPr/>
                </a:tc>
              </a:tr>
              <a:tr h="384048">
                <a:tc>
                  <a:txBody>
                    <a:bodyPr/>
                    <a:lstStyle/>
                    <a:p>
                      <a:pPr>
                        <a:defRPr sz="1200" b="1"/>
                      </a:pPr>
                      <a:r>
                        <a:t>80 puntos + DIP (fusión, 9 g)</a:t>
                      </a:r>
                    </a:p>
                  </a:txBody>
                  <a:tcPr/>
                </a:tc>
                <a:tc>
                  <a:txBody>
                    <a:bodyPr/>
                    <a:lstStyle/>
                    <a:p>
                      <a:pPr>
                        <a:defRPr sz="1200" b="0"/>
                      </a:pPr>
                      <a:r>
                        <a:t>43.3</a:t>
                      </a:r>
                    </a:p>
                  </a:txBody>
                  <a:tcPr/>
                </a:tc>
                <a:tc>
                  <a:txBody>
                    <a:bodyPr/>
                    <a:lstStyle/>
                    <a:p>
                      <a:pPr>
                        <a:defRPr sz="1200" b="0"/>
                      </a:pPr>
                      <a:r>
                        <a:t>39.8</a:t>
                      </a:r>
                    </a:p>
                  </a:txBody>
                  <a:tcPr/>
                </a:tc>
                <a:tc>
                  <a:txBody>
                    <a:bodyPr/>
                    <a:lstStyle/>
                    <a:p>
                      <a:pPr>
                        <a:defRPr sz="1200" b="0"/>
                      </a:pPr>
                      <a:r>
                        <a:t>8 de 9</a:t>
                      </a:r>
                    </a:p>
                  </a:txBody>
                  <a:tcPr/>
                </a:tc>
              </a:tr>
              <a:tr h="384048">
                <a:tc>
                  <a:txBody>
                    <a:bodyPr/>
                    <a:lstStyle/>
                    <a:p>
                      <a:pPr>
                        <a:defRPr sz="1200" b="1"/>
                      </a:pPr>
                      <a:r>
                        <a:t>84 puntos + DIP (fusión, 9 g)</a:t>
                      </a:r>
                    </a:p>
                  </a:txBody>
                  <a:tcPr/>
                </a:tc>
                <a:tc>
                  <a:txBody>
                    <a:bodyPr/>
                    <a:lstStyle/>
                    <a:p>
                      <a:pPr>
                        <a:defRPr sz="1200" b="0"/>
                      </a:pPr>
                      <a:r>
                        <a:t>43.4</a:t>
                      </a:r>
                    </a:p>
                  </a:txBody>
                  <a:tcPr/>
                </a:tc>
                <a:tc>
                  <a:txBody>
                    <a:bodyPr/>
                    <a:lstStyle/>
                    <a:p>
                      <a:pPr>
                        <a:defRPr sz="1200" b="0"/>
                      </a:pPr>
                      <a:r>
                        <a:t>40.2</a:t>
                      </a:r>
                    </a:p>
                  </a:txBody>
                  <a:tcPr/>
                </a:tc>
                <a:tc>
                  <a:txBody>
                    <a:bodyPr/>
                    <a:lstStyle/>
                    <a:p>
                      <a:pPr>
                        <a:defRPr sz="1200" b="0"/>
                      </a:pPr>
                      <a:r>
                        <a:t>9 de 9</a:t>
                      </a:r>
                    </a:p>
                  </a:txBody>
                  <a:tcPr/>
                </a:tc>
              </a:tr>
            </a:tbl>
          </a:graphicData>
        </a:graphic>
      </p:graphicFrame>
      <p:sp>
        <p:nvSpPr>
          <p:cNvPr id="4" name="TextBox 3"/>
          <p:cNvSpPr txBox="1"/>
          <p:nvPr/>
        </p:nvSpPr>
        <p:spPr>
          <a:xfrm>
            <a:off x="731520" y="4919472"/>
            <a:ext cx="10698480" cy="1280160"/>
          </a:xfrm>
          <a:prstGeom prst="rect">
            <a:avLst/>
          </a:prstGeom>
          <a:noFill/>
        </p:spPr>
        <p:txBody>
          <a:bodyPr wrap="square">
            <a:spAutoFit/>
          </a:bodyPr>
          <a:lstStyle/>
          <a:p>
            <a:pPr>
              <a:defRPr sz="1200" i="1">
                <a:solidFill>
                  <a:srgbClr val="404040"/>
                </a:solidFill>
              </a:defRPr>
            </a:pPr>
            <a:r>
              <a:t>Filas sin DIP: g -2.5, -2, -1.5 y -1 (los otros 5 ya pasan los 40 con 64). Mínimo validado en los 9 g: 84 puntos (0.51 %) con DIP (43.4, peor 40.2); 88 (0.54 %) sin DIP (42.9, peor 41.2). El DIP previo necesitaba ~328: unas 4 veces menos puntos, y sin mirar el mapa. Lo que limita a los g suaves es la rampa pegada al borde (0-12 px), donde ni la TPS ni DIP tienen datos: falta información, no un mejor reconstructor.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Con 96 puntos, sin DIP: los 9 g sobre 40 dB</a:t>
            </a:r>
          </a:p>
        </p:txBody>
      </p:sp>
      <p:pic>
        <p:nvPicPr>
          <p:cNvPr id="3" name="Picture 2" descr="mejores_9g_96pts.png"/>
          <p:cNvPicPr>
            <a:picLocks noChangeAspect="1"/>
          </p:cNvPicPr>
          <p:nvPr/>
        </p:nvPicPr>
        <p:blipFill>
          <a:blip r:embed="rId2"/>
          <a:stretch>
            <a:fillRect/>
          </a:stretch>
        </p:blipFill>
        <p:spPr>
          <a:xfrm>
            <a:off x="662303" y="1280160"/>
            <a:ext cx="10864345"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Mismo método que con 64 puntos: los 32 puntos extra van al relleno por validación cruzada, que los pone en la rampa pegada al borde de los g suaves (donde faltaba información).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TPS vs DIP en otras formas (misma cantidad de puntos, al azar)</a:t>
            </a:r>
          </a:p>
        </p:txBody>
      </p:sp>
      <p:graphicFrame>
        <p:nvGraphicFramePr>
          <p:cNvPr id="3" name="Table 2"/>
          <p:cNvGraphicFramePr>
            <a:graphicFrameLocks noGrp="1"/>
          </p:cNvGraphicFramePr>
          <p:nvPr/>
        </p:nvGraphicFramePr>
        <p:xfrm>
          <a:off x="731520" y="1371600"/>
          <a:ext cx="10607039" cy="2304288"/>
        </p:xfrm>
        <a:graphic>
          <a:graphicData uri="http://schemas.openxmlformats.org/drawingml/2006/table">
            <a:tbl>
              <a:tblPr firstRow="1" bandRow="1">
                <a:tableStyleId>{5C22544A-7EE6-4342-B048-85BDC9FD1C3A}</a:tableStyleId>
              </a:tblPr>
              <a:tblGrid>
                <a:gridCol w="3749039"/>
                <a:gridCol w="2286000"/>
                <a:gridCol w="2286000"/>
                <a:gridCol w="2286000"/>
              </a:tblGrid>
              <a:tr h="384048">
                <a:tc>
                  <a:txBody>
                    <a:bodyPr/>
                    <a:lstStyle/>
                    <a:p>
                      <a:pPr>
                        <a:defRPr sz="1300" b="1"/>
                      </a:pPr>
                      <a:r>
                        <a:t>imagen</a:t>
                      </a:r>
                    </a:p>
                  </a:txBody>
                  <a:tcPr/>
                </a:tc>
                <a:tc>
                  <a:txBody>
                    <a:bodyPr/>
                    <a:lstStyle/>
                    <a:p>
                      <a:pPr>
                        <a:defRPr sz="1300" b="1"/>
                      </a:pPr>
                      <a:r>
                        <a:t>1 %: TPS / DIP</a:t>
                      </a:r>
                    </a:p>
                  </a:txBody>
                  <a:tcPr/>
                </a:tc>
                <a:tc>
                  <a:txBody>
                    <a:bodyPr/>
                    <a:lstStyle/>
                    <a:p>
                      <a:pPr>
                        <a:defRPr sz="1300" b="1"/>
                      </a:pPr>
                      <a:r>
                        <a:t>5 %: TPS / DIP</a:t>
                      </a:r>
                    </a:p>
                  </a:txBody>
                  <a:tcPr/>
                </a:tc>
                <a:tc>
                  <a:txBody>
                    <a:bodyPr/>
                    <a:lstStyle/>
                    <a:p>
                      <a:pPr>
                        <a:defRPr sz="1300" b="1"/>
                      </a:pPr>
                      <a:r>
                        <a:t>10 %: TPS / DIP</a:t>
                      </a:r>
                    </a:p>
                  </a:txBody>
                  <a:tcPr/>
                </a:tc>
              </a:tr>
              <a:tr h="384048">
                <a:tc>
                  <a:txBody>
                    <a:bodyPr/>
                    <a:lstStyle/>
                    <a:p>
                      <a:pPr>
                        <a:defRPr sz="1200" b="1"/>
                      </a:pPr>
                      <a:r>
                        <a:t>Gauss (suave)</a:t>
                      </a:r>
                    </a:p>
                  </a:txBody>
                  <a:tcPr/>
                </a:tc>
                <a:tc>
                  <a:txBody>
                    <a:bodyPr/>
                    <a:lstStyle/>
                    <a:p>
                      <a:pPr>
                        <a:defRPr sz="1200" b="0"/>
                      </a:pPr>
                      <a:r>
                        <a:t>51.0 / 11.7</a:t>
                      </a:r>
                    </a:p>
                  </a:txBody>
                  <a:tcPr/>
                </a:tc>
                <a:tc>
                  <a:txBody>
                    <a:bodyPr/>
                    <a:lstStyle/>
                    <a:p>
                      <a:pPr>
                        <a:defRPr sz="1200" b="0"/>
                      </a:pPr>
                      <a:r>
                        <a:t>56.7 / 51.6</a:t>
                      </a:r>
                    </a:p>
                  </a:txBody>
                  <a:tcPr/>
                </a:tc>
                <a:tc>
                  <a:txBody>
                    <a:bodyPr/>
                    <a:lstStyle/>
                    <a:p>
                      <a:pPr>
                        <a:defRPr sz="1200" b="0"/>
                      </a:pPr>
                      <a:r>
                        <a:t>57.1 / 53.3</a:t>
                      </a:r>
                    </a:p>
                  </a:txBody>
                  <a:tcPr/>
                </a:tc>
              </a:tr>
              <a:tr h="384048">
                <a:tc>
                  <a:txBody>
                    <a:bodyPr/>
                    <a:lstStyle/>
                    <a:p>
                      <a:pPr>
                        <a:defRPr sz="1200" b="1"/>
                      </a:pPr>
                      <a:r>
                        <a:t>Himmelblau (suave, 4 pozos)</a:t>
                      </a:r>
                    </a:p>
                  </a:txBody>
                  <a:tcPr/>
                </a:tc>
                <a:tc>
                  <a:txBody>
                    <a:bodyPr/>
                    <a:lstStyle/>
                    <a:p>
                      <a:pPr>
                        <a:defRPr sz="1200" b="0"/>
                      </a:pPr>
                      <a:r>
                        <a:t>29.6 / 29.1</a:t>
                      </a:r>
                    </a:p>
                  </a:txBody>
                  <a:tcPr/>
                </a:tc>
                <a:tc>
                  <a:txBody>
                    <a:bodyPr/>
                    <a:lstStyle/>
                    <a:p>
                      <a:pPr>
                        <a:defRPr sz="1200" b="0"/>
                      </a:pPr>
                      <a:r>
                        <a:t>42.7 / 41.4</a:t>
                      </a:r>
                    </a:p>
                  </a:txBody>
                  <a:tcPr/>
                </a:tc>
                <a:tc>
                  <a:txBody>
                    <a:bodyPr/>
                    <a:lstStyle/>
                    <a:p>
                      <a:pPr>
                        <a:defRPr sz="1200" b="0"/>
                      </a:pPr>
                      <a:r>
                        <a:t>48.7 / 47.6</a:t>
                      </a:r>
                    </a:p>
                  </a:txBody>
                  <a:tcPr/>
                </a:tc>
              </a:tr>
              <a:tr h="384048">
                <a:tc>
                  <a:txBody>
                    <a:bodyPr/>
                    <a:lstStyle/>
                    <a:p>
                      <a:pPr>
                        <a:defRPr sz="1200" b="1"/>
                      </a:pPr>
                      <a:r>
                        <a:t>Rosenbrock (cresta angosta)</a:t>
                      </a:r>
                    </a:p>
                  </a:txBody>
                  <a:tcPr/>
                </a:tc>
                <a:tc>
                  <a:txBody>
                    <a:bodyPr/>
                    <a:lstStyle/>
                    <a:p>
                      <a:pPr>
                        <a:defRPr sz="1200" b="0"/>
                      </a:pPr>
                      <a:r>
                        <a:t>26.3 / 25.7</a:t>
                      </a:r>
                    </a:p>
                  </a:txBody>
                  <a:tcPr/>
                </a:tc>
                <a:tc>
                  <a:txBody>
                    <a:bodyPr/>
                    <a:lstStyle/>
                    <a:p>
                      <a:pPr>
                        <a:defRPr sz="1200" b="0"/>
                      </a:pPr>
                      <a:r>
                        <a:t>35.7 / 38.3</a:t>
                      </a:r>
                    </a:p>
                  </a:txBody>
                  <a:tcPr/>
                </a:tc>
                <a:tc>
                  <a:txBody>
                    <a:bodyPr/>
                    <a:lstStyle/>
                    <a:p>
                      <a:pPr>
                        <a:defRPr sz="1200" b="0"/>
                      </a:pPr>
                      <a:r>
                        <a:t>40.9 / 46.1</a:t>
                      </a:r>
                    </a:p>
                  </a:txBody>
                  <a:tcPr/>
                </a:tc>
              </a:tr>
              <a:tr h="384048">
                <a:tc>
                  <a:txBody>
                    <a:bodyPr/>
                    <a:lstStyle/>
                    <a:p>
                      <a:pPr>
                        <a:defRPr sz="1200" b="1"/>
                      </a:pPr>
                      <a:r>
                        <a:t>Tablero (saltos)</a:t>
                      </a:r>
                    </a:p>
                  </a:txBody>
                  <a:tcPr/>
                </a:tc>
                <a:tc>
                  <a:txBody>
                    <a:bodyPr/>
                    <a:lstStyle/>
                    <a:p>
                      <a:pPr>
                        <a:defRPr sz="1200" b="0"/>
                      </a:pPr>
                      <a:r>
                        <a:t>6.5 / 5.7</a:t>
                      </a:r>
                    </a:p>
                  </a:txBody>
                  <a:tcPr/>
                </a:tc>
                <a:tc>
                  <a:txBody>
                    <a:bodyPr/>
                    <a:lstStyle/>
                    <a:p>
                      <a:pPr>
                        <a:defRPr sz="1200" b="0"/>
                      </a:pPr>
                      <a:r>
                        <a:t>10.6 / 16.0</a:t>
                      </a:r>
                    </a:p>
                  </a:txBody>
                  <a:tcPr/>
                </a:tc>
                <a:tc>
                  <a:txBody>
                    <a:bodyPr/>
                    <a:lstStyle/>
                    <a:p>
                      <a:pPr>
                        <a:defRPr sz="1200" b="0"/>
                      </a:pPr>
                      <a:r>
                        <a:t>12.4 / 20.0</a:t>
                      </a:r>
                    </a:p>
                  </a:txBody>
                  <a:tcPr/>
                </a:tc>
              </a:tr>
              <a:tr h="384048">
                <a:tc>
                  <a:txBody>
                    <a:bodyPr/>
                    <a:lstStyle/>
                    <a:p>
                      <a:pPr>
                        <a:defRPr sz="1200" b="1"/>
                      </a:pPr>
                      <a:r>
                        <a:t>Barrido de frecuencia</a:t>
                      </a:r>
                    </a:p>
                  </a:txBody>
                  <a:tcPr/>
                </a:tc>
                <a:tc>
                  <a:txBody>
                    <a:bodyPr/>
                    <a:lstStyle/>
                    <a:p>
                      <a:pPr>
                        <a:defRPr sz="1200" b="0"/>
                      </a:pPr>
                      <a:r>
                        <a:t>6.7 / 6.9</a:t>
                      </a:r>
                    </a:p>
                  </a:txBody>
                  <a:tcPr/>
                </a:tc>
                <a:tc>
                  <a:txBody>
                    <a:bodyPr/>
                    <a:lstStyle/>
                    <a:p>
                      <a:pPr>
                        <a:defRPr sz="1200" b="0"/>
                      </a:pPr>
                      <a:r>
                        <a:t>6.9 / 7.2</a:t>
                      </a:r>
                    </a:p>
                  </a:txBody>
                  <a:tcPr/>
                </a:tc>
                <a:tc>
                  <a:txBody>
                    <a:bodyPr/>
                    <a:lstStyle/>
                    <a:p>
                      <a:pPr>
                        <a:defRPr sz="1200" b="0"/>
                      </a:pPr>
                      <a:r>
                        <a:t>7.3 / 7.4</a:t>
                      </a:r>
                    </a:p>
                  </a:txBody>
                  <a:tcPr/>
                </a:tc>
              </a:tr>
            </a:tbl>
          </a:graphicData>
        </a:graphic>
      </p:graphicFrame>
      <p:sp>
        <p:nvSpPr>
          <p:cNvPr id="4" name="TextBox 3"/>
          <p:cNvSpPr txBox="1"/>
          <p:nvPr/>
        </p:nvSpPr>
        <p:spPr>
          <a:xfrm>
            <a:off x="731520" y="3767328"/>
            <a:ext cx="10698480" cy="1280160"/>
          </a:xfrm>
          <a:prstGeom prst="rect">
            <a:avLst/>
          </a:prstGeom>
          <a:noFill/>
        </p:spPr>
        <p:txBody>
          <a:bodyPr wrap="square">
            <a:spAutoFit/>
          </a:bodyPr>
          <a:lstStyle/>
          <a:p>
            <a:pPr>
              <a:defRPr sz="1200" i="1">
                <a:solidFill>
                  <a:srgbClr val="404040"/>
                </a:solidFill>
              </a:defRPr>
            </a:pPr>
            <a:r>
              <a:t>En formas suaves la TPS gana o empata siempre (DIP hasta puede fallar: Gauss 1 %). En estructuras finas o saltos DIP gana, pero solo con suficientes puntos (5-10 %). El barrido de frecuencia no lo reconstruye ninguno: el detalle es más fino que la separación entre puntos (Nyquist).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TPS vs DIP en 3D</a:t>
            </a:r>
          </a:p>
        </p:txBody>
      </p:sp>
      <p:pic>
        <p:nvPicPr>
          <p:cNvPr id="3" name="Picture 2" descr="tps_vs_dip_3d.png"/>
          <p:cNvPicPr>
            <a:picLocks noChangeAspect="1"/>
          </p:cNvPicPr>
          <p:nvPr/>
        </p:nvPicPr>
        <p:blipFill>
          <a:blip r:embed="rId2"/>
          <a:stretch>
            <a:fillRect/>
          </a:stretch>
        </p:blipFill>
        <p:spPr>
          <a:xfrm>
            <a:off x="3267455" y="1280160"/>
            <a:ext cx="56540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Rosenbrock: la TPS deja la cresta ondulada, DIP la sigue lisa. Himmelblau: iguales. Tablero: la TPS no puede hacer escalones (es una chapa que se dobla), DIP sí.</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Pedidos de la reunión: estado</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600">
                <a:solidFill>
                  <a:srgbClr val="404040"/>
                </a:solidFill>
              </a:defRPr>
            </a:pPr>
            <a:r>
              <a:t>1–3) Optuna + grid/uniform con hiperparámetros + la grilla como hiperparámetro: 181 trials en Mendieta. Mejor DIP con 64 puntos en grilla: 29.9 dB (config 'vase' del paper afinada); uniform siempre peor. En el muestreo nuevo, la grilla (6 columnas × 5 filas) es el parámetro más sensible.</a:t>
            </a:r>
          </a:p>
          <a:p>
            <a:pPr>
              <a:spcAft>
                <a:spcPts val="500"/>
              </a:spcAft>
              <a:defRPr sz="1600">
                <a:solidFill>
                  <a:srgbClr val="404040"/>
                </a:solidFill>
              </a:defRPr>
            </a:pPr>
            <a:r>
              <a:t>4) Ventana: la bisección ya concentra ~25 de los 64 puntos en una franja angosta alrededor del frente (ventana adaptativa).</a:t>
            </a:r>
          </a:p>
          <a:p>
            <a:pPr>
              <a:spcAft>
                <a:spcPts val="500"/>
              </a:spcAft>
              <a:defRPr sz="1600">
                <a:solidFill>
                  <a:srgbClr val="404040"/>
                </a:solidFill>
              </a:defRPr>
            </a:pPr>
            <a:r>
              <a:t>5) Rosenbrock en 3D: hecho (diapositiva anterior).</a:t>
            </a:r>
          </a:p>
          <a:p>
            <a:pPr>
              <a:spcAft>
                <a:spcPts val="500"/>
              </a:spcAft>
              <a:defRPr sz="1600">
                <a:solidFill>
                  <a:srgbClr val="404040"/>
                </a:solidFill>
              </a:defRPr>
            </a:pPr>
            <a:r>
              <a:t>6) Interpolación de scipy vs. DIP: con los mismos puntos empatan con la receta de la tesis (24.4 vs. 25.0); DIP con la config del paper gana (28.5).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Lo que se probó y NO funcionó (para no repetirlo)</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500">
                <a:solidFill>
                  <a:srgbClr val="404040"/>
                </a:solidFill>
              </a:defRPr>
            </a:pPr>
            <a:r>
              <a:t>Frente como parábola por puntos medios de pares con salto: inestable, dejaba una costura.</a:t>
            </a:r>
          </a:p>
          <a:p>
            <a:pPr>
              <a:spcAft>
                <a:spcPts val="500"/>
              </a:spcAft>
              <a:defRPr sz="1500">
                <a:solidFill>
                  <a:srgbClr val="404040"/>
                </a:solidFill>
              </a:defRPr>
            </a:pPr>
            <a:r>
              <a:t>Bisección al nivel medio: en los g suaves caía dentro de la rampa, no en el acantilado.</a:t>
            </a:r>
          </a:p>
          <a:p>
            <a:pPr>
              <a:spcAft>
                <a:spcPts val="500"/>
              </a:spcAft>
              <a:defRPr sz="1500">
                <a:solidFill>
                  <a:srgbClr val="404040"/>
                </a:solidFill>
              </a:defRPr>
            </a:pPr>
            <a:r>
              <a:t>Sondas del perfil de la rampa (3-7-14 px sobre el borde): le quitan presupuesto al relleno.</a:t>
            </a:r>
          </a:p>
          <a:p>
            <a:pPr>
              <a:spcAft>
                <a:spcPts val="500"/>
              </a:spcAft>
              <a:defRPr sz="1500">
                <a:solidFill>
                  <a:srgbClr val="404040"/>
                </a:solidFill>
              </a:defRPr>
            </a:pPr>
            <a:r>
              <a:t>Proceso gaussiano en lugar de la TPS: con tan pocos puntos, las escalas aprendidas quedan mal (g=-2: 22 dB vs. 36).</a:t>
            </a:r>
          </a:p>
          <a:p>
            <a:pPr>
              <a:spcAft>
                <a:spcPts val="500"/>
              </a:spcAft>
              <a:defRPr sz="1500">
                <a:solidFill>
                  <a:srgbClr val="404040"/>
                </a:solidFill>
              </a:defRPr>
            </a:pPr>
            <a:r>
              <a:t>Relleno por ancho de las cotas de monotonía: mejor peor g, pero −2.7 dB en g=-4.</a:t>
            </a:r>
          </a:p>
          <a:p>
            <a:pPr>
              <a:spcAft>
                <a:spcPts val="500"/>
              </a:spcAft>
              <a:defRPr sz="1500">
                <a:solidFill>
                  <a:srgbClr val="404040"/>
                </a:solidFill>
              </a:defRPr>
            </a:pPr>
            <a:r>
              <a:t>Grilla de 7-8 columnas: no falla el detector, se acaba el presupuesto en la bisección.</a:t>
            </a:r>
          </a:p>
          <a:p>
            <a:pPr>
              <a:spcAft>
                <a:spcPts val="500"/>
              </a:spcAft>
              <a:defRPr sz="1500">
                <a:solidFill>
                  <a:srgbClr val="404040"/>
                </a:solidFill>
              </a:defRPr>
            </a:pPr>
            <a:r>
              <a:t>DIP 'kate' del paper con 64 puntos (18 dB): pensado para imágenes casi completas.</a:t>
            </a:r>
          </a:p>
          <a:p>
            <a:pPr>
              <a:spcAft>
                <a:spcPts val="500"/>
              </a:spcAft>
              <a:defRPr sz="1500">
                <a:solidFill>
                  <a:srgbClr val="404040"/>
                </a:solidFill>
              </a:defRPr>
            </a:pPr>
            <a:r>
              <a:t>Fusión sin guarda en 9 g: cuando DIP falla en un g (-4 dB), arrastra el promedio.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Listo para KMC: planificador de tandas (autoexp/kmc_planner.py)</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700">
                <a:solidFill>
                  <a:srgbClr val="404040"/>
                </a:solidFill>
              </a:defRPr>
            </a:pPr>
            <a:r>
              <a:t>init --budget 64 --sigma σ  →  next  →  (correr KMC)  →  add resultados.csv  →  next ...  →  reconstruct</a:t>
            </a:r>
          </a:p>
          <a:p>
            <a:pPr>
              <a:spcAft>
                <a:spcPts val="500"/>
              </a:spcAft>
              <a:defRPr sz="1700">
                <a:solidFill>
                  <a:srgbClr val="404040"/>
                </a:solidFill>
              </a:defRPr>
            </a:pPr>
            <a:r>
              <a:t>Cada 'next' devuelve la tanda siguiente en (log Ξ, log ℓ), para correr en paralelo en el cluster.</a:t>
            </a:r>
          </a:p>
          <a:p>
            <a:pPr>
              <a:spcAft>
                <a:spcPts val="500"/>
              </a:spcAft>
              <a:defRPr sz="1700">
                <a:solidFill>
                  <a:srgbClr val="404040"/>
                </a:solidFill>
              </a:defRPr>
            </a:pPr>
            <a:r>
              <a:t>Con 64 puntos: 9 tandas = 30 (grilla) + 4-5 rondas de ~5 (bisección) + 3-4 rondas de 4 (relleno).</a:t>
            </a:r>
          </a:p>
          <a:p>
            <a:pPr>
              <a:spcAft>
                <a:spcPts val="500"/>
              </a:spcAft>
              <a:defRPr sz="1700">
                <a:solidFill>
                  <a:srgbClr val="404040"/>
                </a:solidFill>
              </a:defRPr>
            </a:pPr>
            <a:r>
              <a:t>Probado de punta a punta contra el modelo del continuo (simulate): g=-4 46.2 dB, g=-2 38.6, g=-0.5 39.4; g=-2 con ruido σ=0.01: 37.6.</a:t>
            </a:r>
          </a:p>
          <a:p>
            <a:pPr>
              <a:spcAft>
                <a:spcPts val="500"/>
              </a:spcAft>
              <a:defRPr sz="1700">
                <a:solidFill>
                  <a:srgbClr val="404040"/>
                </a:solidFill>
              </a:defRPr>
            </a:pPr>
            <a:r>
              <a:t>σ se estima con corridas repetidas de KMC (NRUNS) y fija todos los umbrales solo.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700" b="1">
                <a:solidFill>
                  <a:srgbClr val="1F3B73"/>
                </a:solidFill>
              </a:defRPr>
            </a:pPr>
            <a:r>
              <a:t>Para KMC: recomendación y lo que falta validar</a:t>
            </a:r>
          </a:p>
        </p:txBody>
      </p:sp>
      <p:sp>
        <p:nvSpPr>
          <p:cNvPr id="3" name="TextBox 2"/>
          <p:cNvSpPr txBox="1"/>
          <p:nvPr/>
        </p:nvSpPr>
        <p:spPr>
          <a:xfrm>
            <a:off x="548640" y="1280160"/>
            <a:ext cx="10972800" cy="5120640"/>
          </a:xfrm>
          <a:prstGeom prst="rect">
            <a:avLst/>
          </a:prstGeom>
          <a:noFill/>
        </p:spPr>
        <p:txBody>
          <a:bodyPr wrap="square">
            <a:spAutoFit/>
          </a:bodyPr>
          <a:lstStyle/>
          <a:p>
            <a:pPr>
              <a:spcAft>
                <a:spcPts val="500"/>
              </a:spcAft>
              <a:defRPr sz="1600">
                <a:solidFill>
                  <a:srgbClr val="404040"/>
                </a:solidFill>
              </a:defRPr>
            </a:pPr>
            <a:r>
              <a:t>Muestreo por tandas: grilla (paralelo) → ~5 rondas de bisección (una corrida por columna, en paralelo) → ~4 rondas de relleno de a 4. Unas 10 rondas de KMC en total.</a:t>
            </a:r>
          </a:p>
          <a:p>
            <a:pPr>
              <a:spcAft>
                <a:spcPts val="500"/>
              </a:spcAft>
              <a:defRPr sz="1600">
                <a:solidFill>
                  <a:srgbClr val="404040"/>
                </a:solidFill>
              </a:defRPr>
            </a:pPr>
            <a:r>
              <a:t>Elegir las columnas según el presupuesto, dejando ~10 puntos para el relleno.</a:t>
            </a:r>
          </a:p>
          <a:p>
            <a:pPr>
              <a:spcAft>
                <a:spcPts val="500"/>
              </a:spcAft>
              <a:defRPr sz="1600">
                <a:solidFill>
                  <a:srgbClr val="404040"/>
                </a:solidFill>
              </a:defRPr>
            </a:pPr>
            <a:r>
              <a:t>Reconstrucción: fusión TPS (cerca del acantilado) + DIP (zona suave) + monotonía, con guarda.</a:t>
            </a:r>
          </a:p>
          <a:p>
            <a:pPr>
              <a:spcAft>
                <a:spcPts val="500"/>
              </a:spcAft>
              <a:defRPr sz="1600">
                <a:solidFill>
                  <a:srgbClr val="404040"/>
                </a:solidFill>
              </a:defRPr>
            </a:pPr>
            <a:r>
              <a:t>Pendiente, y lo más importante:</a:t>
            </a:r>
          </a:p>
          <a:p>
            <a:pPr lvl="1">
              <a:spcAft>
                <a:spcPts val="500"/>
              </a:spcAft>
              <a:defRPr sz="1300">
                <a:solidFill>
                  <a:srgbClr val="404040"/>
                </a:solidFill>
              </a:defRPr>
            </a:pPr>
            <a:r>
              <a:t>¿Existe el acantilado a 0 en KMC, o el borde es difuso / ruidoso?</a:t>
            </a:r>
          </a:p>
          <a:p>
            <a:pPr lvl="1">
              <a:spcAft>
                <a:spcPts val="500"/>
              </a:spcAft>
              <a:defRPr sz="1300">
                <a:solidFill>
                  <a:srgbClr val="404040"/>
                </a:solidFill>
              </a:defRPr>
            </a:pPr>
            <a:r>
              <a:t>Ruido: con σ = 0.01 se pierden ~1.5 dB y con σ = 0.03 ~5 dB (fusión con DIP). Con ruido DIP suma más (sobre todo SSIM). Hay que estimar σ de KMC con corridas repetidas.</a:t>
            </a:r>
          </a:p>
          <a:p>
            <a:pPr lvl="1">
              <a:spcAft>
                <a:spcPts val="500"/>
              </a:spcAft>
              <a:defRPr sz="1300">
                <a:solidFill>
                  <a:srgbClr val="404040"/>
                </a:solidFill>
              </a:defRPr>
            </a:pPr>
            <a:r>
              <a:t>Guarda de DIP: si DIP no ajusta los puntos reales, se usa solo la TPS (o se relanza DIP con otra semilla).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KMC real, g = −4: 64 puntos en 9 tandas</a:t>
            </a:r>
          </a:p>
        </p:txBody>
      </p:sp>
      <p:pic>
        <p:nvPicPr>
          <p:cNvPr id="3" name="Picture 2" descr="avance.png"/>
          <p:cNvPicPr>
            <a:picLocks noChangeAspect="1"/>
          </p:cNvPicPr>
          <p:nvPr/>
        </p:nvPicPr>
        <p:blipFill>
          <a:blip r:embed="rId2"/>
          <a:stretch>
            <a:fillRect/>
          </a:stretch>
        </p:blipFill>
        <p:spPr>
          <a:xfrm>
            <a:off x="3352479" y="1280160"/>
            <a:ext cx="5483993"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Cada número es la tanda del punto: 1 = grilla de 30; 2-6 = bisección del borde; 7-9 = relleno. 56 medidos + 8 pseudo (corridas de log ℓ ≈ −3.5 que no terminan: cota por monotonía).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1.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1: grilla de 30. Sin pares 0 / alto cercanos todavía: TPS común, el frente sale ondulado.</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2.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2: primera bisección (círculos naranjas = puntos nuevos). Todavía no alcanza para ubicar el borde.</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3.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3: la bisección se acerca al salto desde los dos lados.</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4.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4: aparecen pares 0 / alto a ≤ 4 px → se detecta el borde (línea punteada) y debajo pasa a 0.</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5.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5: el borde se afina; la rampa sobre el borde ya tiene forma.</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6.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6: termina la bisección (54 puntos).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7.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7: relleno, donde la validación cruzada dice que más se equivoca (arriba a la derecha).</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8.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8: más relleno en la zona que se desvanece.</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9.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Tanda 9: 64 puntos. Esto es la TPS con restricciones físicas.</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Cómo se va armando el mapa, tanda a tanda (g = −4, KMC)</a:t>
            </a:r>
          </a:p>
        </p:txBody>
      </p:sp>
      <p:pic>
        <p:nvPicPr>
          <p:cNvPr id="3" name="Picture 2" descr="kmc_tandas_g-4_10.png"/>
          <p:cNvPicPr>
            <a:picLocks noChangeAspect="1"/>
          </p:cNvPicPr>
          <p:nvPr/>
        </p:nvPicPr>
        <p:blipFill>
          <a:blip r:embed="rId2"/>
          <a:stretch>
            <a:fillRect/>
          </a:stretch>
        </p:blipFill>
        <p:spPr>
          <a:xfrm>
            <a:off x="527757" y="1280160"/>
            <a:ext cx="11133437"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Final: se mezcla con DIP lejos del borde (fusión con guarda).</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1.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1. Los 64 valores de SoC del KMC: lo único que hay.</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2.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2. TPS sola (scipy, thin-plate spline): se pasa de 0 y de 1 y ondula en el frente. Sola no sirve.</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3.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3. Borde: aristas cortas de Delaunay entre un punto ≈ 0 y uno alto; sus puntos medios (★) → recta. El salto es real: a 1 px, el KMC da 0.77 y 0.00.</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4.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4. Debajo de la recta, 0. Arriba, TPS solo con los puntos de arriba, alineada al borde.</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5.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5. + cotas y proyección monótona (el SoC no sube con ℓ ni con Ξ) = TPS con restricciones físicas.</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6.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6. DIP: la red ve los puntos + ceros debajo del borde; 2 semillas, queda la que mejor ajusta los puntos.</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7.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7. Peso de la mezcla: 1 pegado al borde (TPS), 0 lejos (DIP).</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De los 64 puntos al mapa final, paso a paso (g = −4, KMC)</a:t>
            </a:r>
          </a:p>
        </p:txBody>
      </p:sp>
      <p:pic>
        <p:nvPicPr>
          <p:cNvPr id="3" name="Picture 2" descr="kmc_pasos_g-4_8.png"/>
          <p:cNvPicPr>
            <a:picLocks noChangeAspect="1"/>
          </p:cNvPicPr>
          <p:nvPr/>
        </p:nvPicPr>
        <p:blipFill>
          <a:blip r:embed="rId2"/>
          <a:stretch>
            <a:fillRect/>
          </a:stretch>
        </p:blipFill>
        <p:spPr>
          <a:xfrm>
            <a:off x="1248155" y="1280160"/>
            <a:ext cx="9692640"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8. Final = monótona(w·TPS + (1−w)·DIP). Si DIP no reproduce los puntos, queda solo la TPS.</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Control: 10 puntos de KMC que no se usaron para reconstruir</a:t>
            </a:r>
          </a:p>
        </p:txBody>
      </p:sp>
      <p:pic>
        <p:nvPicPr>
          <p:cNvPr id="3" name="Picture 2" descr="control.png"/>
          <p:cNvPicPr>
            <a:picLocks noChangeAspect="1"/>
          </p:cNvPicPr>
          <p:nvPr/>
        </p:nvPicPr>
        <p:blipFill>
          <a:blip r:embed="rId2"/>
          <a:stretch>
            <a:fillRect/>
          </a:stretch>
        </p:blipFill>
        <p:spPr>
          <a:xfrm>
            <a:off x="333756" y="1298845"/>
            <a:ext cx="11521440" cy="4808948"/>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Error RMS en los 10 puntos: TPS + DIP 0.027 (máx 0.068) · TPS con restricciones sola 0.043 · mapa del continuo (g = −4) como sustituto 0.14.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22960"/>
          </a:xfrm>
          <a:prstGeom prst="rect">
            <a:avLst/>
          </a:prstGeom>
          <a:noFill/>
        </p:spPr>
        <p:txBody>
          <a:bodyPr wrap="square">
            <a:spAutoFit/>
          </a:bodyPr>
          <a:lstStyle/>
          <a:p>
            <a:pPr>
              <a:defRPr sz="2600" b="1">
                <a:solidFill>
                  <a:srgbClr val="1F3B73"/>
                </a:solidFill>
              </a:defRPr>
            </a:pPr>
            <a:r>
              <a:t>¿Sirve elegir los puntos? Procedimiento vs. el mismo número al azar</a:t>
            </a:r>
          </a:p>
        </p:txBody>
      </p:sp>
      <p:pic>
        <p:nvPicPr>
          <p:cNvPr id="3" name="Picture 2" descr="vs_random.png"/>
          <p:cNvPicPr>
            <a:picLocks noChangeAspect="1"/>
          </p:cNvPicPr>
          <p:nvPr/>
        </p:nvPicPr>
        <p:blipFill>
          <a:blip r:embed="rId2"/>
          <a:stretch>
            <a:fillRect/>
          </a:stretch>
        </p:blipFill>
        <p:spPr>
          <a:xfrm>
            <a:off x="340906" y="1280160"/>
            <a:ext cx="11507138" cy="4846320"/>
          </a:xfrm>
          <a:prstGeom prst="rect">
            <a:avLst/>
          </a:prstGeom>
        </p:spPr>
      </p:pic>
      <p:sp>
        <p:nvSpPr>
          <p:cNvPr id="4" name="TextBox 3"/>
          <p:cNvSpPr txBox="1"/>
          <p:nvPr/>
        </p:nvSpPr>
        <p:spPr>
          <a:xfrm>
            <a:off x="548640" y="6172200"/>
            <a:ext cx="11064240" cy="640080"/>
          </a:xfrm>
          <a:prstGeom prst="rect">
            <a:avLst/>
          </a:prstGeom>
          <a:noFill/>
        </p:spPr>
        <p:txBody>
          <a:bodyPr wrap="square">
            <a:spAutoFit/>
          </a:bodyPr>
          <a:lstStyle/>
          <a:p>
            <a:pPr algn="ctr">
              <a:defRPr sz="1200" i="1">
                <a:solidFill>
                  <a:srgbClr val="404040"/>
                </a:solidFill>
              </a:defRPr>
            </a:pPr>
            <a:r>
              <a:t>Continuo, ruido tipo KMC (σ = 0.005), misma reconstrucción. Con g &lt; 0 (frente abrupto) elegir suma 14-32 dB; con g ≥ 2 (mapa suave), 3-5 dB. Una TPS común sobre el azar da igual (±0.4 dB): lo que cuenta es dónde caen los puntos.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